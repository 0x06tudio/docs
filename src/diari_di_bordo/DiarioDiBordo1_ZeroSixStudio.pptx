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1.xml" ContentType="application/vnd.openxmlformats-officedocument.presentationml.slide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handoutMasters/handoutMaster1.xml" ContentType="application/vnd.openxmlformats-officedocument.presentationml.handoutMaster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56" r:id="rId5"/>
    <p:sldId id="257" r:id="rId6"/>
    <p:sldId id="258" r:id="rId7"/>
    <p:sldId id="259" r:id="rId8"/>
    <p:sldId id="260" r:id="rId9"/>
    <p:sldId id="261" r:id="rId10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theme" Target="theme/theme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 /><Relationship Id="rId14" Type="http://schemas.openxmlformats.org/officeDocument/2006/relationships/tableStyles" Target="tableStyles.xml" /><Relationship Id="rId15" Type="http://schemas.openxmlformats.org/officeDocument/2006/relationships/viewProps" Target="viewProps.xml" /></Relationships>
</file>

<file path=ppt/handoutMasters/_rels/handout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0597095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6"/>
          </a:xfrm>
          <a:prstGeom prst="rect">
            <a:avLst/>
          </a:prstGeom>
        </p:spPr>
        <p:txBody>
          <a:bodyPr vert="horz" lIns="91440" tIns="45720" rIns="91440" bIns="45720" anchor="t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46463927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6200" y="0"/>
            <a:ext cx="2971800" cy="458786"/>
          </a:xfrm>
          <a:prstGeom prst="rect">
            <a:avLst/>
          </a:prstGeom>
        </p:spPr>
        <p:txBody>
          <a:bodyPr vert="horz" lIns="91440" tIns="45720" rIns="91440" bIns="45720" anchor="t"/>
          <a:lstStyle>
            <a:lvl1pPr algn="r">
              <a:defRPr sz="1200"/>
            </a:lvl1pPr>
          </a:lstStyle>
          <a:p>
            <a:pPr>
              <a:defRPr/>
            </a:pPr>
            <a:fld id="{C4F134B4-A370-EBA4-8CC0-C8FC7B3C33E2}" type="datetimeFigureOut">
              <a:rPr lang="en-US"/>
              <a:t/>
            </a:fld>
            <a:endParaRPr/>
          </a:p>
        </p:txBody>
      </p:sp>
      <p:sp>
        <p:nvSpPr>
          <p:cNvPr id="208254851" name="Footer Placeholder 3"/>
          <p:cNvSpPr>
            <a:spLocks noGrp="1"/>
          </p:cNvSpPr>
          <p:nvPr>
            <p:ph type="ftr" sz="quarter" idx="2"/>
          </p:nvPr>
        </p:nvSpPr>
        <p:spPr bwMode="auto">
          <a:xfrm>
            <a:off x="0" y="8685213"/>
            <a:ext cx="2971800" cy="458786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95132235" name="Slide Number Placeholder 4"/>
          <p:cNvSpPr>
            <a:spLocks noGrp="1"/>
          </p:cNvSpPr>
          <p:nvPr>
            <p:ph type="sldNum" sz="quarter" idx="3"/>
          </p:nvPr>
        </p:nvSpPr>
        <p:spPr bwMode="auto">
          <a:xfrm>
            <a:off x="3886200" y="8685213"/>
            <a:ext cx="2971800" cy="458786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>
              <a:defRPr/>
            </a:pPr>
            <a:fld id="{41FBA0A8-00A2-D1BB-F19E-550BD8E237BE}" type="slidenum">
              <a:rPr/>
              <a:t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7533724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96978333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029573240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373723539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51681470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86920074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060432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295221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03802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9493D6-DB27-5A54-B25F-C4D3C1C6AD8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763129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154647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57543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B0894C3-D446-73BB-1766-620477E3C15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81337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132787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71359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70F5409-96A6-8B14-AC4E-57D80B9385D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99142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10579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8977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217E3E-983B-9BBD-6A4D-6692FC7F2E46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32533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23879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1208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BEC3B0-DBE6-EE45-E427-16C310E01BFF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443212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117356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7229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DA00BC-97B9-B77A-0D40-B6B2C6164E6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281222" name="Title 1"/>
          <p:cNvSpPr>
            <a:spLocks noGrp="1"/>
          </p:cNvSpPr>
          <p:nvPr>
            <p:ph type="ctrTitle"/>
          </p:nvPr>
        </p:nvSpPr>
        <p:spPr bwMode="auto">
          <a:xfrm>
            <a:off x="1523999" y="1122362"/>
            <a:ext cx="9144000" cy="2387599"/>
          </a:xfrm>
        </p:spPr>
        <p:txBody>
          <a:bodyPr anchor="b"/>
          <a:lstStyle>
            <a:lvl1pPr algn="ctr">
              <a:defRPr sz="45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389035758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3999" y="3602037"/>
            <a:ext cx="9144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56246994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69073159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168390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491318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97485365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6333135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57377058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552484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2236978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12438669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53969758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25079929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40441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686442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653142336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198" y="1825625"/>
            <a:ext cx="5181599" cy="4351338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61075816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599" cy="4351338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89651741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206859804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3196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8602741" name="Title 1"/>
          <p:cNvSpPr>
            <a:spLocks noGrp="1"/>
          </p:cNvSpPr>
          <p:nvPr>
            <p:ph type="title"/>
          </p:nvPr>
        </p:nvSpPr>
        <p:spPr bwMode="auto">
          <a:xfrm>
            <a:off x="839787" y="365125"/>
            <a:ext cx="10515600" cy="1325562"/>
          </a:xfrm>
        </p:spPr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6482911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9" y="1681162"/>
            <a:ext cx="5157785" cy="82391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15296754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9" y="2505074"/>
            <a:ext cx="5157785" cy="3684587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814411238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2"/>
            <a:ext cx="5183187" cy="82391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26406370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7" cy="3684587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785049252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2046835357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19394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49344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019173843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403747123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2843892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6136673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939473372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175972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9283044" name="Title 1"/>
          <p:cNvSpPr>
            <a:spLocks noGrp="1"/>
          </p:cNvSpPr>
          <p:nvPr>
            <p:ph type="title"/>
          </p:nvPr>
        </p:nvSpPr>
        <p:spPr bwMode="auto">
          <a:xfrm>
            <a:off x="839787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547816838" name="Content Placeholder 2"/>
          <p:cNvSpPr>
            <a:spLocks noGrp="1"/>
          </p:cNvSpPr>
          <p:nvPr>
            <p:ph idx="1"/>
          </p:nvPr>
        </p:nvSpPr>
        <p:spPr bwMode="auto">
          <a:xfrm>
            <a:off x="5183187" y="987425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55050445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7" y="2057399"/>
            <a:ext cx="3932237" cy="381158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52209212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78813548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49470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9037918" name="Title 1"/>
          <p:cNvSpPr>
            <a:spLocks noGrp="1"/>
          </p:cNvSpPr>
          <p:nvPr>
            <p:ph type="title"/>
          </p:nvPr>
        </p:nvSpPr>
        <p:spPr bwMode="auto">
          <a:xfrm>
            <a:off x="839787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168291949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7" y="987425"/>
            <a:ext cx="6172200" cy="4873625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>
              <a:defRPr/>
            </a:pPr>
            <a:r>
              <a:rPr/>
              <a:t>Click icon to add picture</a:t>
            </a:r>
            <a:endParaRPr/>
          </a:p>
        </p:txBody>
      </p:sp>
      <p:sp>
        <p:nvSpPr>
          <p:cNvPr id="67771582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7" y="2057399"/>
            <a:ext cx="3932237" cy="381158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2920609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185251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270785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40983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685135925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00109662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06452382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8489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2036824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899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0379675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198" y="365125"/>
            <a:ext cx="7734299" cy="5811838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35468060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04211597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605803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>
          <a:gsLst>
            <a:gs pos="50000">
              <a:srgbClr val="0F0F1B"/>
            </a:gs>
            <a:gs pos="95000">
              <a:srgbClr val="7C49DB"/>
            </a:gs>
            <a:gs pos="100000">
              <a:srgbClr val="4C4AE6"/>
            </a:gs>
          </a:gsLst>
          <a:lin ang="24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1724242" name="Title Placeholder 1"/>
          <p:cNvSpPr>
            <a:spLocks noGrp="1"/>
          </p:cNvSpPr>
          <p:nvPr>
            <p:ph type="title"/>
          </p:nvPr>
        </p:nvSpPr>
        <p:spPr bwMode="auto">
          <a:xfrm>
            <a:off x="838198" y="365125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8348417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198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478920496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19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37404592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598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687877474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59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>
        <a:lnSpc>
          <a:spcPct val="90000"/>
        </a:lnSpc>
        <a:spcBef>
          <a:spcPts val="0"/>
        </a:spcBef>
        <a:buNone/>
        <a:defRPr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>
        <a:lnSpc>
          <a:spcPct val="90000"/>
        </a:lnSpc>
        <a:spcBef>
          <a:spcPts val="749"/>
        </a:spcBef>
        <a:buFont typeface="Arial"/>
        <a:buChar char="•"/>
        <a:defRPr sz="21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5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github.com/0x06tudio/docs/blob/develop/out/verbali/interni/vi_2026_10_16.pdf" TargetMode="External"/><Relationship Id="rId4" Type="http://schemas.openxmlformats.org/officeDocument/2006/relationships/hyperlink" Target="https://github.com/0x06tudio/docs/blob/develop/out/verbali/esterni/verbale_2026-10-20.pdf" TargetMode="External"/><Relationship Id="rId5" Type="http://schemas.openxmlformats.org/officeDocument/2006/relationships/hyperlink" Target="https://github.com/0x06tudio/docs/blob/develop/out/verbali/esterni/verbale_2026-10-22.pdf" TargetMode="External"/><Relationship Id="rId6" Type="http://schemas.openxmlformats.org/officeDocument/2006/relationships/hyperlink" Target="https://github.com/0x06tudio/docs/blob/develop/out/verbali/interni/vi_2026_10_22.pdf" TargetMode="External"/><Relationship Id="rId7" Type="http://schemas.openxmlformats.org/officeDocument/2006/relationships/image" Target="../media/image2.png"/><Relationship Id="rId8" Type="http://schemas.openxmlformats.org/officeDocument/2006/relationships/image" Target="../media/media1.svg"/><Relationship Id="rId9" Type="http://schemas.openxmlformats.org/officeDocument/2006/relationships/image" Target="../media/image3.png"/><Relationship Id="rId10" Type="http://schemas.openxmlformats.org/officeDocument/2006/relationships/image" Target="../media/media2.sv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media3.sv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media4.sv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orgs/0x06tudio/repositories" TargetMode="Externa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7860040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-8790" y="3429000"/>
            <a:ext cx="4703582" cy="1294744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/>
          </a:bodyPr>
          <a:lstStyle/>
          <a:p>
            <a:pPr>
              <a:defRPr/>
            </a:pPr>
            <a:r>
              <a:rPr lang="fr-FR" sz="3200" b="1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Riepilogo settimanale</a:t>
            </a:r>
            <a:endParaRPr sz="3200">
              <a:solidFill>
                <a:schemeClr val="bg1"/>
              </a:solidFill>
              <a:latin typeface="Michroma"/>
              <a:cs typeface="Michroma"/>
            </a:endParaRPr>
          </a:p>
        </p:txBody>
      </p:sp>
      <p:sp>
        <p:nvSpPr>
          <p:cNvPr id="2117596412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334870" y="4810157"/>
            <a:ext cx="4143865" cy="394223"/>
          </a:xfrm>
        </p:spPr>
        <p:txBody>
          <a:bodyPr/>
          <a:lstStyle/>
          <a:p>
            <a:pPr>
              <a:defRPr/>
            </a:pPr>
            <a:r>
              <a:rPr lang="fr-FR" sz="1400">
                <a:solidFill>
                  <a:srgbClr val="5576F6"/>
                </a:solidFill>
                <a:latin typeface="Michroma"/>
                <a:ea typeface="Michroma"/>
                <a:cs typeface="Michroma"/>
              </a:rPr>
              <a:t>Diario di </a:t>
            </a:r>
            <a:r>
              <a:rPr lang="fr-FR" sz="1400">
                <a:solidFill>
                  <a:srgbClr val="5576F6"/>
                </a:solidFill>
                <a:latin typeface="Michroma"/>
                <a:ea typeface="Michroma"/>
                <a:cs typeface="Michroma"/>
              </a:rPr>
              <a:t>Bordo </a:t>
            </a:r>
            <a:r>
              <a:rPr lang="fr-FR" sz="1400">
                <a:solidFill>
                  <a:srgbClr val="5576F6"/>
                </a:solidFill>
                <a:latin typeface="Michroma"/>
                <a:ea typeface="Michroma"/>
                <a:cs typeface="Michroma"/>
              </a:rPr>
              <a:t>- 26 Ottobre</a:t>
            </a:r>
            <a:endParaRPr sz="1600">
              <a:solidFill>
                <a:srgbClr val="5576F6"/>
              </a:solidFill>
              <a:latin typeface="Michroma"/>
              <a:cs typeface="Michroma"/>
            </a:endParaRPr>
          </a:p>
        </p:txBody>
      </p:sp>
      <p:pic>
        <p:nvPicPr>
          <p:cNvPr id="466567142" name=""/>
          <p:cNvPicPr>
            <a:picLocks noChangeAspect="1"/>
          </p:cNvPicPr>
          <p:nvPr/>
        </p:nvPicPr>
        <p:blipFill rotWithShape="1">
          <a:blip r:embed="rId3"/>
        </p:blipFill>
        <p:spPr bwMode="auto">
          <a:xfrm flipH="0" flipV="0">
            <a:off x="939105" y="2418125"/>
            <a:ext cx="2807790" cy="929078"/>
          </a:xfrm>
          <a:prstGeom prst="rect">
            <a:avLst/>
          </a:prstGeom>
        </p:spPr>
      </p:pic>
      <p:sp>
        <p:nvSpPr>
          <p:cNvPr id="180858749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E518E49B-BBA8-6532-069A-47DB8E8D4602}" type="slidenum">
              <a:rPr/>
              <a:t>1</a:t>
            </a:fld>
            <a:endParaRPr/>
          </a:p>
        </p:txBody>
      </p:sp>
      <p:sp>
        <p:nvSpPr>
          <p:cNvPr id="1702767056" name=""/>
          <p:cNvSpPr/>
          <p:nvPr/>
        </p:nvSpPr>
        <p:spPr bwMode="auto">
          <a:xfrm rot="0" flipH="0" flipV="0">
            <a:off x="5070892" y="3737307"/>
            <a:ext cx="5427251" cy="1121946"/>
          </a:xfrm>
          <a:prstGeom prst="flowChartAlternateProcess">
            <a:avLst/>
          </a:prstGeom>
          <a:solidFill>
            <a:srgbClr val="232B40">
              <a:alpha val="99999"/>
            </a:srgb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68328484" name=""/>
          <p:cNvSpPr/>
          <p:nvPr/>
        </p:nvSpPr>
        <p:spPr bwMode="auto">
          <a:xfrm rot="0" flipH="0" flipV="0">
            <a:off x="5070892" y="5234402"/>
            <a:ext cx="5427250" cy="1121946"/>
          </a:xfrm>
          <a:prstGeom prst="flowChartAlternateProcess">
            <a:avLst/>
          </a:prstGeom>
          <a:solidFill>
            <a:srgbClr val="232B40">
              <a:alpha val="99999"/>
            </a:srgb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57605249" name=""/>
          <p:cNvSpPr/>
          <p:nvPr/>
        </p:nvSpPr>
        <p:spPr bwMode="auto">
          <a:xfrm rot="0" flipH="0" flipV="0">
            <a:off x="5070892" y="2223481"/>
            <a:ext cx="5427250" cy="1121946"/>
          </a:xfrm>
          <a:prstGeom prst="flowChartAlternateProcess">
            <a:avLst/>
          </a:prstGeom>
          <a:solidFill>
            <a:srgbClr val="232B40">
              <a:alpha val="99999"/>
            </a:srgb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03360418" name=""/>
          <p:cNvSpPr/>
          <p:nvPr/>
        </p:nvSpPr>
        <p:spPr bwMode="auto">
          <a:xfrm rot="0" flipH="0" flipV="0">
            <a:off x="5070891" y="678308"/>
            <a:ext cx="5427250" cy="1121946"/>
          </a:xfrm>
          <a:prstGeom prst="flowChartAlternateProcess">
            <a:avLst/>
          </a:prstGeom>
          <a:solidFill>
            <a:srgbClr val="232B40">
              <a:alpha val="99999"/>
            </a:srgb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84932859" name="Rectangle 9"/>
          <p:cNvSpPr txBox="1"/>
          <p:nvPr/>
        </p:nvSpPr>
        <p:spPr bwMode="auto">
          <a:xfrm rot="0" flipH="0" flipV="0">
            <a:off x="2141674" y="3976932"/>
            <a:ext cx="914400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802154972" name="Rectangle 10"/>
          <p:cNvSpPr txBox="1"/>
          <p:nvPr/>
        </p:nvSpPr>
        <p:spPr bwMode="auto">
          <a:xfrm rot="0" flipH="0" flipV="0">
            <a:off x="5402691" y="1063290"/>
            <a:ext cx="5075446" cy="427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fr-FR" sz="2200" u="sng">
                <a:solidFill>
                  <a:schemeClr val="bg1"/>
                </a:solidFill>
                <a:latin typeface="Michroma"/>
                <a:ea typeface="Michroma"/>
                <a:cs typeface="Michroma"/>
                <a:hlinkClick r:id="rId4" action="ppaction://hlinksldjump" tooltip="Slide 2"/>
              </a:rPr>
              <a:t>Stato di avanzamento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sp>
        <p:nvSpPr>
          <p:cNvPr id="797661599" name="Rectangle 11"/>
          <p:cNvSpPr txBox="1"/>
          <p:nvPr/>
        </p:nvSpPr>
        <p:spPr bwMode="auto">
          <a:xfrm rot="0" flipH="0" flipV="0">
            <a:off x="5395852" y="2403272"/>
            <a:ext cx="5082285" cy="7623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fr-FR" sz="2200" u="sng">
                <a:solidFill>
                  <a:schemeClr val="bg1"/>
                </a:solidFill>
                <a:latin typeface="Michroma"/>
                <a:ea typeface="Michroma"/>
                <a:cs typeface="Michroma"/>
                <a:hlinkClick r:id="rId5" action="ppaction://hlinksldjump" tooltip="Slide 3"/>
              </a:rPr>
              <a:t>Obiettivi futuri a breve termine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sp>
        <p:nvSpPr>
          <p:cNvPr id="401349314" name="Rectangle 12"/>
          <p:cNvSpPr txBox="1"/>
          <p:nvPr/>
        </p:nvSpPr>
        <p:spPr bwMode="auto">
          <a:xfrm rot="0" flipH="0" flipV="0">
            <a:off x="5193077" y="4129511"/>
            <a:ext cx="5076524" cy="427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tabLst>
                <a:tab pos="6000750" algn="l"/>
              </a:tabLst>
              <a:defRPr/>
            </a:pPr>
            <a:r>
              <a:rPr lang="fr-FR" sz="2200" u="sng">
                <a:solidFill>
                  <a:schemeClr val="bg1"/>
                </a:solidFill>
                <a:latin typeface="Michroma"/>
                <a:ea typeface="Michroma"/>
                <a:cs typeface="Michroma"/>
                <a:hlinkClick r:id="rId6" action="ppaction://hlinksldjump" tooltip="Slide 4"/>
              </a:rPr>
              <a:t>Difficoltà incontrate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sp>
        <p:nvSpPr>
          <p:cNvPr id="1939953279" name="Rectangle 13"/>
          <p:cNvSpPr txBox="1"/>
          <p:nvPr/>
        </p:nvSpPr>
        <p:spPr bwMode="auto">
          <a:xfrm rot="0" flipH="0" flipV="0">
            <a:off x="5428324" y="5414193"/>
            <a:ext cx="5083005" cy="7623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tabLst>
                <a:tab pos="6000750" algn="l"/>
              </a:tabLst>
              <a:defRPr/>
            </a:pPr>
            <a:r>
              <a:rPr lang="fr-FR" sz="2200" u="sng">
                <a:solidFill>
                  <a:schemeClr val="bg1"/>
                </a:solidFill>
                <a:latin typeface="Michroma"/>
                <a:ea typeface="Michroma"/>
                <a:cs typeface="Michroma"/>
                <a:hlinkClick r:id="rId7" action="ppaction://hlinksldjump" tooltip="Slide 5"/>
              </a:rPr>
              <a:t>Dubbi ed incertezze su come procedere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sp>
        <p:nvSpPr>
          <p:cNvPr id="1568389149" name="Flowchart: Alternate process 14"/>
          <p:cNvSpPr/>
          <p:nvPr/>
        </p:nvSpPr>
        <p:spPr bwMode="auto">
          <a:xfrm rot="16199998" flipH="0" flipV="0">
            <a:off x="4833271" y="911059"/>
            <a:ext cx="1130456" cy="662071"/>
          </a:xfrm>
          <a:custGeom>
            <a:avLst>
              <a:gd name="adj1" fmla="val 16667"/>
              <a:gd name="adj2" fmla="val 0"/>
            </a:avLst>
            <a:gdLst/>
            <a:ahLst/>
            <a:cxnLst/>
            <a:rect l="0" t="0" r="r" b="b"/>
            <a:pathLst>
              <a:path w="43200" h="43200" fill="norm" stroke="1" extrusionOk="0">
                <a:moveTo>
                  <a:pt x="7981" y="124"/>
                </a:moveTo>
                <a:cubicBezTo>
                  <a:pt x="17829" y="147"/>
                  <a:pt x="23810" y="437"/>
                  <a:pt x="35962" y="124"/>
                </a:cubicBezTo>
                <a:cubicBezTo>
                  <a:pt x="37832" y="90"/>
                  <a:pt x="39789" y="1487"/>
                  <a:pt x="41065" y="3838"/>
                </a:cubicBezTo>
                <a:cubicBezTo>
                  <a:pt x="42420" y="6334"/>
                  <a:pt x="43040" y="9867"/>
                  <a:pt x="43128" y="12553"/>
                </a:cubicBezTo>
                <a:cubicBezTo>
                  <a:pt x="43206" y="23197"/>
                  <a:pt x="43231" y="33099"/>
                  <a:pt x="43144" y="43200"/>
                </a:cubicBezTo>
                <a:lnTo>
                  <a:pt x="0" y="42853"/>
                </a:lnTo>
                <a:lnTo>
                  <a:pt x="131" y="9819"/>
                </a:lnTo>
                <a:cubicBezTo>
                  <a:pt x="408" y="4981"/>
                  <a:pt x="4174" y="-373"/>
                  <a:pt x="7981" y="124"/>
                </a:cubicBezTo>
                <a:close/>
              </a:path>
            </a:pathLst>
          </a:custGeom>
          <a:gradFill>
            <a:gsLst>
              <a:gs pos="0">
                <a:srgbClr val="9551F3">
                  <a:alpha val="99999"/>
                </a:srgbClr>
              </a:gs>
              <a:gs pos="100000">
                <a:srgbClr val="002060">
                  <a:alpha val="99999"/>
                </a:srgbClr>
              </a:gs>
            </a:gsLst>
            <a:lin ang="2700000" scaled="1"/>
          </a:gradFill>
          <a:ln w="6350" cap="flat" cmpd="sng" algn="ctr">
            <a:solidFill>
              <a:srgbClr val="0F0F1B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645227797" name="Flowchart: Alternate process 14"/>
          <p:cNvSpPr/>
          <p:nvPr/>
        </p:nvSpPr>
        <p:spPr bwMode="auto">
          <a:xfrm rot="16199998" flipH="0" flipV="0">
            <a:off x="4836777" y="2454551"/>
            <a:ext cx="1124988" cy="656759"/>
          </a:xfrm>
          <a:custGeom>
            <a:avLst>
              <a:gd name="adj1" fmla="val 16667"/>
              <a:gd name="adj2" fmla="val 0"/>
            </a:avLst>
            <a:gdLst/>
            <a:ahLst/>
            <a:cxnLst/>
            <a:rect l="0" t="0" r="r" b="b"/>
            <a:pathLst>
              <a:path w="43200" h="43200" fill="norm" stroke="1" extrusionOk="0">
                <a:moveTo>
                  <a:pt x="8020" y="125"/>
                </a:moveTo>
                <a:cubicBezTo>
                  <a:pt x="17916" y="149"/>
                  <a:pt x="23926" y="441"/>
                  <a:pt x="36137" y="125"/>
                </a:cubicBezTo>
                <a:cubicBezTo>
                  <a:pt x="40012" y="54"/>
                  <a:pt x="42994" y="6516"/>
                  <a:pt x="43167" y="11773"/>
                </a:cubicBezTo>
                <a:cubicBezTo>
                  <a:pt x="43246" y="22503"/>
                  <a:pt x="43164" y="33018"/>
                  <a:pt x="43077" y="43200"/>
                </a:cubicBezTo>
                <a:lnTo>
                  <a:pt x="0" y="43200"/>
                </a:lnTo>
                <a:lnTo>
                  <a:pt x="132" y="9898"/>
                </a:lnTo>
                <a:cubicBezTo>
                  <a:pt x="410" y="5021"/>
                  <a:pt x="4194" y="-378"/>
                  <a:pt x="8020" y="125"/>
                </a:cubicBezTo>
                <a:close/>
              </a:path>
            </a:pathLst>
          </a:custGeom>
          <a:gradFill>
            <a:gsLst>
              <a:gs pos="0">
                <a:srgbClr val="9551F3">
                  <a:alpha val="99999"/>
                </a:srgbClr>
              </a:gs>
              <a:gs pos="100000">
                <a:srgbClr val="002060">
                  <a:alpha val="99999"/>
                </a:srgbClr>
              </a:gs>
            </a:gsLst>
            <a:lin ang="2700000" scaled="1"/>
          </a:gradFill>
          <a:ln w="6350" cap="flat" cmpd="sng" algn="ctr">
            <a:solidFill>
              <a:srgbClr val="0F0F1B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364336091" name="Flowchart: Alternate process 14"/>
          <p:cNvSpPr/>
          <p:nvPr/>
        </p:nvSpPr>
        <p:spPr bwMode="auto">
          <a:xfrm rot="16199998" flipH="0" flipV="0">
            <a:off x="4831345" y="3966364"/>
            <a:ext cx="1129015" cy="656760"/>
          </a:xfrm>
          <a:custGeom>
            <a:avLst>
              <a:gd name="adj1" fmla="val 16667"/>
              <a:gd name="adj2" fmla="val 0"/>
            </a:avLst>
            <a:gdLst/>
            <a:ahLst/>
            <a:cxnLst/>
            <a:rect l="0" t="0" r="r" b="b"/>
            <a:pathLst>
              <a:path w="43200" h="43200" fill="norm" stroke="1" extrusionOk="0">
                <a:moveTo>
                  <a:pt x="7992" y="126"/>
                </a:moveTo>
                <a:cubicBezTo>
                  <a:pt x="17853" y="149"/>
                  <a:pt x="23841" y="441"/>
                  <a:pt x="36009" y="126"/>
                </a:cubicBezTo>
                <a:cubicBezTo>
                  <a:pt x="39870" y="54"/>
                  <a:pt x="43012" y="7398"/>
                  <a:pt x="43184" y="12655"/>
                </a:cubicBezTo>
                <a:cubicBezTo>
                  <a:pt x="43263" y="23385"/>
                  <a:pt x="43011" y="33018"/>
                  <a:pt x="42924" y="43200"/>
                </a:cubicBezTo>
                <a:lnTo>
                  <a:pt x="0" y="43200"/>
                </a:lnTo>
                <a:lnTo>
                  <a:pt x="132" y="9899"/>
                </a:lnTo>
                <a:cubicBezTo>
                  <a:pt x="409" y="5022"/>
                  <a:pt x="4180" y="-378"/>
                  <a:pt x="7992" y="126"/>
                </a:cubicBezTo>
                <a:close/>
              </a:path>
            </a:pathLst>
          </a:custGeom>
          <a:gradFill>
            <a:gsLst>
              <a:gs pos="0">
                <a:srgbClr val="9551F3">
                  <a:alpha val="99999"/>
                </a:srgbClr>
              </a:gs>
              <a:gs pos="100000">
                <a:srgbClr val="002060">
                  <a:alpha val="99999"/>
                </a:srgbClr>
              </a:gs>
            </a:gsLst>
            <a:lin ang="2700000" scaled="1"/>
          </a:gradFill>
          <a:ln w="6350" cap="flat" cmpd="sng" algn="ctr">
            <a:solidFill>
              <a:srgbClr val="0F0F1B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817063639" name="Flowchart: Alternate process 14"/>
          <p:cNvSpPr/>
          <p:nvPr/>
        </p:nvSpPr>
        <p:spPr bwMode="auto">
          <a:xfrm rot="16199998" flipH="0" flipV="0">
            <a:off x="4834587" y="5468468"/>
            <a:ext cx="1131248" cy="658648"/>
          </a:xfrm>
          <a:custGeom>
            <a:avLst>
              <a:gd name="adj1" fmla="val 16667"/>
              <a:gd name="adj2" fmla="val 0"/>
            </a:avLst>
            <a:gdLst/>
            <a:ahLst/>
            <a:cxnLst/>
            <a:rect l="0" t="0" r="r" b="b"/>
            <a:pathLst>
              <a:path w="43200" h="43200" fill="norm" stroke="1" extrusionOk="0">
                <a:moveTo>
                  <a:pt x="7976" y="125"/>
                </a:moveTo>
                <a:cubicBezTo>
                  <a:pt x="17817" y="148"/>
                  <a:pt x="23793" y="439"/>
                  <a:pt x="35937" y="125"/>
                </a:cubicBezTo>
                <a:cubicBezTo>
                  <a:pt x="37690" y="92"/>
                  <a:pt x="39704" y="1496"/>
                  <a:pt x="40949" y="3633"/>
                </a:cubicBezTo>
                <a:cubicBezTo>
                  <a:pt x="42440" y="6192"/>
                  <a:pt x="43004" y="9761"/>
                  <a:pt x="43097" y="12618"/>
                </a:cubicBezTo>
                <a:lnTo>
                  <a:pt x="43200" y="43199"/>
                </a:lnTo>
                <a:lnTo>
                  <a:pt x="0" y="43076"/>
                </a:lnTo>
                <a:lnTo>
                  <a:pt x="131" y="9870"/>
                </a:lnTo>
                <a:cubicBezTo>
                  <a:pt x="407" y="5007"/>
                  <a:pt x="4171" y="-375"/>
                  <a:pt x="7976" y="125"/>
                </a:cubicBezTo>
                <a:close/>
              </a:path>
            </a:pathLst>
          </a:custGeom>
          <a:gradFill>
            <a:gsLst>
              <a:gs pos="0">
                <a:srgbClr val="9551F3">
                  <a:alpha val="99999"/>
                </a:srgbClr>
              </a:gs>
              <a:gs pos="100000">
                <a:srgbClr val="002060">
                  <a:alpha val="99999"/>
                </a:srgbClr>
              </a:gs>
            </a:gsLst>
            <a:lin ang="2700000" scaled="1"/>
          </a:gradFill>
          <a:ln w="6350" cap="flat" cmpd="sng" algn="ctr">
            <a:solidFill>
              <a:srgbClr val="0F0F1B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093468178" name="Rectangle 18"/>
          <p:cNvSpPr txBox="1"/>
          <p:nvPr/>
        </p:nvSpPr>
        <p:spPr bwMode="auto">
          <a:xfrm rot="0" flipH="0" flipV="0">
            <a:off x="5126404" y="987091"/>
            <a:ext cx="886905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2800" b="1">
                <a:solidFill>
                  <a:schemeClr val="bg1"/>
                </a:solidFill>
                <a:latin typeface="DejaVu Sans Mono"/>
                <a:ea typeface="DejaVu Sans Mono"/>
                <a:cs typeface="DejaVu Sans Mono"/>
              </a:rPr>
              <a:t>1.</a:t>
            </a:r>
            <a:endParaRPr sz="2800" b="1">
              <a:solidFill>
                <a:schemeClr val="bg1"/>
              </a:solidFill>
              <a:latin typeface="DejaVu Sans Mono"/>
              <a:cs typeface="DejaVu Sans Mono"/>
            </a:endParaRPr>
          </a:p>
        </p:txBody>
      </p:sp>
      <p:sp>
        <p:nvSpPr>
          <p:cNvPr id="504553678" name="Rectangle 19"/>
          <p:cNvSpPr txBox="1"/>
          <p:nvPr/>
        </p:nvSpPr>
        <p:spPr bwMode="auto">
          <a:xfrm rot="0" flipH="0" flipV="0">
            <a:off x="5126404" y="2521658"/>
            <a:ext cx="887985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2800" b="1">
                <a:solidFill>
                  <a:schemeClr val="bg1"/>
                </a:solidFill>
                <a:latin typeface="DejaVu Sans Mono"/>
                <a:ea typeface="DejaVu Sans Mono"/>
                <a:cs typeface="DejaVu Sans Mono"/>
              </a:rPr>
              <a:t>2.</a:t>
            </a:r>
            <a:endParaRPr sz="2800" b="1">
              <a:solidFill>
                <a:schemeClr val="bg1"/>
              </a:solidFill>
              <a:latin typeface="DejaVu Sans Mono"/>
              <a:cs typeface="DejaVu Sans Mono"/>
            </a:endParaRPr>
          </a:p>
        </p:txBody>
      </p:sp>
      <p:sp>
        <p:nvSpPr>
          <p:cNvPr id="680541558" name="Rectangle 20"/>
          <p:cNvSpPr txBox="1"/>
          <p:nvPr/>
        </p:nvSpPr>
        <p:spPr bwMode="auto">
          <a:xfrm rot="0" flipH="0" flipV="0">
            <a:off x="5145455" y="4076371"/>
            <a:ext cx="888345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tabLst>
                <a:tab pos="5257798" algn="l"/>
              </a:tabLst>
              <a:defRPr/>
            </a:pPr>
            <a:r>
              <a:rPr lang="fr-FR" sz="2800" b="1">
                <a:solidFill>
                  <a:schemeClr val="bg1"/>
                </a:solidFill>
                <a:latin typeface="DejaVu Sans Mono"/>
                <a:ea typeface="DejaVu Sans Mono"/>
                <a:cs typeface="DejaVu Sans Mono"/>
              </a:rPr>
              <a:t>3.</a:t>
            </a:r>
            <a:endParaRPr sz="2800" b="1">
              <a:solidFill>
                <a:schemeClr val="bg1"/>
              </a:solidFill>
              <a:latin typeface="DejaVu Sans Mono"/>
              <a:cs typeface="DejaVu Sans Mono"/>
            </a:endParaRPr>
          </a:p>
        </p:txBody>
      </p:sp>
      <p:sp>
        <p:nvSpPr>
          <p:cNvPr id="1763621809" name="Rectangle 21"/>
          <p:cNvSpPr txBox="1"/>
          <p:nvPr/>
        </p:nvSpPr>
        <p:spPr bwMode="auto">
          <a:xfrm rot="0" flipH="0" flipV="0">
            <a:off x="5145455" y="5539649"/>
            <a:ext cx="889785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>
              <a:tabLst>
                <a:tab pos="57150" algn="l"/>
                <a:tab pos="5257798" algn="l"/>
                <a:tab pos="5543548" algn="l"/>
              </a:tabLst>
              <a:defRPr/>
            </a:pPr>
            <a:r>
              <a:rPr lang="fr-FR" sz="2800" b="1">
                <a:solidFill>
                  <a:schemeClr val="bg1"/>
                </a:solidFill>
                <a:latin typeface="DejaVu Sans Mono"/>
                <a:ea typeface="DejaVu Sans Mono"/>
                <a:cs typeface="DejaVu Sans Mono"/>
              </a:rPr>
              <a:t>4.</a:t>
            </a:r>
            <a:endParaRPr sz="2800" b="1">
              <a:solidFill>
                <a:schemeClr val="bg1"/>
              </a:solidFill>
              <a:latin typeface="DejaVu Sans Mono"/>
              <a:cs typeface="DejaVu Sans Mon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2767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702767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328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683284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7605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057605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3360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0033604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49328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849328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2154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021549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7661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976615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1349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01349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9953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9399532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8389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68389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277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452277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43360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643360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70636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170636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3468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93468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5536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045536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0541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805415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36218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7636218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213712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7" y="-6349"/>
            <a:ext cx="10515600" cy="1449799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 algn="ctr">
              <a:defRPr/>
            </a:pPr>
            <a:r>
              <a:rPr lang="fr-FR" sz="3300" b="0" i="0" u="none" strike="noStrike" cap="none" spc="0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Stato di avanzamento</a:t>
            </a:r>
            <a:endParaRPr sz="3300">
              <a:solidFill>
                <a:schemeClr val="bg1"/>
              </a:solidFill>
              <a:latin typeface="Michroma"/>
              <a:cs typeface="Michroma"/>
            </a:endParaRPr>
          </a:p>
          <a:p>
            <a:pPr>
              <a:defRPr/>
            </a:pPr>
            <a:endParaRPr/>
          </a:p>
        </p:txBody>
      </p:sp>
      <p:grpSp>
        <p:nvGrpSpPr>
          <p:cNvPr id="464793542" name="Group 62"/>
          <p:cNvGrpSpPr/>
          <p:nvPr/>
        </p:nvGrpSpPr>
        <p:grpSpPr bwMode="auto">
          <a:xfrm flipH="0" flipV="0">
            <a:off x="353994" y="1124862"/>
            <a:ext cx="5429270" cy="629307"/>
            <a:chOff x="0" y="0"/>
            <a:chExt cx="5429270" cy="629307"/>
          </a:xfrm>
        </p:grpSpPr>
        <p:sp>
          <p:nvSpPr>
            <p:cNvPr id="64808593" name="Flowchart: Alternate process 63"/>
            <p:cNvSpPr/>
            <p:nvPr/>
          </p:nvSpPr>
          <p:spPr bwMode="auto">
            <a:xfrm rot="0" flipH="0" flipV="0">
              <a:off x="2020" y="1332"/>
              <a:ext cx="5427248" cy="622731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34486906" name="Flowchart: Alternate process 14"/>
            <p:cNvSpPr/>
            <p:nvPr/>
          </p:nvSpPr>
          <p:spPr bwMode="auto">
            <a:xfrm rot="16199998" flipH="0" flipV="0">
              <a:off x="13026" y="-13026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149029921" name="Group 64"/>
          <p:cNvGrpSpPr/>
          <p:nvPr/>
        </p:nvGrpSpPr>
        <p:grpSpPr bwMode="auto">
          <a:xfrm flipH="0" flipV="0">
            <a:off x="360248" y="2069596"/>
            <a:ext cx="5429269" cy="629307"/>
            <a:chOff x="0" y="0"/>
            <a:chExt cx="5429269" cy="629307"/>
          </a:xfrm>
        </p:grpSpPr>
        <p:sp>
          <p:nvSpPr>
            <p:cNvPr id="1585794658" name="Flowchart: Alternate process 65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525446541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1728294586" name="Group 66"/>
          <p:cNvGrpSpPr/>
          <p:nvPr/>
        </p:nvGrpSpPr>
        <p:grpSpPr bwMode="auto">
          <a:xfrm flipH="0" flipV="0">
            <a:off x="364481" y="2940545"/>
            <a:ext cx="5429269" cy="629307"/>
            <a:chOff x="0" y="0"/>
            <a:chExt cx="5429269" cy="629307"/>
          </a:xfrm>
        </p:grpSpPr>
        <p:sp>
          <p:nvSpPr>
            <p:cNvPr id="1054995483" name="Flowchart: Alternate process 67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68844809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372098076" name="Group 68"/>
          <p:cNvGrpSpPr/>
          <p:nvPr/>
        </p:nvGrpSpPr>
        <p:grpSpPr bwMode="auto">
          <a:xfrm flipH="0" flipV="0">
            <a:off x="375066" y="3902574"/>
            <a:ext cx="5429269" cy="629307"/>
            <a:chOff x="0" y="0"/>
            <a:chExt cx="5429269" cy="629307"/>
          </a:xfrm>
        </p:grpSpPr>
        <p:sp>
          <p:nvSpPr>
            <p:cNvPr id="1193932191" name="Flowchart: Alternate process 69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850103788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1866511623" name="Rectangle 70"/>
          <p:cNvSpPr txBox="1"/>
          <p:nvPr/>
        </p:nvSpPr>
        <p:spPr bwMode="auto">
          <a:xfrm rot="0" flipH="0" flipV="0">
            <a:off x="1145165" y="1233415"/>
            <a:ext cx="450173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Creazione nome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sp>
        <p:nvSpPr>
          <p:cNvPr id="1682666309" name="Rectangle 71"/>
          <p:cNvSpPr txBox="1"/>
          <p:nvPr/>
        </p:nvSpPr>
        <p:spPr bwMode="auto">
          <a:xfrm rot="0" flipH="0" flipV="0">
            <a:off x="1145165" y="2201191"/>
            <a:ext cx="450353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Creazione logo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sp>
        <p:nvSpPr>
          <p:cNvPr id="734979463" name="Rectangle 72"/>
          <p:cNvSpPr txBox="1"/>
          <p:nvPr/>
        </p:nvSpPr>
        <p:spPr bwMode="auto">
          <a:xfrm rot="0" flipH="0" flipV="0">
            <a:off x="1168011" y="3062880"/>
            <a:ext cx="450821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Creazione recapito e-mail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sp>
        <p:nvSpPr>
          <p:cNvPr id="976672064" name="Rectangle 73"/>
          <p:cNvSpPr txBox="1"/>
          <p:nvPr/>
        </p:nvSpPr>
        <p:spPr bwMode="auto">
          <a:xfrm rot="0" flipH="0" flipV="0">
            <a:off x="1174131" y="4031649"/>
            <a:ext cx="452368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u="sng">
                <a:solidFill>
                  <a:schemeClr val="hlink"/>
                </a:solidFill>
                <a:latin typeface="Michroma"/>
                <a:cs typeface="Michroma"/>
                <a:hlinkClick r:id="rId3" tooltip=""/>
              </a:rPr>
              <a:t>Call interna: 1</a:t>
            </a:r>
            <a:endParaRPr>
              <a:solidFill>
                <a:schemeClr val="bg2"/>
              </a:solidFill>
              <a:latin typeface="Michroma"/>
              <a:cs typeface="Michroma"/>
            </a:endParaRPr>
          </a:p>
        </p:txBody>
      </p:sp>
      <p:grpSp>
        <p:nvGrpSpPr>
          <p:cNvPr id="1914970234" name="Group 74"/>
          <p:cNvGrpSpPr/>
          <p:nvPr/>
        </p:nvGrpSpPr>
        <p:grpSpPr bwMode="auto">
          <a:xfrm flipH="0" flipV="0">
            <a:off x="346100" y="4901640"/>
            <a:ext cx="5429269" cy="629307"/>
            <a:chOff x="0" y="0"/>
            <a:chExt cx="5429269" cy="629307"/>
          </a:xfrm>
        </p:grpSpPr>
        <p:sp>
          <p:nvSpPr>
            <p:cNvPr id="770733285" name="Flowchart: Alternate process 75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46577212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588813444" name="Rectangle 76"/>
          <p:cNvSpPr txBox="1"/>
          <p:nvPr/>
        </p:nvSpPr>
        <p:spPr bwMode="auto">
          <a:xfrm rot="0" flipH="0" flipV="0">
            <a:off x="1145165" y="5030714"/>
            <a:ext cx="453989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cs typeface="Michroma"/>
              </a:rPr>
              <a:t>Cadenza generale call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grpSp>
        <p:nvGrpSpPr>
          <p:cNvPr id="277008413" name="Group 77"/>
          <p:cNvGrpSpPr/>
          <p:nvPr/>
        </p:nvGrpSpPr>
        <p:grpSpPr bwMode="auto">
          <a:xfrm flipH="0" flipV="0">
            <a:off x="336905" y="5879539"/>
            <a:ext cx="5429269" cy="629307"/>
            <a:chOff x="0" y="0"/>
            <a:chExt cx="5429269" cy="629307"/>
          </a:xfrm>
        </p:grpSpPr>
        <p:sp>
          <p:nvSpPr>
            <p:cNvPr id="1448591303" name="Flowchart: Alternate process 78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78014846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1926041079" name="Rectangle 79"/>
          <p:cNvSpPr txBox="1"/>
          <p:nvPr/>
        </p:nvSpPr>
        <p:spPr bwMode="auto">
          <a:xfrm rot="0" flipH="0" flipV="0">
            <a:off x="1135971" y="6008613"/>
            <a:ext cx="456509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cs typeface="Michroma"/>
              </a:rPr>
              <a:t>Stesura resoconto capitolati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grpSp>
        <p:nvGrpSpPr>
          <p:cNvPr id="958821218" name="Group 80"/>
          <p:cNvGrpSpPr/>
          <p:nvPr/>
        </p:nvGrpSpPr>
        <p:grpSpPr bwMode="auto">
          <a:xfrm flipH="0" flipV="0">
            <a:off x="6455236" y="1129352"/>
            <a:ext cx="5429269" cy="629307"/>
            <a:chOff x="0" y="0"/>
            <a:chExt cx="5429269" cy="629307"/>
          </a:xfrm>
        </p:grpSpPr>
        <p:sp>
          <p:nvSpPr>
            <p:cNvPr id="1507574082" name="Flowchart: Alternate process 81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08922847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779891917" name="Rectangle 82"/>
          <p:cNvSpPr txBox="1"/>
          <p:nvPr/>
        </p:nvSpPr>
        <p:spPr bwMode="auto">
          <a:xfrm rot="0" flipH="0" flipV="0">
            <a:off x="7254300" y="1258425"/>
            <a:ext cx="455681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u="sng">
                <a:ln w="12700">
                  <a:solidFill>
                    <a:srgbClr val="000000">
                      <a:alpha val="0"/>
                    </a:srgbClr>
                  </a:solidFill>
                </a:ln>
                <a:solidFill>
                  <a:srgbClr val="FFFFFF"/>
                </a:solidFill>
                <a:latin typeface="Michroma"/>
                <a:cs typeface="Michroma"/>
                <a:hlinkClick r:id="rId4" tooltip=""/>
              </a:rPr>
              <a:t>Incontro </a:t>
            </a:r>
            <a:r>
              <a:rPr lang="fr-FR" u="sng">
                <a:ln w="12700">
                  <a:solidFill>
                    <a:srgbClr val="000000">
                      <a:alpha val="0"/>
                    </a:srgbClr>
                  </a:solidFill>
                </a:ln>
                <a:solidFill>
                  <a:srgbClr val="FFFFFF"/>
                </a:solidFill>
                <a:latin typeface="Michroma"/>
                <a:cs typeface="Michroma"/>
                <a:hlinkClick r:id="rId4" tooltip=""/>
              </a:rPr>
              <a:t>1 : C9 - Zucchetti</a:t>
            </a:r>
            <a:endParaRPr>
              <a:ln w="12700">
                <a:solidFill>
                  <a:srgbClr val="000000">
                    <a:alpha val="0"/>
                  </a:srgbClr>
                </a:solidFill>
              </a:ln>
              <a:solidFill>
                <a:schemeClr val="accent5"/>
              </a:solidFill>
              <a:latin typeface="Michroma"/>
              <a:cs typeface="Michroma"/>
            </a:endParaRPr>
          </a:p>
        </p:txBody>
      </p:sp>
      <p:grpSp>
        <p:nvGrpSpPr>
          <p:cNvPr id="711436570" name="Group 83"/>
          <p:cNvGrpSpPr/>
          <p:nvPr/>
        </p:nvGrpSpPr>
        <p:grpSpPr bwMode="auto">
          <a:xfrm flipH="0" flipV="0">
            <a:off x="6455236" y="2041456"/>
            <a:ext cx="5429269" cy="629307"/>
            <a:chOff x="0" y="0"/>
            <a:chExt cx="5429269" cy="629307"/>
          </a:xfrm>
        </p:grpSpPr>
        <p:sp>
          <p:nvSpPr>
            <p:cNvPr id="587593809" name="Flowchart: Alternate process 84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26891959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892797708" name="Rectangle 85"/>
          <p:cNvSpPr txBox="1"/>
          <p:nvPr/>
        </p:nvSpPr>
        <p:spPr bwMode="auto">
          <a:xfrm rot="0" flipH="0" flipV="0">
            <a:off x="7254301" y="2170530"/>
            <a:ext cx="455861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cs typeface="Michroma"/>
              </a:rPr>
              <a:t>Creazione repository GitHub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grpSp>
        <p:nvGrpSpPr>
          <p:cNvPr id="1915745889" name="Group 86"/>
          <p:cNvGrpSpPr/>
          <p:nvPr/>
        </p:nvGrpSpPr>
        <p:grpSpPr bwMode="auto">
          <a:xfrm flipH="0" flipV="0">
            <a:off x="6473596" y="2933804"/>
            <a:ext cx="5429269" cy="629307"/>
            <a:chOff x="0" y="0"/>
            <a:chExt cx="5429269" cy="629307"/>
          </a:xfrm>
        </p:grpSpPr>
        <p:sp>
          <p:nvSpPr>
            <p:cNvPr id="459466839" name="Flowchart: Alternate process 87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54846557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1913525597" name="Rectangle 88"/>
          <p:cNvSpPr txBox="1"/>
          <p:nvPr/>
        </p:nvSpPr>
        <p:spPr bwMode="auto">
          <a:xfrm rot="0" flipH="0" flipV="0">
            <a:off x="7272661" y="3062880"/>
            <a:ext cx="454853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u="sng">
                <a:solidFill>
                  <a:schemeClr val="bg1"/>
                </a:solidFill>
                <a:latin typeface="Michroma"/>
                <a:cs typeface="Michroma"/>
                <a:hlinkClick r:id="rId5" tooltip=""/>
              </a:rPr>
              <a:t>Incontro 2 : C1 - Vimar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grpSp>
        <p:nvGrpSpPr>
          <p:cNvPr id="2088253295" name="Group 89"/>
          <p:cNvGrpSpPr/>
          <p:nvPr/>
        </p:nvGrpSpPr>
        <p:grpSpPr bwMode="auto">
          <a:xfrm flipH="0" flipV="0">
            <a:off x="6455236" y="3902574"/>
            <a:ext cx="5429269" cy="629307"/>
            <a:chOff x="0" y="0"/>
            <a:chExt cx="5429269" cy="629307"/>
          </a:xfrm>
        </p:grpSpPr>
        <p:sp>
          <p:nvSpPr>
            <p:cNvPr id="1318029522" name="Flowchart: Alternate process 90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06845921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1988027534" name="Rectangle 91"/>
          <p:cNvSpPr txBox="1"/>
          <p:nvPr/>
        </p:nvSpPr>
        <p:spPr bwMode="auto">
          <a:xfrm rot="0" flipH="0" flipV="0">
            <a:off x="7254301" y="4031649"/>
            <a:ext cx="455177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cs typeface="Michroma"/>
              </a:rPr>
              <a:t>Stesura e revisione verbali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grpSp>
        <p:nvGrpSpPr>
          <p:cNvPr id="1315269387" name="Group 92"/>
          <p:cNvGrpSpPr/>
          <p:nvPr/>
        </p:nvGrpSpPr>
        <p:grpSpPr bwMode="auto">
          <a:xfrm flipH="0" flipV="0">
            <a:off x="6440418" y="5847708"/>
            <a:ext cx="5429269" cy="629307"/>
            <a:chOff x="0" y="0"/>
            <a:chExt cx="5429269" cy="629307"/>
          </a:xfrm>
        </p:grpSpPr>
        <p:sp>
          <p:nvSpPr>
            <p:cNvPr id="1866428365" name="Flowchart: Alternate process 93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19144164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1761750" name="Rectangle 94"/>
          <p:cNvSpPr txBox="1"/>
          <p:nvPr/>
        </p:nvSpPr>
        <p:spPr bwMode="auto">
          <a:xfrm rot="0" flipH="0" flipV="0">
            <a:off x="7239484" y="5976783"/>
            <a:ext cx="455105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cs typeface="Michroma"/>
              </a:rPr>
              <a:t>Incontro 3 : C6 - VarGroup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grpSp>
        <p:nvGrpSpPr>
          <p:cNvPr id="1109971024" name="Group 106"/>
          <p:cNvGrpSpPr/>
          <p:nvPr/>
        </p:nvGrpSpPr>
        <p:grpSpPr bwMode="auto">
          <a:xfrm flipH="0" flipV="0">
            <a:off x="6458807" y="4888411"/>
            <a:ext cx="5429269" cy="629307"/>
            <a:chOff x="0" y="0"/>
            <a:chExt cx="5429269" cy="629307"/>
          </a:xfrm>
        </p:grpSpPr>
        <p:sp>
          <p:nvSpPr>
            <p:cNvPr id="1574290388" name="Flowchart: Alternate process 107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06940979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1231005969" name="Rectangle 108"/>
          <p:cNvSpPr txBox="1"/>
          <p:nvPr/>
        </p:nvSpPr>
        <p:spPr bwMode="auto">
          <a:xfrm rot="0" flipH="0" flipV="0">
            <a:off x="7257871" y="5017484"/>
            <a:ext cx="456005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u="sng">
                <a:solidFill>
                  <a:schemeClr val="bg1"/>
                </a:solidFill>
                <a:latin typeface="Michroma"/>
                <a:cs typeface="Michroma"/>
                <a:hlinkClick r:id="rId6" tooltip=""/>
              </a:rPr>
              <a:t>Call interna: 2 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pic>
        <p:nvPicPr>
          <p:cNvPr id="657619679" name="Picture 52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 bwMode="auto">
          <a:xfrm flipH="0" flipV="0">
            <a:off x="457333" y="1201664"/>
            <a:ext cx="467431" cy="467431"/>
          </a:xfrm>
          <a:prstGeom prst="rect">
            <a:avLst/>
          </a:prstGeom>
        </p:spPr>
      </p:pic>
      <p:pic>
        <p:nvPicPr>
          <p:cNvPr id="1444375481" name="Picture 53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 bwMode="auto">
          <a:xfrm flipH="0" flipV="0">
            <a:off x="457333" y="2150534"/>
            <a:ext cx="467430" cy="467430"/>
          </a:xfrm>
          <a:prstGeom prst="rect">
            <a:avLst/>
          </a:prstGeom>
        </p:spPr>
      </p:pic>
      <p:pic>
        <p:nvPicPr>
          <p:cNvPr id="217444960" name="Picture 54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 bwMode="auto">
          <a:xfrm flipH="0" flipV="0">
            <a:off x="457333" y="3012223"/>
            <a:ext cx="467430" cy="467430"/>
          </a:xfrm>
          <a:prstGeom prst="rect">
            <a:avLst/>
          </a:prstGeom>
        </p:spPr>
      </p:pic>
      <p:pic>
        <p:nvPicPr>
          <p:cNvPr id="321598638" name="Picture 55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 bwMode="auto">
          <a:xfrm flipH="0" flipV="0">
            <a:off x="467916" y="3980992"/>
            <a:ext cx="467430" cy="467430"/>
          </a:xfrm>
          <a:prstGeom prst="rect">
            <a:avLst/>
          </a:prstGeom>
        </p:spPr>
      </p:pic>
      <p:pic>
        <p:nvPicPr>
          <p:cNvPr id="1186971665" name="Picture 56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 bwMode="auto">
          <a:xfrm flipH="0" flipV="0">
            <a:off x="446750" y="4980057"/>
            <a:ext cx="467430" cy="467430"/>
          </a:xfrm>
          <a:prstGeom prst="rect">
            <a:avLst/>
          </a:prstGeom>
        </p:spPr>
      </p:pic>
      <p:pic>
        <p:nvPicPr>
          <p:cNvPr id="914360017" name="Picture 57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 bwMode="auto">
          <a:xfrm flipH="0" flipV="0">
            <a:off x="446750" y="5966199"/>
            <a:ext cx="467430" cy="467430"/>
          </a:xfrm>
          <a:prstGeom prst="rect">
            <a:avLst/>
          </a:prstGeom>
        </p:spPr>
      </p:pic>
      <p:pic>
        <p:nvPicPr>
          <p:cNvPr id="1072965399" name="Picture 58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 bwMode="auto">
          <a:xfrm flipH="0" flipV="0">
            <a:off x="6549508" y="1201664"/>
            <a:ext cx="467430" cy="467430"/>
          </a:xfrm>
          <a:prstGeom prst="rect">
            <a:avLst/>
          </a:prstGeom>
        </p:spPr>
      </p:pic>
      <p:pic>
        <p:nvPicPr>
          <p:cNvPr id="360206553" name="Picture 59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 bwMode="auto">
          <a:xfrm flipH="0" flipV="0">
            <a:off x="6560091" y="2119873"/>
            <a:ext cx="467430" cy="467430"/>
          </a:xfrm>
          <a:prstGeom prst="rect">
            <a:avLst/>
          </a:prstGeom>
        </p:spPr>
      </p:pic>
      <p:pic>
        <p:nvPicPr>
          <p:cNvPr id="1588396186" name="Picture 60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 bwMode="auto">
          <a:xfrm flipH="0" flipV="0">
            <a:off x="6575355" y="3012223"/>
            <a:ext cx="467430" cy="467430"/>
          </a:xfrm>
          <a:prstGeom prst="rect">
            <a:avLst/>
          </a:prstGeom>
        </p:spPr>
      </p:pic>
      <p:pic>
        <p:nvPicPr>
          <p:cNvPr id="201742190" name="Picture 61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 bwMode="auto">
          <a:xfrm flipH="0" flipV="0">
            <a:off x="6549508" y="3980992"/>
            <a:ext cx="467430" cy="467430"/>
          </a:xfrm>
          <a:prstGeom prst="rect">
            <a:avLst/>
          </a:prstGeom>
        </p:spPr>
      </p:pic>
      <p:pic>
        <p:nvPicPr>
          <p:cNvPr id="15922105" name="Picture 62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 bwMode="auto">
          <a:xfrm flipH="0" flipV="0">
            <a:off x="6560091" y="4980057"/>
            <a:ext cx="467430" cy="467430"/>
          </a:xfrm>
          <a:prstGeom prst="rect">
            <a:avLst/>
          </a:prstGeom>
        </p:spPr>
      </p:pic>
      <p:pic>
        <p:nvPicPr>
          <p:cNvPr id="990716342" name="Picture 65"/>
          <p:cNvPicPr>
            <a:picLocks noChangeAspect="1"/>
          </p:cNvPicPr>
          <p:nvPr/>
        </p:nvPicPr>
        <p:blipFill rotWithShape="1"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</p:blipFill>
        <p:spPr bwMode="auto">
          <a:xfrm flipH="0" flipV="0">
            <a:off x="6549508" y="5936790"/>
            <a:ext cx="467430" cy="4674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00" advClick="1">
        <p:fade thruBlk="0"/>
      </p:transition>
    </mc:Choice>
    <mc:Fallback>
      <p:transition spd="med" advClick="1">
        <p:fade thruBlk="0"/>
      </p:transition>
    </mc:Fallback>
  </mc:AlternateContent>
  <p:timing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41407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7" y="-6349"/>
            <a:ext cx="10515600" cy="1449799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 algn="ctr">
              <a:defRPr/>
            </a:pPr>
            <a:r>
              <a:rPr lang="fr-FR" sz="3300" b="0" i="0" u="none" strike="noStrike" cap="none" spc="0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Obiettivi futuri a breve termine</a:t>
            </a:r>
            <a:endParaRPr sz="3300">
              <a:solidFill>
                <a:schemeClr val="bg1"/>
              </a:solidFill>
              <a:latin typeface="Michroma"/>
              <a:cs typeface="Michroma"/>
            </a:endParaRPr>
          </a:p>
          <a:p>
            <a:pPr>
              <a:defRPr/>
            </a:pPr>
            <a:endParaRPr/>
          </a:p>
        </p:txBody>
      </p:sp>
      <p:grpSp>
        <p:nvGrpSpPr>
          <p:cNvPr id="829425874" name="Group 2"/>
          <p:cNvGrpSpPr/>
          <p:nvPr/>
        </p:nvGrpSpPr>
        <p:grpSpPr bwMode="auto">
          <a:xfrm flipH="0" flipV="0">
            <a:off x="281503" y="1529328"/>
            <a:ext cx="5429270" cy="629307"/>
            <a:chOff x="0" y="0"/>
            <a:chExt cx="5429270" cy="629307"/>
          </a:xfrm>
        </p:grpSpPr>
        <p:sp>
          <p:nvSpPr>
            <p:cNvPr id="1467211769" name="Flowchart: Alternate process 3"/>
            <p:cNvSpPr/>
            <p:nvPr/>
          </p:nvSpPr>
          <p:spPr bwMode="auto">
            <a:xfrm rot="0" flipH="0" flipV="0">
              <a:off x="2020" y="1332"/>
              <a:ext cx="5427248" cy="622731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8589404" name="Flowchart: Alternate process 14"/>
            <p:cNvSpPr/>
            <p:nvPr/>
          </p:nvSpPr>
          <p:spPr bwMode="auto">
            <a:xfrm rot="16199998" flipH="0" flipV="0">
              <a:off x="13026" y="-13026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2124462235" name="Group 5"/>
          <p:cNvGrpSpPr/>
          <p:nvPr/>
        </p:nvGrpSpPr>
        <p:grpSpPr bwMode="auto">
          <a:xfrm flipH="0" flipV="0">
            <a:off x="287757" y="2251812"/>
            <a:ext cx="5429269" cy="629307"/>
            <a:chOff x="0" y="0"/>
            <a:chExt cx="5429269" cy="629307"/>
          </a:xfrm>
        </p:grpSpPr>
        <p:sp>
          <p:nvSpPr>
            <p:cNvPr id="814244678" name="Flowchart: Alternate process 6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815710327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290627112" name="Group 8"/>
          <p:cNvGrpSpPr/>
          <p:nvPr/>
        </p:nvGrpSpPr>
        <p:grpSpPr bwMode="auto">
          <a:xfrm flipH="0" flipV="0">
            <a:off x="281406" y="2964011"/>
            <a:ext cx="5429269" cy="629307"/>
            <a:chOff x="0" y="0"/>
            <a:chExt cx="5429269" cy="629307"/>
          </a:xfrm>
        </p:grpSpPr>
        <p:sp>
          <p:nvSpPr>
            <p:cNvPr id="790688267" name="Flowchart: Alternate process 9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57692740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714007354" name="Rectangle 14"/>
          <p:cNvSpPr txBox="1"/>
          <p:nvPr/>
        </p:nvSpPr>
        <p:spPr bwMode="auto">
          <a:xfrm rot="0" flipH="0" flipV="0">
            <a:off x="1072674" y="1637881"/>
            <a:ext cx="452477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cs typeface="Michroma"/>
              </a:rPr>
              <a:t>Rifinitura « Way-Of-Working »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sp>
        <p:nvSpPr>
          <p:cNvPr id="846293226" name="Rectangle 15"/>
          <p:cNvSpPr txBox="1"/>
          <p:nvPr/>
        </p:nvSpPr>
        <p:spPr bwMode="auto">
          <a:xfrm rot="0" flipH="0" flipV="0">
            <a:off x="1072674" y="2383407"/>
            <a:ext cx="452225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cs typeface="Michroma"/>
              </a:rPr>
              <a:t>Assegnazione ruoli 1°  turno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sp>
        <p:nvSpPr>
          <p:cNvPr id="1313664251" name="Rectangle 16"/>
          <p:cNvSpPr txBox="1"/>
          <p:nvPr/>
        </p:nvSpPr>
        <p:spPr bwMode="auto">
          <a:xfrm rot="0" flipH="0" flipV="0">
            <a:off x="1076276" y="3095721"/>
            <a:ext cx="453737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tabLst>
                <a:tab pos="457200" algn="l"/>
                <a:tab pos="1143000" algn="l"/>
                <a:tab pos="1200150" algn="l"/>
              </a:tabLst>
              <a:defRPr/>
            </a:pPr>
            <a:r>
              <a:rPr lang="fr-FR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Rifinitura preventivo iniziale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grpSp>
        <p:nvGrpSpPr>
          <p:cNvPr id="771430268" name="Group 56"/>
          <p:cNvGrpSpPr/>
          <p:nvPr/>
        </p:nvGrpSpPr>
        <p:grpSpPr bwMode="auto">
          <a:xfrm flipH="0" flipV="0">
            <a:off x="290311" y="3698279"/>
            <a:ext cx="5429269" cy="629307"/>
            <a:chOff x="0" y="0"/>
            <a:chExt cx="5429269" cy="629307"/>
          </a:xfrm>
        </p:grpSpPr>
        <p:sp>
          <p:nvSpPr>
            <p:cNvPr id="1154109" name="Flowchart: Alternate process 57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518802898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1418999668" name="Rectangle 58"/>
          <p:cNvSpPr txBox="1"/>
          <p:nvPr/>
        </p:nvSpPr>
        <p:spPr bwMode="auto">
          <a:xfrm rot="0" flipH="0" flipV="0">
            <a:off x="1093840" y="3820613"/>
            <a:ext cx="454097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Presentazione candidatura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sp>
        <p:nvSpPr>
          <p:cNvPr id="760168387" name="Flowchart: Alternate process 64"/>
          <p:cNvSpPr/>
          <p:nvPr/>
        </p:nvSpPr>
        <p:spPr bwMode="auto">
          <a:xfrm rot="0" flipH="0" flipV="0">
            <a:off x="1229833" y="970530"/>
            <a:ext cx="3661833" cy="430588"/>
          </a:xfrm>
          <a:prstGeom prst="flowChartAlternateProcess">
            <a:avLst/>
          </a:prstGeom>
          <a:gradFill>
            <a:gsLst>
              <a:gs pos="0">
                <a:srgbClr val="9551F3">
                  <a:alpha val="99999"/>
                </a:srgbClr>
              </a:gs>
              <a:gs pos="100000">
                <a:srgbClr val="002060">
                  <a:alpha val="99999"/>
                </a:srgb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fr-FR" b="1">
                <a:latin typeface="Michroma"/>
                <a:ea typeface="Michroma"/>
                <a:cs typeface="Michroma"/>
              </a:rPr>
              <a:t>Deadline : </a:t>
            </a:r>
            <a:r>
              <a:rPr lang="fr-FR" b="1">
                <a:solidFill>
                  <a:srgbClr val="FF0000"/>
                </a:solidFill>
                <a:latin typeface="Michroma"/>
                <a:ea typeface="Michroma"/>
                <a:cs typeface="Michroma"/>
              </a:rPr>
              <a:t>30 </a:t>
            </a:r>
            <a:r>
              <a:rPr lang="fr-FR" b="1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Ottobre</a:t>
            </a:r>
            <a:endParaRPr b="1">
              <a:latin typeface="Michroma"/>
              <a:cs typeface="Michroma"/>
            </a:endParaRPr>
          </a:p>
        </p:txBody>
      </p:sp>
      <p:sp>
        <p:nvSpPr>
          <p:cNvPr id="1121993144" name="Rectangle 65"/>
          <p:cNvSpPr txBox="1"/>
          <p:nvPr/>
        </p:nvSpPr>
        <p:spPr bwMode="auto">
          <a:xfrm rot="0" flipH="0" flipV="0">
            <a:off x="299016" y="1480789"/>
            <a:ext cx="825590" cy="7013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1200" b="1">
                <a:solidFill>
                  <a:srgbClr val="FFFFFF"/>
                </a:solidFill>
              </a:rPr>
              <a:t>expec.</a:t>
            </a:r>
            <a:endParaRPr sz="1200" b="1">
              <a:solidFill>
                <a:srgbClr val="FFFFFF"/>
              </a:solidFill>
            </a:endParaRPr>
          </a:p>
          <a:p>
            <a:pPr>
              <a:defRPr/>
            </a:pPr>
            <a:r>
              <a:rPr lang="fr-FR" sz="2800" b="1">
                <a:solidFill>
                  <a:srgbClr val="FF0000"/>
                </a:solidFill>
              </a:rPr>
              <a:t>28</a:t>
            </a:r>
            <a:endParaRPr sz="1400"/>
          </a:p>
        </p:txBody>
      </p:sp>
      <p:sp>
        <p:nvSpPr>
          <p:cNvPr id="435909104" name="Rectangle 66"/>
          <p:cNvSpPr txBox="1"/>
          <p:nvPr/>
        </p:nvSpPr>
        <p:spPr bwMode="auto">
          <a:xfrm rot="0" flipH="0" flipV="0">
            <a:off x="296030" y="2215766"/>
            <a:ext cx="819110" cy="7013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1200" b="1">
                <a:solidFill>
                  <a:srgbClr val="FFFFFF"/>
                </a:solidFill>
              </a:rPr>
              <a:t>expec.</a:t>
            </a:r>
            <a:endParaRPr sz="1200" b="1">
              <a:solidFill>
                <a:srgbClr val="FFFFFF"/>
              </a:solidFill>
            </a:endParaRPr>
          </a:p>
          <a:p>
            <a:pPr>
              <a:defRPr/>
            </a:pPr>
            <a:r>
              <a:rPr lang="fr-FR" sz="2800" b="1">
                <a:solidFill>
                  <a:srgbClr val="FF0000"/>
                </a:solidFill>
              </a:rPr>
              <a:t>30</a:t>
            </a:r>
            <a:endParaRPr sz="1400" b="1"/>
          </a:p>
        </p:txBody>
      </p:sp>
      <p:sp>
        <p:nvSpPr>
          <p:cNvPr id="1557053405" name="Rectangle 67"/>
          <p:cNvSpPr txBox="1"/>
          <p:nvPr/>
        </p:nvSpPr>
        <p:spPr bwMode="auto">
          <a:xfrm rot="0" flipH="0" flipV="0">
            <a:off x="312621" y="2929287"/>
            <a:ext cx="819110" cy="7013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1200" b="1">
                <a:solidFill>
                  <a:srgbClr val="FFFFFF"/>
                </a:solidFill>
              </a:rPr>
              <a:t>expec.</a:t>
            </a:r>
            <a:endParaRPr sz="1200" b="1">
              <a:solidFill>
                <a:srgbClr val="FFFFFF"/>
              </a:solidFill>
            </a:endParaRPr>
          </a:p>
          <a:p>
            <a:pPr>
              <a:defRPr/>
            </a:pPr>
            <a:r>
              <a:rPr lang="fr-FR" sz="2800" b="1">
                <a:solidFill>
                  <a:srgbClr val="FF0000"/>
                </a:solidFill>
              </a:rPr>
              <a:t>29</a:t>
            </a:r>
            <a:endParaRPr sz="1400" b="1"/>
          </a:p>
        </p:txBody>
      </p:sp>
      <p:sp>
        <p:nvSpPr>
          <p:cNvPr id="231262687" name="Rectangle 68"/>
          <p:cNvSpPr txBox="1"/>
          <p:nvPr/>
        </p:nvSpPr>
        <p:spPr bwMode="auto">
          <a:xfrm rot="0" flipH="0" flipV="0">
            <a:off x="297936" y="3652972"/>
            <a:ext cx="819110" cy="7013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1200" b="1">
                <a:solidFill>
                  <a:srgbClr val="FFFFFF"/>
                </a:solidFill>
              </a:rPr>
              <a:t>expec.</a:t>
            </a:r>
            <a:endParaRPr sz="1200" b="1">
              <a:solidFill>
                <a:srgbClr val="FFFFFF"/>
              </a:solidFill>
            </a:endParaRPr>
          </a:p>
          <a:p>
            <a:pPr>
              <a:defRPr/>
            </a:pPr>
            <a:r>
              <a:rPr lang="fr-FR" sz="2800" b="1">
                <a:solidFill>
                  <a:srgbClr val="FF0000"/>
                </a:solidFill>
              </a:rPr>
              <a:t>30</a:t>
            </a:r>
            <a:endParaRPr sz="1400" b="1"/>
          </a:p>
        </p:txBody>
      </p:sp>
      <p:grpSp>
        <p:nvGrpSpPr>
          <p:cNvPr id="2051232548" name="Group 69"/>
          <p:cNvGrpSpPr/>
          <p:nvPr/>
        </p:nvGrpSpPr>
        <p:grpSpPr bwMode="auto">
          <a:xfrm flipH="0" flipV="0">
            <a:off x="6413486" y="1522977"/>
            <a:ext cx="5429270" cy="629307"/>
            <a:chOff x="0" y="0"/>
            <a:chExt cx="5429270" cy="629307"/>
          </a:xfrm>
        </p:grpSpPr>
        <p:sp>
          <p:nvSpPr>
            <p:cNvPr id="1855767945" name="Flowchart: Alternate process 70"/>
            <p:cNvSpPr/>
            <p:nvPr/>
          </p:nvSpPr>
          <p:spPr bwMode="auto">
            <a:xfrm rot="0" flipH="0" flipV="0">
              <a:off x="2020" y="1332"/>
              <a:ext cx="5427248" cy="622731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915425259" name="Flowchart: Alternate process 14"/>
            <p:cNvSpPr/>
            <p:nvPr/>
          </p:nvSpPr>
          <p:spPr bwMode="auto">
            <a:xfrm rot="16199998" flipH="0" flipV="0">
              <a:off x="13026" y="-13026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1553870218" name="Group 71"/>
          <p:cNvGrpSpPr/>
          <p:nvPr/>
        </p:nvGrpSpPr>
        <p:grpSpPr bwMode="auto">
          <a:xfrm flipH="0" flipV="0">
            <a:off x="6409156" y="2245461"/>
            <a:ext cx="5429269" cy="629307"/>
            <a:chOff x="0" y="0"/>
            <a:chExt cx="5429269" cy="629307"/>
          </a:xfrm>
        </p:grpSpPr>
        <p:sp>
          <p:nvSpPr>
            <p:cNvPr id="21532888" name="Flowchart: Alternate process 72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66997586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172462490" name="Rectangle 75"/>
          <p:cNvSpPr txBox="1"/>
          <p:nvPr/>
        </p:nvSpPr>
        <p:spPr bwMode="auto">
          <a:xfrm rot="0" flipH="0" flipV="0">
            <a:off x="7217042" y="1525697"/>
            <a:ext cx="4535932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1800" b="0" i="0" u="none" strike="noStrike" cap="none" spc="0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Rifinitura cruscotto di valutazone della qualità</a:t>
            </a:r>
            <a:endParaRPr/>
          </a:p>
        </p:txBody>
      </p:sp>
      <p:sp>
        <p:nvSpPr>
          <p:cNvPr id="193520749" name="Rectangle 76"/>
          <p:cNvSpPr txBox="1"/>
          <p:nvPr/>
        </p:nvSpPr>
        <p:spPr bwMode="auto">
          <a:xfrm rot="0" flipH="0" flipV="0">
            <a:off x="7246990" y="2218306"/>
            <a:ext cx="4571931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cs typeface="Michroma"/>
              </a:rPr>
              <a:t>Implementazione cruscotto rendicontazione ore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sp>
        <p:nvSpPr>
          <p:cNvPr id="1127195306" name="Rectangle 82"/>
          <p:cNvSpPr txBox="1"/>
          <p:nvPr/>
        </p:nvSpPr>
        <p:spPr bwMode="auto">
          <a:xfrm rot="0" flipH="0" flipV="0">
            <a:off x="6430999" y="1474438"/>
            <a:ext cx="827390" cy="7013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1200" b="1">
                <a:solidFill>
                  <a:srgbClr val="FFFFFF"/>
                </a:solidFill>
              </a:rPr>
              <a:t>expec.</a:t>
            </a:r>
            <a:endParaRPr sz="1200" b="1">
              <a:solidFill>
                <a:srgbClr val="FFFFFF"/>
              </a:solidFill>
            </a:endParaRPr>
          </a:p>
          <a:p>
            <a:pPr>
              <a:defRPr/>
            </a:pPr>
            <a:r>
              <a:rPr lang="fr-FR" sz="2800" b="1">
                <a:solidFill>
                  <a:srgbClr val="FF0000"/>
                </a:solidFill>
              </a:rPr>
              <a:t> 2</a:t>
            </a:r>
            <a:endParaRPr sz="1400" b="1"/>
          </a:p>
        </p:txBody>
      </p:sp>
      <p:sp>
        <p:nvSpPr>
          <p:cNvPr id="1323745656" name="Flowchart: Alternate process 103"/>
          <p:cNvSpPr/>
          <p:nvPr/>
        </p:nvSpPr>
        <p:spPr bwMode="auto">
          <a:xfrm rot="0" flipH="0" flipV="0">
            <a:off x="7361816" y="911263"/>
            <a:ext cx="3661831" cy="430587"/>
          </a:xfrm>
          <a:prstGeom prst="flowChartAlternateProcess">
            <a:avLst/>
          </a:prstGeom>
          <a:gradFill>
            <a:gsLst>
              <a:gs pos="0">
                <a:srgbClr val="9551F3">
                  <a:alpha val="99999"/>
                </a:srgbClr>
              </a:gs>
              <a:gs pos="100000">
                <a:srgbClr val="002060">
                  <a:alpha val="99999"/>
                </a:srgb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fr-FR" b="1">
                <a:latin typeface="Michroma"/>
                <a:ea typeface="Michroma"/>
                <a:cs typeface="Michroma"/>
              </a:rPr>
              <a:t>Deadline : </a:t>
            </a:r>
            <a:r>
              <a:rPr lang="fr-FR" b="1">
                <a:solidFill>
                  <a:srgbClr val="FF0000"/>
                </a:solidFill>
                <a:latin typeface="Michroma"/>
                <a:ea typeface="Michroma"/>
                <a:cs typeface="Michroma"/>
              </a:rPr>
              <a:t>3 </a:t>
            </a:r>
            <a:r>
              <a:rPr lang="fr-FR" b="1">
                <a:latin typeface="Michroma"/>
                <a:cs typeface="Michroma"/>
              </a:rPr>
              <a:t>Novembre</a:t>
            </a:r>
            <a:endParaRPr b="1">
              <a:latin typeface="Michroma"/>
              <a:cs typeface="Michroma"/>
            </a:endParaRPr>
          </a:p>
        </p:txBody>
      </p:sp>
      <p:grpSp>
        <p:nvGrpSpPr>
          <p:cNvPr id="706121253" name="Group 110"/>
          <p:cNvGrpSpPr/>
          <p:nvPr/>
        </p:nvGrpSpPr>
        <p:grpSpPr bwMode="auto">
          <a:xfrm flipH="0" flipV="0">
            <a:off x="281007" y="5208175"/>
            <a:ext cx="5429270" cy="629307"/>
            <a:chOff x="0" y="0"/>
            <a:chExt cx="5429270" cy="629307"/>
          </a:xfrm>
        </p:grpSpPr>
        <p:sp>
          <p:nvSpPr>
            <p:cNvPr id="675258396" name="Flowchart: Alternate process 111"/>
            <p:cNvSpPr/>
            <p:nvPr/>
          </p:nvSpPr>
          <p:spPr bwMode="auto">
            <a:xfrm rot="0" flipH="0" flipV="0">
              <a:off x="2020" y="1332"/>
              <a:ext cx="5427248" cy="622731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40959645" name="Flowchart: Alternate process 14"/>
            <p:cNvSpPr/>
            <p:nvPr/>
          </p:nvSpPr>
          <p:spPr bwMode="auto">
            <a:xfrm rot="16199998" flipH="0" flipV="0">
              <a:off x="13026" y="-13026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1133376437" name="Group 112"/>
          <p:cNvGrpSpPr/>
          <p:nvPr/>
        </p:nvGrpSpPr>
        <p:grpSpPr bwMode="auto">
          <a:xfrm flipH="0" flipV="0">
            <a:off x="287261" y="5941242"/>
            <a:ext cx="5429269" cy="629307"/>
            <a:chOff x="0" y="0"/>
            <a:chExt cx="5429269" cy="629307"/>
          </a:xfrm>
        </p:grpSpPr>
        <p:sp>
          <p:nvSpPr>
            <p:cNvPr id="341595704" name="Flowchart: Alternate process 113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21288327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1696093517" name="Rectangle 114"/>
          <p:cNvSpPr txBox="1"/>
          <p:nvPr/>
        </p:nvSpPr>
        <p:spPr bwMode="auto">
          <a:xfrm rot="0" flipH="0" flipV="0">
            <a:off x="1084563" y="5369645"/>
            <a:ext cx="4576612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1800" b="0" i="0" u="none" strike="noStrike" cap="none" spc="0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Preparazione slide DdB</a:t>
            </a:r>
            <a:endParaRPr sz="1800">
              <a:solidFill>
                <a:schemeClr val="bg1"/>
              </a:solidFill>
              <a:latin typeface="Michroma"/>
              <a:cs typeface="Michroma"/>
            </a:endParaRPr>
          </a:p>
          <a:p>
            <a:pPr>
              <a:defRPr/>
            </a:pPr>
            <a:endParaRPr/>
          </a:p>
        </p:txBody>
      </p:sp>
      <p:sp>
        <p:nvSpPr>
          <p:cNvPr id="793804314" name="Rectangle 115"/>
          <p:cNvSpPr txBox="1"/>
          <p:nvPr/>
        </p:nvSpPr>
        <p:spPr bwMode="auto">
          <a:xfrm rot="0" flipH="0" flipV="0">
            <a:off x="1072177" y="5935253"/>
            <a:ext cx="4762125" cy="914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1800" b="0" i="0" u="none" strike="noStrike" cap="none" spc="0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Stesura verbali incontri esterni (VarGroup) ed interni (3)</a:t>
            </a:r>
            <a:endParaRPr sz="1800">
              <a:solidFill>
                <a:schemeClr val="bg1"/>
              </a:solidFill>
              <a:latin typeface="Michroma"/>
              <a:cs typeface="Michroma"/>
            </a:endParaRPr>
          </a:p>
          <a:p>
            <a:pPr>
              <a:defRPr/>
            </a:pPr>
            <a:endParaRPr/>
          </a:p>
        </p:txBody>
      </p:sp>
      <p:sp>
        <p:nvSpPr>
          <p:cNvPr id="1572611968" name="Rectangle 116"/>
          <p:cNvSpPr txBox="1"/>
          <p:nvPr/>
        </p:nvSpPr>
        <p:spPr bwMode="auto">
          <a:xfrm rot="0" flipH="0" flipV="0">
            <a:off x="298520" y="5159637"/>
            <a:ext cx="828470" cy="7013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1200" b="1">
                <a:solidFill>
                  <a:srgbClr val="FFFFFF"/>
                </a:solidFill>
              </a:rPr>
              <a:t>expec.</a:t>
            </a:r>
            <a:endParaRPr sz="1200" b="1">
              <a:solidFill>
                <a:srgbClr val="FFFFFF"/>
              </a:solidFill>
            </a:endParaRPr>
          </a:p>
          <a:p>
            <a:pPr>
              <a:defRPr/>
            </a:pPr>
            <a:r>
              <a:rPr lang="fr-FR" sz="2800" b="1">
                <a:solidFill>
                  <a:srgbClr val="FF0000"/>
                </a:solidFill>
              </a:rPr>
              <a:t> 1</a:t>
            </a:r>
            <a:endParaRPr sz="1400" b="1"/>
          </a:p>
        </p:txBody>
      </p:sp>
      <p:sp>
        <p:nvSpPr>
          <p:cNvPr id="1620091321" name="Rectangle 117"/>
          <p:cNvSpPr txBox="1"/>
          <p:nvPr/>
        </p:nvSpPr>
        <p:spPr bwMode="auto">
          <a:xfrm rot="0" flipH="0" flipV="0">
            <a:off x="295534" y="5905197"/>
            <a:ext cx="823430" cy="7013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1200" b="1">
                <a:solidFill>
                  <a:srgbClr val="FFFFFF"/>
                </a:solidFill>
              </a:rPr>
              <a:t>expec.</a:t>
            </a:r>
            <a:endParaRPr sz="1200" b="1">
              <a:solidFill>
                <a:srgbClr val="FFFFFF"/>
              </a:solidFill>
            </a:endParaRPr>
          </a:p>
          <a:p>
            <a:pPr>
              <a:defRPr/>
            </a:pPr>
            <a:r>
              <a:rPr lang="fr-FR" sz="2800" b="1">
                <a:solidFill>
                  <a:srgbClr val="FF0000"/>
                </a:solidFill>
              </a:rPr>
              <a:t> 1</a:t>
            </a:r>
            <a:endParaRPr sz="1400" b="1"/>
          </a:p>
        </p:txBody>
      </p:sp>
      <p:sp>
        <p:nvSpPr>
          <p:cNvPr id="755871580" name="Flowchart: Alternate process 118"/>
          <p:cNvSpPr/>
          <p:nvPr/>
        </p:nvSpPr>
        <p:spPr bwMode="auto">
          <a:xfrm rot="0" flipH="0" flipV="0">
            <a:off x="1229833" y="4626237"/>
            <a:ext cx="3661831" cy="430587"/>
          </a:xfrm>
          <a:prstGeom prst="flowChartAlternateProcess">
            <a:avLst/>
          </a:prstGeom>
          <a:gradFill>
            <a:gsLst>
              <a:gs pos="0">
                <a:srgbClr val="9551F3">
                  <a:alpha val="99999"/>
                </a:srgbClr>
              </a:gs>
              <a:gs pos="100000">
                <a:srgbClr val="002060">
                  <a:alpha val="99999"/>
                </a:srgb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fr-FR" b="1">
                <a:latin typeface="Michroma"/>
                <a:ea typeface="Michroma"/>
                <a:cs typeface="Michroma"/>
              </a:rPr>
              <a:t>Deadline : </a:t>
            </a:r>
            <a:r>
              <a:rPr lang="fr-FR" b="1">
                <a:solidFill>
                  <a:srgbClr val="FF0000"/>
                </a:solidFill>
                <a:latin typeface="Michroma"/>
                <a:ea typeface="Michroma"/>
                <a:cs typeface="Michroma"/>
              </a:rPr>
              <a:t>2 </a:t>
            </a:r>
            <a:r>
              <a:rPr lang="fr-FR" b="1">
                <a:latin typeface="Michroma"/>
                <a:cs typeface="Michroma"/>
              </a:rPr>
              <a:t>Novembre</a:t>
            </a:r>
            <a:endParaRPr b="1">
              <a:latin typeface="Michroma"/>
              <a:cs typeface="Michroma"/>
            </a:endParaRPr>
          </a:p>
        </p:txBody>
      </p:sp>
      <p:sp>
        <p:nvSpPr>
          <p:cNvPr id="653857009" name="Rectangle 119"/>
          <p:cNvSpPr txBox="1"/>
          <p:nvPr/>
        </p:nvSpPr>
        <p:spPr bwMode="auto">
          <a:xfrm rot="0" flipH="0" flipV="0">
            <a:off x="6430999" y="2189643"/>
            <a:ext cx="828470" cy="7013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1200" b="1">
                <a:solidFill>
                  <a:srgbClr val="FFFFFF"/>
                </a:solidFill>
              </a:rPr>
              <a:t>expec.</a:t>
            </a:r>
            <a:endParaRPr sz="1200" b="1">
              <a:solidFill>
                <a:srgbClr val="FFFFFF"/>
              </a:solidFill>
            </a:endParaRPr>
          </a:p>
          <a:p>
            <a:pPr>
              <a:defRPr/>
            </a:pPr>
            <a:r>
              <a:rPr lang="fr-FR" sz="2800" b="1">
                <a:solidFill>
                  <a:srgbClr val="FF0000"/>
                </a:solidFill>
              </a:rPr>
              <a:t> 3</a:t>
            </a:r>
            <a:endParaRPr sz="1400" b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992156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7" y="-6349"/>
            <a:ext cx="10515600" cy="1449799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 algn="ctr">
              <a:defRPr/>
            </a:pPr>
            <a:r>
              <a:rPr lang="fr-FR" sz="3300" b="0" i="0" u="none" strike="noStrike" cap="none" spc="0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Difficoltà incontrate</a:t>
            </a:r>
            <a:endParaRPr sz="3300">
              <a:solidFill>
                <a:schemeClr val="bg1"/>
              </a:solidFill>
              <a:latin typeface="Michroma"/>
              <a:cs typeface="Michroma"/>
            </a:endParaRPr>
          </a:p>
          <a:p>
            <a:pPr>
              <a:defRPr/>
            </a:pPr>
            <a:endParaRPr/>
          </a:p>
        </p:txBody>
      </p:sp>
      <p:grpSp>
        <p:nvGrpSpPr>
          <p:cNvPr id="453853073" name="Group 2"/>
          <p:cNvGrpSpPr/>
          <p:nvPr/>
        </p:nvGrpSpPr>
        <p:grpSpPr bwMode="auto">
          <a:xfrm flipH="0" flipV="0">
            <a:off x="3374098" y="1114279"/>
            <a:ext cx="5429270" cy="629307"/>
            <a:chOff x="0" y="0"/>
            <a:chExt cx="5429270" cy="629307"/>
          </a:xfrm>
        </p:grpSpPr>
        <p:sp>
          <p:nvSpPr>
            <p:cNvPr id="1272424536" name="Flowchart: Alternate process 3"/>
            <p:cNvSpPr/>
            <p:nvPr/>
          </p:nvSpPr>
          <p:spPr bwMode="auto">
            <a:xfrm rot="0" flipH="0" flipV="0">
              <a:off x="2020" y="1332"/>
              <a:ext cx="5427248" cy="622731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9396385" name="Flowchart: Alternate process 14"/>
            <p:cNvSpPr/>
            <p:nvPr/>
          </p:nvSpPr>
          <p:spPr bwMode="auto">
            <a:xfrm rot="16199998" flipH="0" flipV="0">
              <a:off x="13026" y="-13026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958528873" name="Group 5"/>
          <p:cNvGrpSpPr/>
          <p:nvPr/>
        </p:nvGrpSpPr>
        <p:grpSpPr bwMode="auto">
          <a:xfrm flipH="0" flipV="0">
            <a:off x="3380352" y="2016680"/>
            <a:ext cx="5429269" cy="629307"/>
            <a:chOff x="0" y="0"/>
            <a:chExt cx="5429269" cy="629307"/>
          </a:xfrm>
        </p:grpSpPr>
        <p:sp>
          <p:nvSpPr>
            <p:cNvPr id="306542886" name="Flowchart: Alternate process 6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58828960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751916719" name="Group 8"/>
          <p:cNvGrpSpPr/>
          <p:nvPr/>
        </p:nvGrpSpPr>
        <p:grpSpPr bwMode="auto">
          <a:xfrm flipH="0" flipV="0">
            <a:off x="3384585" y="2887629"/>
            <a:ext cx="5429269" cy="629307"/>
            <a:chOff x="0" y="0"/>
            <a:chExt cx="5429269" cy="629307"/>
          </a:xfrm>
        </p:grpSpPr>
        <p:sp>
          <p:nvSpPr>
            <p:cNvPr id="360007384" name="Flowchart: Alternate process 9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800652567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75505583" name="Rectangle 14"/>
          <p:cNvSpPr txBox="1"/>
          <p:nvPr/>
        </p:nvSpPr>
        <p:spPr bwMode="auto">
          <a:xfrm rot="0" flipH="0" flipV="0">
            <a:off x="4165269" y="1222832"/>
            <a:ext cx="451541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cs typeface="Michroma"/>
              </a:rPr>
              <a:t>Scelta capitolati perseguibili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sp>
        <p:nvSpPr>
          <p:cNvPr id="344010587" name="Rectangle 15"/>
          <p:cNvSpPr txBox="1"/>
          <p:nvPr/>
        </p:nvSpPr>
        <p:spPr bwMode="auto">
          <a:xfrm rot="0" flipH="0" flipV="0">
            <a:off x="4165269" y="2148275"/>
            <a:ext cx="452081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Gestione slot orari sincroni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sp>
        <p:nvSpPr>
          <p:cNvPr id="120823684" name="Rectangle 16"/>
          <p:cNvSpPr txBox="1"/>
          <p:nvPr/>
        </p:nvSpPr>
        <p:spPr bwMode="auto">
          <a:xfrm rot="0" flipH="0" flipV="0">
            <a:off x="4177869" y="3009963"/>
            <a:ext cx="451829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cs typeface="Michroma"/>
              </a:rPr>
              <a:t>Stesura template verbali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grpSp>
        <p:nvGrpSpPr>
          <p:cNvPr id="187545028" name="Group 66"/>
          <p:cNvGrpSpPr/>
          <p:nvPr/>
        </p:nvGrpSpPr>
        <p:grpSpPr bwMode="auto">
          <a:xfrm flipH="0" flipV="0">
            <a:off x="3378235" y="3759695"/>
            <a:ext cx="5429269" cy="629307"/>
            <a:chOff x="0" y="0"/>
            <a:chExt cx="5429269" cy="629307"/>
          </a:xfrm>
        </p:grpSpPr>
        <p:sp>
          <p:nvSpPr>
            <p:cNvPr id="1543494812" name="Flowchart: Alternate process 67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85116193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1527699410" name="Rectangle 68"/>
          <p:cNvSpPr txBox="1"/>
          <p:nvPr/>
        </p:nvSpPr>
        <p:spPr bwMode="auto">
          <a:xfrm rot="0" flipH="0" flipV="0">
            <a:off x="4171519" y="3882029"/>
            <a:ext cx="452657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cs typeface="Michroma"/>
              </a:rPr>
              <a:t>Stesura resoconto capitolati</a:t>
            </a:r>
            <a:endParaRPr lang="fr-FR">
              <a:solidFill>
                <a:schemeClr val="bg1"/>
              </a:solidFill>
              <a:latin typeface="Michroma"/>
              <a:cs typeface="Michroma"/>
            </a:endParaRPr>
          </a:p>
        </p:txBody>
      </p:sp>
      <p:grpSp>
        <p:nvGrpSpPr>
          <p:cNvPr id="2058855112" name="Group 118"/>
          <p:cNvGrpSpPr/>
          <p:nvPr/>
        </p:nvGrpSpPr>
        <p:grpSpPr bwMode="auto">
          <a:xfrm flipH="0" flipV="0">
            <a:off x="3382468" y="4621178"/>
            <a:ext cx="5429269" cy="629307"/>
            <a:chOff x="0" y="0"/>
            <a:chExt cx="5429269" cy="629307"/>
          </a:xfrm>
        </p:grpSpPr>
        <p:sp>
          <p:nvSpPr>
            <p:cNvPr id="771524387" name="Flowchart: Alternate process 119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59182273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2003696336" name="Rectangle 120"/>
          <p:cNvSpPr txBox="1"/>
          <p:nvPr/>
        </p:nvSpPr>
        <p:spPr bwMode="auto">
          <a:xfrm rot="0" flipH="0" flipV="0">
            <a:off x="4175752" y="4743512"/>
            <a:ext cx="469596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cs typeface="Michroma"/>
              </a:rPr>
              <a:t>Scelta revisore fisso o variabile</a:t>
            </a:r>
            <a:endParaRPr lang="fr-FR">
              <a:solidFill>
                <a:schemeClr val="bg1"/>
              </a:solidFill>
              <a:latin typeface="Michroma"/>
              <a:cs typeface="Michroma"/>
            </a:endParaRPr>
          </a:p>
        </p:txBody>
      </p:sp>
      <p:pic>
        <p:nvPicPr>
          <p:cNvPr id="232027022" name="Picture 22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</p:blipFill>
        <p:spPr bwMode="auto">
          <a:xfrm flipH="0" flipV="0">
            <a:off x="3477816" y="1209734"/>
            <a:ext cx="467430" cy="467430"/>
          </a:xfrm>
          <a:prstGeom prst="rect">
            <a:avLst/>
          </a:prstGeom>
        </p:spPr>
      </p:pic>
      <p:pic>
        <p:nvPicPr>
          <p:cNvPr id="2016503548" name="Picture 25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</p:blipFill>
        <p:spPr bwMode="auto">
          <a:xfrm flipH="0" flipV="0">
            <a:off x="3488399" y="2097618"/>
            <a:ext cx="467430" cy="467430"/>
          </a:xfrm>
          <a:prstGeom prst="rect">
            <a:avLst/>
          </a:prstGeom>
        </p:spPr>
      </p:pic>
      <p:pic>
        <p:nvPicPr>
          <p:cNvPr id="1568876101" name="Picture 26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</p:blipFill>
        <p:spPr bwMode="auto">
          <a:xfrm flipH="0" flipV="0">
            <a:off x="3488399" y="2972152"/>
            <a:ext cx="467430" cy="467430"/>
          </a:xfrm>
          <a:prstGeom prst="rect">
            <a:avLst/>
          </a:prstGeom>
        </p:spPr>
      </p:pic>
      <p:pic>
        <p:nvPicPr>
          <p:cNvPr id="2095990148" name="Picture 27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</p:blipFill>
        <p:spPr bwMode="auto">
          <a:xfrm flipH="0" flipV="0">
            <a:off x="3488399" y="3841956"/>
            <a:ext cx="467430" cy="467430"/>
          </a:xfrm>
          <a:prstGeom prst="rect">
            <a:avLst/>
          </a:prstGeom>
        </p:spPr>
      </p:pic>
      <p:pic>
        <p:nvPicPr>
          <p:cNvPr id="1348116505" name="Picture 28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</p:blipFill>
        <p:spPr bwMode="auto">
          <a:xfrm flipH="0" flipV="0">
            <a:off x="3477816" y="4692855"/>
            <a:ext cx="467430" cy="4674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6165231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-7573" y="-6349"/>
            <a:ext cx="12211049" cy="1449799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 algn="ctr">
              <a:defRPr/>
            </a:pPr>
            <a:r>
              <a:rPr lang="fr-FR" sz="3300" b="0" i="0" u="none" strike="noStrike" cap="none" spc="0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Dubbi ed incertezze su come procedere</a:t>
            </a:r>
            <a:endParaRPr sz="3300">
              <a:solidFill>
                <a:schemeClr val="bg1"/>
              </a:solidFill>
              <a:latin typeface="Michroma"/>
              <a:cs typeface="Michroma"/>
            </a:endParaRPr>
          </a:p>
          <a:p>
            <a:pPr>
              <a:defRPr/>
            </a:pPr>
            <a:endParaRPr/>
          </a:p>
        </p:txBody>
      </p:sp>
      <p:grpSp>
        <p:nvGrpSpPr>
          <p:cNvPr id="1590870366" name="Group 22"/>
          <p:cNvGrpSpPr/>
          <p:nvPr/>
        </p:nvGrpSpPr>
        <p:grpSpPr bwMode="auto">
          <a:xfrm flipH="0" flipV="0">
            <a:off x="3370148" y="1107545"/>
            <a:ext cx="5429270" cy="629307"/>
            <a:chOff x="0" y="0"/>
            <a:chExt cx="5429270" cy="629307"/>
          </a:xfrm>
        </p:grpSpPr>
        <p:sp>
          <p:nvSpPr>
            <p:cNvPr id="647316861" name="Flowchart: Alternate process 23"/>
            <p:cNvSpPr/>
            <p:nvPr/>
          </p:nvSpPr>
          <p:spPr bwMode="auto">
            <a:xfrm rot="0" flipH="0" flipV="0">
              <a:off x="2020" y="1332"/>
              <a:ext cx="5427248" cy="622731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003457" name="Flowchart: Alternate process 14"/>
            <p:cNvSpPr/>
            <p:nvPr/>
          </p:nvSpPr>
          <p:spPr bwMode="auto">
            <a:xfrm rot="16199998" flipH="0" flipV="0">
              <a:off x="13026" y="-13026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1294230343" name="Group 24"/>
          <p:cNvGrpSpPr/>
          <p:nvPr/>
        </p:nvGrpSpPr>
        <p:grpSpPr bwMode="auto">
          <a:xfrm flipH="0" flipV="0">
            <a:off x="3376402" y="2041696"/>
            <a:ext cx="5429269" cy="629307"/>
            <a:chOff x="0" y="0"/>
            <a:chExt cx="5429269" cy="629307"/>
          </a:xfrm>
        </p:grpSpPr>
        <p:sp>
          <p:nvSpPr>
            <p:cNvPr id="1433911600" name="Flowchart: Alternate process 25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56515172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1812961239" name="Group 26"/>
          <p:cNvGrpSpPr/>
          <p:nvPr/>
        </p:nvGrpSpPr>
        <p:grpSpPr bwMode="auto">
          <a:xfrm flipH="0" flipV="0">
            <a:off x="3380635" y="2912645"/>
            <a:ext cx="5429269" cy="629307"/>
            <a:chOff x="0" y="0"/>
            <a:chExt cx="5429269" cy="629307"/>
          </a:xfrm>
        </p:grpSpPr>
        <p:sp>
          <p:nvSpPr>
            <p:cNvPr id="2076798890" name="Flowchart: Alternate process 27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60284000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609507312" name="Group 28"/>
          <p:cNvGrpSpPr/>
          <p:nvPr/>
        </p:nvGrpSpPr>
        <p:grpSpPr bwMode="auto">
          <a:xfrm flipH="0" flipV="0">
            <a:off x="3380635" y="3800591"/>
            <a:ext cx="5429269" cy="629307"/>
            <a:chOff x="0" y="0"/>
            <a:chExt cx="5429269" cy="629307"/>
          </a:xfrm>
        </p:grpSpPr>
        <p:sp>
          <p:nvSpPr>
            <p:cNvPr id="1044819861" name="Flowchart: Alternate process 29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856013774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253243758" name="Rectangle 30"/>
          <p:cNvSpPr txBox="1"/>
          <p:nvPr/>
        </p:nvSpPr>
        <p:spPr bwMode="auto">
          <a:xfrm rot="0" flipH="0" flipV="0">
            <a:off x="4161319" y="1216098"/>
            <a:ext cx="452369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Processo di candiatur</a:t>
            </a:r>
            <a:r>
              <a:rPr lang="fr-FR">
                <a:solidFill>
                  <a:schemeClr val="bg1"/>
                </a:solidFill>
                <a:latin typeface="Michroma"/>
                <a:cs typeface="Michroma"/>
              </a:rPr>
              <a:t>a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sp>
        <p:nvSpPr>
          <p:cNvPr id="160399269" name="Rectangle 31"/>
          <p:cNvSpPr txBox="1"/>
          <p:nvPr/>
        </p:nvSpPr>
        <p:spPr bwMode="auto">
          <a:xfrm rot="0" flipH="0" flipV="0">
            <a:off x="4161319" y="2173291"/>
            <a:ext cx="451325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Equa rotazione dei ruoli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sp>
        <p:nvSpPr>
          <p:cNvPr id="1473452145" name="Rectangle 32"/>
          <p:cNvSpPr txBox="1"/>
          <p:nvPr/>
        </p:nvSpPr>
        <p:spPr bwMode="auto">
          <a:xfrm rot="0" flipH="0" flipV="0">
            <a:off x="4184164" y="3034979"/>
            <a:ext cx="452009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Efficace cruscotto qualità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sp>
        <p:nvSpPr>
          <p:cNvPr id="2139534573" name="Rectangle 33"/>
          <p:cNvSpPr txBox="1"/>
          <p:nvPr/>
        </p:nvSpPr>
        <p:spPr bwMode="auto">
          <a:xfrm rot="0" flipH="0" flipV="0">
            <a:off x="4179700" y="3961415"/>
            <a:ext cx="4528010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1800" b="0" i="0" u="none" strike="noStrike" cap="none" spc="0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Efficace cruscotto ore</a:t>
            </a:r>
            <a:endParaRPr sz="1800">
              <a:solidFill>
                <a:schemeClr val="bg1"/>
              </a:solidFill>
              <a:latin typeface="Michroma"/>
              <a:cs typeface="Michroma"/>
            </a:endParaRPr>
          </a:p>
          <a:p>
            <a:pPr>
              <a:defRPr/>
            </a:pPr>
            <a:endParaRPr>
              <a:solidFill>
                <a:schemeClr val="bg2"/>
              </a:solidFill>
              <a:latin typeface="Michroma"/>
              <a:cs typeface="Michroma"/>
            </a:endParaRPr>
          </a:p>
        </p:txBody>
      </p:sp>
      <p:grpSp>
        <p:nvGrpSpPr>
          <p:cNvPr id="429886564" name="Group 34"/>
          <p:cNvGrpSpPr/>
          <p:nvPr/>
        </p:nvGrpSpPr>
        <p:grpSpPr bwMode="auto">
          <a:xfrm flipH="0" flipV="0">
            <a:off x="3394004" y="4683240"/>
            <a:ext cx="5429269" cy="629307"/>
            <a:chOff x="0" y="0"/>
            <a:chExt cx="5429269" cy="629307"/>
          </a:xfrm>
        </p:grpSpPr>
        <p:sp>
          <p:nvSpPr>
            <p:cNvPr id="1404609119" name="Flowchart: Alternate process 35"/>
            <p:cNvSpPr/>
            <p:nvPr/>
          </p:nvSpPr>
          <p:spPr bwMode="auto">
            <a:xfrm rot="0" flipH="0" flipV="0"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>
                <a:alpha val="99999"/>
              </a:srgb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48470090" name="Flowchart: Alternate process 14"/>
            <p:cNvSpPr/>
            <p:nvPr/>
          </p:nvSpPr>
          <p:spPr bwMode="auto">
            <a:xfrm rot="16199998" flipH="0" flipV="0">
              <a:off x="13025" y="-13025"/>
              <a:ext cx="629307" cy="655362"/>
            </a:xfrm>
            <a:custGeom>
              <a:avLst>
                <a:gd name="adj1" fmla="val 16667"/>
                <a:gd name="adj2" fmla="val 0"/>
              </a:avLst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>
                    <a:alpha val="99999"/>
                  </a:srgbClr>
                </a:gs>
                <a:gs pos="100000">
                  <a:srgbClr val="002060">
                    <a:alpha val="99999"/>
                  </a:srgbClr>
                </a:gs>
              </a:gsLst>
              <a:lin ang="2700000" scaled="1"/>
            </a:gradFill>
            <a:ln w="6350" cap="flat" cmpd="sng" algn="ctr">
              <a:solidFill>
                <a:srgbClr val="0F0F1B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392683103" name="Rectangle 36"/>
          <p:cNvSpPr txBox="1"/>
          <p:nvPr/>
        </p:nvSpPr>
        <p:spPr bwMode="auto">
          <a:xfrm rot="0" flipH="0" flipV="0">
            <a:off x="4193069" y="4812313"/>
            <a:ext cx="456005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chemeClr val="bg1"/>
                </a:solidFill>
                <a:latin typeface="Michroma"/>
                <a:cs typeface="Michroma"/>
              </a:rPr>
              <a:t>Preventivo iniziale corretto</a:t>
            </a:r>
            <a:endParaRPr>
              <a:solidFill>
                <a:schemeClr val="bg1"/>
              </a:solidFill>
              <a:latin typeface="Michroma"/>
              <a:cs typeface="Michroma"/>
            </a:endParaRPr>
          </a:p>
        </p:txBody>
      </p:sp>
      <p:pic>
        <p:nvPicPr>
          <p:cNvPr id="1964190037" name="Picture 22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</p:blipFill>
        <p:spPr bwMode="auto">
          <a:xfrm flipH="0" flipV="0">
            <a:off x="3477816" y="1199150"/>
            <a:ext cx="467430" cy="467430"/>
          </a:xfrm>
          <a:prstGeom prst="rect">
            <a:avLst/>
          </a:prstGeom>
        </p:spPr>
      </p:pic>
      <p:pic>
        <p:nvPicPr>
          <p:cNvPr id="398497392" name="Picture 23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</p:blipFill>
        <p:spPr bwMode="auto">
          <a:xfrm flipH="0" flipV="0">
            <a:off x="3477816" y="2122634"/>
            <a:ext cx="467430" cy="467430"/>
          </a:xfrm>
          <a:prstGeom prst="rect">
            <a:avLst/>
          </a:prstGeom>
        </p:spPr>
      </p:pic>
      <p:pic>
        <p:nvPicPr>
          <p:cNvPr id="2114200154" name="Picture 24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</p:blipFill>
        <p:spPr bwMode="auto">
          <a:xfrm flipH="0" flipV="0">
            <a:off x="3477816" y="2982062"/>
            <a:ext cx="467430" cy="467430"/>
          </a:xfrm>
          <a:prstGeom prst="rect">
            <a:avLst/>
          </a:prstGeom>
        </p:spPr>
      </p:pic>
      <p:pic>
        <p:nvPicPr>
          <p:cNvPr id="1613330658" name="Picture 25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</p:blipFill>
        <p:spPr bwMode="auto">
          <a:xfrm flipH="0" flipV="0">
            <a:off x="3488399" y="3870383"/>
            <a:ext cx="467430" cy="467430"/>
          </a:xfrm>
          <a:prstGeom prst="rect">
            <a:avLst/>
          </a:prstGeom>
        </p:spPr>
      </p:pic>
      <p:pic>
        <p:nvPicPr>
          <p:cNvPr id="427348821" name="Picture 26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</p:blipFill>
        <p:spPr bwMode="auto">
          <a:xfrm flipH="0" flipV="0">
            <a:off x="3477816" y="4761657"/>
            <a:ext cx="467430" cy="4674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5031221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3749357" y="2514947"/>
            <a:ext cx="4703581" cy="1294743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/>
          </a:bodyPr>
          <a:lstStyle/>
          <a:p>
            <a:pPr>
              <a:defRPr/>
            </a:pPr>
            <a:r>
              <a:rPr lang="fr-FR" sz="3200" b="1">
                <a:solidFill>
                  <a:schemeClr val="bg1"/>
                </a:solidFill>
                <a:latin typeface="Michroma"/>
                <a:ea typeface="Michroma"/>
                <a:cs typeface="Michroma"/>
              </a:rPr>
              <a:t>Grazie per l’attenzione !</a:t>
            </a:r>
            <a:endParaRPr sz="3200">
              <a:solidFill>
                <a:schemeClr val="bg1"/>
              </a:solidFill>
              <a:latin typeface="Michroma"/>
              <a:cs typeface="Michroma"/>
            </a:endParaRPr>
          </a:p>
        </p:txBody>
      </p:sp>
      <p:sp>
        <p:nvSpPr>
          <p:cNvPr id="863362206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4061956" y="3896104"/>
            <a:ext cx="4143864" cy="394222"/>
          </a:xfrm>
        </p:spPr>
        <p:txBody>
          <a:bodyPr/>
          <a:lstStyle/>
          <a:p>
            <a:pPr>
              <a:defRPr/>
            </a:pPr>
            <a:r>
              <a:rPr lang="fr-FR" sz="1400">
                <a:solidFill>
                  <a:srgbClr val="5576F6"/>
                </a:solidFill>
                <a:latin typeface="Michroma"/>
                <a:ea typeface="Michroma"/>
                <a:cs typeface="Michroma"/>
              </a:rPr>
              <a:t>Venite a trovarci su </a:t>
            </a:r>
            <a:r>
              <a:rPr lang="fr-FR" sz="1400" u="sng">
                <a:solidFill>
                  <a:srgbClr val="5576F6"/>
                </a:solidFill>
                <a:latin typeface="Michroma"/>
                <a:ea typeface="Michroma"/>
                <a:cs typeface="Michroma"/>
                <a:hlinkClick r:id="rId3" tooltip=""/>
              </a:rPr>
              <a:t>GitHub</a:t>
            </a:r>
            <a:endParaRPr sz="1600">
              <a:solidFill>
                <a:srgbClr val="5576F6"/>
              </a:solidFill>
              <a:latin typeface="Michroma"/>
              <a:cs typeface="Michroma"/>
            </a:endParaRPr>
          </a:p>
        </p:txBody>
      </p:sp>
      <p:sp>
        <p:nvSpPr>
          <p:cNvPr id="100562419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831E1D6D-2301-946D-6050-67FB814A68C9}" type="slidenum">
              <a:rPr/>
              <a:t>1</a:t>
            </a:fld>
            <a:endParaRPr/>
          </a:p>
        </p:txBody>
      </p:sp>
      <p:pic>
        <p:nvPicPr>
          <p:cNvPr id="152497793" name="Picture 5"/>
          <p:cNvPicPr>
            <a:picLocks noChangeAspect="1"/>
          </p:cNvPicPr>
          <p:nvPr/>
        </p:nvPicPr>
        <p:blipFill rotWithShape="1">
          <a:blip r:embed="rId4"/>
        </p:blipFill>
        <p:spPr bwMode="auto">
          <a:xfrm flipH="0" flipV="0">
            <a:off x="4583366" y="1289619"/>
            <a:ext cx="3003154" cy="99372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/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_rels/theme3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3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ONLYOFFICE/10.0.0.169</Application>
  <PresentationFormat>On-screen Show (4:3)</PresentationFormat>
  <Paragraphs>0</Paragraphs>
  <Slides>6</Slides>
  <Notes>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Theme 1</vt:lpstr>
      <vt:lpstr>Slide 1</vt:lpstr>
      <vt:lpstr>Slide 2</vt:lpstr>
      <vt:lpstr>Slide 3</vt:lpstr>
      <vt:lpstr>Slide 4</vt:lpstr>
      <vt:lpstr>Slide 5</vt:lpstr>
      <vt:lpstr>Slide 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13</cp:revision>
  <dcterms:modified xsi:type="dcterms:W3CDTF">2026-10-25T16:08:00Z</dcterms:modified>
</cp:coreProperties>
</file>