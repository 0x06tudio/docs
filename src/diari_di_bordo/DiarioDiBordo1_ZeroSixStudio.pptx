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handoutMasters/handoutMaster1.xml" ContentType="application/vnd.openxmlformats-officedocument.presentationml.handoutMaster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theme" Target="theme/theme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handoutMasters/_rels/handout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30046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558190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6200" y="0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r">
              <a:defRPr sz="1200"/>
            </a:lvl1pPr>
          </a:lstStyle>
          <a:p>
            <a:pPr>
              <a:defRPr/>
            </a:pPr>
            <a:fld id="{C4F134B4-A370-EBA4-8CC0-C8FC7B3C33E2}" type="datetimeFigureOut">
              <a:rPr lang="en-US"/>
              <a:t/>
            </a:fld>
            <a:endParaRPr/>
          </a:p>
        </p:txBody>
      </p:sp>
      <p:sp>
        <p:nvSpPr>
          <p:cNvPr id="504409246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685213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71101716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86200" y="8685213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41FBA0A8-00A2-D1BB-F19E-550BD8E237BE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10368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974686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0529777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7553394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1281332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473792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2283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70988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282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9493D6-DB27-5A54-B25F-C4D3C1C6AD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70286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3447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890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894C3-D446-73BB-1766-620477E3C1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4050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2510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69235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0F5409-96A6-8B14-AC4E-57D80B9385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554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09960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6804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217E3E-983B-9BBD-6A4D-6692FC7F2E46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8701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03346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2482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BEC3B0-DBE6-EE45-E427-16C310E01BFF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5382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2725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44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DA00BC-97B9-B77A-0D40-B6B2C6164E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8160131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0454646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6029187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7376089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43774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1155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7145537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097171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4953892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9989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4637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3766818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559320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7317383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4296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0699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2474073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6647312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52382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153227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69395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657831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607953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5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4273128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5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3136258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3920089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0948387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76165316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20870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800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6744493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3303230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204095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12956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62760683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8874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061835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43069745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6377357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07818921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01080685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97714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644808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7061063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156281619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038677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73198567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565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5788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2918021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385443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5511889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9425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71422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3704769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027777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2275267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1647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50000">
              <a:srgbClr val="0F0F1B"/>
            </a:gs>
            <a:gs pos="95000">
              <a:srgbClr val="7C49DB"/>
            </a:gs>
            <a:gs pos="100000">
              <a:srgbClr val="4C4AE6"/>
            </a:gs>
          </a:gsLst>
          <a:lin ang="2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2192316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8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216588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4369928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5316952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300062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>
        <a:lnSpc>
          <a:spcPct val="90000"/>
        </a:lnSpc>
        <a:spcBef>
          <a:spcPts val="749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0x06tudio/docs/blob/develop/out/verbali/interni/vi_2026_10_16.pdf" TargetMode="External"/><Relationship Id="rId4" Type="http://schemas.openxmlformats.org/officeDocument/2006/relationships/hyperlink" Target="https://github.com/0x06tudio/docs/blob/develop/out/verbali/esterni/verbale_2026-10-20.pdf" TargetMode="External"/><Relationship Id="rId5" Type="http://schemas.openxmlformats.org/officeDocument/2006/relationships/hyperlink" Target="https://github.com/0x06tudio/docs/blob/develop/out/verbali/esterni/verbale_2026-10-22.pdf" TargetMode="External"/><Relationship Id="rId6" Type="http://schemas.openxmlformats.org/officeDocument/2006/relationships/hyperlink" Target="https://github.com/0x06tudio/docs/blob/develop/out/verbali/interni/vi_2026_10_22.pdf" TargetMode="External"/><Relationship Id="rId7" Type="http://schemas.openxmlformats.org/officeDocument/2006/relationships/image" Target="../media/image2.png"/><Relationship Id="rId8" Type="http://schemas.openxmlformats.org/officeDocument/2006/relationships/image" Target="../media/media1.svg"/><Relationship Id="rId9" Type="http://schemas.openxmlformats.org/officeDocument/2006/relationships/image" Target="../media/image3.png"/><Relationship Id="rId10" Type="http://schemas.openxmlformats.org/officeDocument/2006/relationships/image" Target="../media/media2.sv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media3.sv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media4.sv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orgs/0x06tudio/repositories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media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57453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-8790" y="3429000"/>
            <a:ext cx="4703582" cy="1294744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lang="fr-FR" sz="3200" b="1">
                <a:solidFill>
                  <a:schemeClr val="bg1"/>
                </a:solidFill>
                <a:latin typeface="Michroma"/>
                <a:ea typeface="Michroma"/>
                <a:cs typeface="Michroma"/>
              </a:rPr>
              <a:t>Riepilogo settimanale</a:t>
            </a:r>
            <a:endParaRPr sz="3200">
              <a:solidFill>
                <a:schemeClr val="bg1"/>
              </a:solidFill>
              <a:latin typeface="Michroma"/>
              <a:cs typeface="Michroma"/>
            </a:endParaRPr>
          </a:p>
        </p:txBody>
      </p:sp>
      <p:sp>
        <p:nvSpPr>
          <p:cNvPr id="230600976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334870" y="4810157"/>
            <a:ext cx="4143865" cy="394223"/>
          </a:xfrm>
        </p:spPr>
        <p:txBody>
          <a:bodyPr/>
          <a:lstStyle/>
          <a:p>
            <a:pPr>
              <a:defRPr/>
            </a:pPr>
            <a:r>
              <a:rPr lang="fr-FR" sz="1400">
                <a:solidFill>
                  <a:srgbClr val="5576F6"/>
                </a:solidFill>
                <a:latin typeface="Michroma"/>
                <a:ea typeface="Michroma"/>
                <a:cs typeface="Michroma"/>
              </a:rPr>
              <a:t>Diario di </a:t>
            </a:r>
            <a:r>
              <a:rPr lang="fr-FR" sz="1400">
                <a:solidFill>
                  <a:srgbClr val="5576F6"/>
                </a:solidFill>
                <a:latin typeface="Michroma"/>
                <a:ea typeface="Michroma"/>
                <a:cs typeface="Michroma"/>
              </a:rPr>
              <a:t>Bordo </a:t>
            </a:r>
            <a:r>
              <a:rPr lang="fr-FR" sz="1400">
                <a:solidFill>
                  <a:srgbClr val="5576F6"/>
                </a:solidFill>
                <a:latin typeface="Michroma"/>
                <a:ea typeface="Michroma"/>
                <a:cs typeface="Michroma"/>
              </a:rPr>
              <a:t>- 26 Ottobre</a:t>
            </a:r>
            <a:endParaRPr sz="1600">
              <a:solidFill>
                <a:srgbClr val="5576F6"/>
              </a:solidFill>
              <a:latin typeface="Michroma"/>
              <a:cs typeface="Michroma"/>
            </a:endParaRPr>
          </a:p>
        </p:txBody>
      </p:sp>
      <p:pic>
        <p:nvPicPr>
          <p:cNvPr id="381501490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939105" y="2418125"/>
            <a:ext cx="2807790" cy="929078"/>
          </a:xfrm>
          <a:prstGeom prst="rect">
            <a:avLst/>
          </a:prstGeom>
        </p:spPr>
      </p:pic>
      <p:sp>
        <p:nvSpPr>
          <p:cNvPr id="20524868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518E49B-BBA8-6532-069A-47DB8E8D4602}" type="slidenum">
              <a:rPr/>
              <a:t>1</a:t>
            </a:fld>
            <a:endParaRPr/>
          </a:p>
        </p:txBody>
      </p:sp>
      <p:sp>
        <p:nvSpPr>
          <p:cNvPr id="793044142" name=""/>
          <p:cNvSpPr/>
          <p:nvPr/>
        </p:nvSpPr>
        <p:spPr bwMode="auto">
          <a:xfrm rot="0" flipH="0" flipV="0">
            <a:off x="5070892" y="3737307"/>
            <a:ext cx="5427251" cy="1121946"/>
          </a:xfrm>
          <a:prstGeom prst="flowChartAlternateProcess">
            <a:avLst/>
          </a:prstGeom>
          <a:solidFill>
            <a:srgbClr val="232B40">
              <a:alpha val="99999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057464" name=""/>
          <p:cNvSpPr/>
          <p:nvPr/>
        </p:nvSpPr>
        <p:spPr bwMode="auto">
          <a:xfrm rot="0" flipH="0" flipV="0">
            <a:off x="5070892" y="5234402"/>
            <a:ext cx="5427250" cy="1121946"/>
          </a:xfrm>
          <a:prstGeom prst="flowChartAlternateProcess">
            <a:avLst/>
          </a:prstGeom>
          <a:solidFill>
            <a:srgbClr val="232B40">
              <a:alpha val="99999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0487083" name=""/>
          <p:cNvSpPr/>
          <p:nvPr/>
        </p:nvSpPr>
        <p:spPr bwMode="auto">
          <a:xfrm rot="0" flipH="0" flipV="0">
            <a:off x="5070892" y="2223481"/>
            <a:ext cx="5427250" cy="1121946"/>
          </a:xfrm>
          <a:prstGeom prst="flowChartAlternateProcess">
            <a:avLst/>
          </a:prstGeom>
          <a:solidFill>
            <a:srgbClr val="232B40">
              <a:alpha val="99999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99273620" name=""/>
          <p:cNvSpPr/>
          <p:nvPr/>
        </p:nvSpPr>
        <p:spPr bwMode="auto">
          <a:xfrm rot="0" flipH="0" flipV="0">
            <a:off x="5070891" y="678308"/>
            <a:ext cx="5427250" cy="1121946"/>
          </a:xfrm>
          <a:prstGeom prst="flowChartAlternateProcess">
            <a:avLst/>
          </a:prstGeom>
          <a:solidFill>
            <a:srgbClr val="232B40">
              <a:alpha val="99999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48009938" name="Rectangle 9"/>
          <p:cNvSpPr txBox="1"/>
          <p:nvPr/>
        </p:nvSpPr>
        <p:spPr bwMode="auto">
          <a:xfrm rot="0" flipH="0" flipV="0">
            <a:off x="2141674" y="397693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445288708" name="Rectangle 10"/>
          <p:cNvSpPr txBox="1"/>
          <p:nvPr/>
        </p:nvSpPr>
        <p:spPr bwMode="auto">
          <a:xfrm rot="0" flipH="0" flipV="0">
            <a:off x="5402691" y="1063290"/>
            <a:ext cx="507544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 sz="2200" u="sng">
                <a:solidFill>
                  <a:schemeClr val="bg1"/>
                </a:solidFill>
                <a:latin typeface="Michroma"/>
                <a:ea typeface="Michroma"/>
                <a:cs typeface="Michroma"/>
                <a:hlinkClick r:id="rId4" action="ppaction://hlinksldjump" tooltip="Slide 2"/>
              </a:rPr>
              <a:t>Stato di avanzamento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sp>
        <p:nvSpPr>
          <p:cNvPr id="267150870" name="Rectangle 11"/>
          <p:cNvSpPr txBox="1"/>
          <p:nvPr/>
        </p:nvSpPr>
        <p:spPr bwMode="auto">
          <a:xfrm rot="0" flipH="0" flipV="0">
            <a:off x="5395852" y="2403272"/>
            <a:ext cx="5082285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 sz="2200" u="sng">
                <a:solidFill>
                  <a:schemeClr val="bg1"/>
                </a:solidFill>
                <a:latin typeface="Michroma"/>
                <a:ea typeface="Michroma"/>
                <a:cs typeface="Michroma"/>
                <a:hlinkClick r:id="rId5" action="ppaction://hlinksldjump" tooltip="Slide 3"/>
              </a:rPr>
              <a:t>Obiettivi futuri a breve termine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sp>
        <p:nvSpPr>
          <p:cNvPr id="43044299" name="Rectangle 12"/>
          <p:cNvSpPr txBox="1"/>
          <p:nvPr/>
        </p:nvSpPr>
        <p:spPr bwMode="auto">
          <a:xfrm rot="0" flipH="0" flipV="0">
            <a:off x="5193077" y="4129511"/>
            <a:ext cx="5076524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tabLst>
                <a:tab pos="6000750" algn="l"/>
              </a:tabLst>
              <a:defRPr/>
            </a:pPr>
            <a:r>
              <a:rPr lang="fr-FR" sz="2200" u="sng">
                <a:solidFill>
                  <a:schemeClr val="bg1"/>
                </a:solidFill>
                <a:latin typeface="Michroma"/>
                <a:ea typeface="Michroma"/>
                <a:cs typeface="Michroma"/>
                <a:hlinkClick r:id="rId6" action="ppaction://hlinksldjump" tooltip="Slide 4"/>
              </a:rPr>
              <a:t>Difficoltà incontrate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sp>
        <p:nvSpPr>
          <p:cNvPr id="156969880" name="Rectangle 13"/>
          <p:cNvSpPr txBox="1"/>
          <p:nvPr/>
        </p:nvSpPr>
        <p:spPr bwMode="auto">
          <a:xfrm rot="0" flipH="0" flipV="0">
            <a:off x="5428324" y="5414193"/>
            <a:ext cx="5083005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tabLst>
                <a:tab pos="6000750" algn="l"/>
              </a:tabLst>
              <a:defRPr/>
            </a:pPr>
            <a:r>
              <a:rPr lang="fr-FR" sz="2200" u="sng">
                <a:solidFill>
                  <a:schemeClr val="bg1"/>
                </a:solidFill>
                <a:latin typeface="Michroma"/>
                <a:ea typeface="Michroma"/>
                <a:cs typeface="Michroma"/>
                <a:hlinkClick r:id="rId7" action="ppaction://hlinksldjump" tooltip="Slide 5"/>
              </a:rPr>
              <a:t>Dubbi ed incertezze su come procedere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sp>
        <p:nvSpPr>
          <p:cNvPr id="777839610" name="Flowchart: Alternate process 14"/>
          <p:cNvSpPr/>
          <p:nvPr/>
        </p:nvSpPr>
        <p:spPr bwMode="auto">
          <a:xfrm rot="16199998" flipH="0" flipV="0">
            <a:off x="4833271" y="911059"/>
            <a:ext cx="1130456" cy="662071"/>
          </a:xfrm>
          <a:custGeom>
            <a:avLst>
              <a:gd name="adj1" fmla="val 16667"/>
              <a:gd name="adj2" fmla="val 0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7981" y="124"/>
                </a:moveTo>
                <a:cubicBezTo>
                  <a:pt x="17829" y="147"/>
                  <a:pt x="23810" y="437"/>
                  <a:pt x="35962" y="124"/>
                </a:cubicBezTo>
                <a:cubicBezTo>
                  <a:pt x="37832" y="90"/>
                  <a:pt x="39789" y="1487"/>
                  <a:pt x="41065" y="3838"/>
                </a:cubicBezTo>
                <a:cubicBezTo>
                  <a:pt x="42420" y="6334"/>
                  <a:pt x="43040" y="9867"/>
                  <a:pt x="43128" y="12553"/>
                </a:cubicBezTo>
                <a:cubicBezTo>
                  <a:pt x="43206" y="23197"/>
                  <a:pt x="43231" y="33099"/>
                  <a:pt x="43144" y="43200"/>
                </a:cubicBezTo>
                <a:lnTo>
                  <a:pt x="0" y="42853"/>
                </a:lnTo>
                <a:lnTo>
                  <a:pt x="131" y="9819"/>
                </a:lnTo>
                <a:cubicBezTo>
                  <a:pt x="408" y="4981"/>
                  <a:pt x="4174" y="-373"/>
                  <a:pt x="7981" y="124"/>
                </a:cubicBezTo>
                <a:close/>
              </a:path>
            </a:pathLst>
          </a:custGeom>
          <a:gradFill>
            <a:gsLst>
              <a:gs pos="0">
                <a:srgbClr val="9551F3">
                  <a:alpha val="99999"/>
                </a:srgbClr>
              </a:gs>
              <a:gs pos="100000">
                <a:srgbClr val="002060">
                  <a:alpha val="99999"/>
                </a:srgbClr>
              </a:gs>
            </a:gsLst>
            <a:lin ang="2700000" scaled="1"/>
          </a:gradFill>
          <a:ln w="6350" cap="flat" cmpd="sng" algn="ctr">
            <a:solidFill>
              <a:srgbClr val="0F0F1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509471531" name="Flowchart: Alternate process 14"/>
          <p:cNvSpPr/>
          <p:nvPr/>
        </p:nvSpPr>
        <p:spPr bwMode="auto">
          <a:xfrm rot="16199998" flipH="0" flipV="0">
            <a:off x="4836777" y="2454551"/>
            <a:ext cx="1124988" cy="656759"/>
          </a:xfrm>
          <a:custGeom>
            <a:avLst>
              <a:gd name="adj1" fmla="val 16667"/>
              <a:gd name="adj2" fmla="val 0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8020" y="125"/>
                </a:moveTo>
                <a:cubicBezTo>
                  <a:pt x="17916" y="149"/>
                  <a:pt x="23926" y="441"/>
                  <a:pt x="36137" y="125"/>
                </a:cubicBezTo>
                <a:cubicBezTo>
                  <a:pt x="40012" y="54"/>
                  <a:pt x="42994" y="6516"/>
                  <a:pt x="43167" y="11773"/>
                </a:cubicBezTo>
                <a:cubicBezTo>
                  <a:pt x="43246" y="22503"/>
                  <a:pt x="43164" y="33018"/>
                  <a:pt x="43077" y="43200"/>
                </a:cubicBezTo>
                <a:lnTo>
                  <a:pt x="0" y="43200"/>
                </a:lnTo>
                <a:lnTo>
                  <a:pt x="132" y="9898"/>
                </a:lnTo>
                <a:cubicBezTo>
                  <a:pt x="410" y="5021"/>
                  <a:pt x="4194" y="-378"/>
                  <a:pt x="8020" y="125"/>
                </a:cubicBezTo>
                <a:close/>
              </a:path>
            </a:pathLst>
          </a:custGeom>
          <a:gradFill>
            <a:gsLst>
              <a:gs pos="0">
                <a:srgbClr val="9551F3">
                  <a:alpha val="99999"/>
                </a:srgbClr>
              </a:gs>
              <a:gs pos="100000">
                <a:srgbClr val="002060">
                  <a:alpha val="99999"/>
                </a:srgbClr>
              </a:gs>
            </a:gsLst>
            <a:lin ang="2700000" scaled="1"/>
          </a:gradFill>
          <a:ln w="6350" cap="flat" cmpd="sng" algn="ctr">
            <a:solidFill>
              <a:srgbClr val="0F0F1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53948995" name="Flowchart: Alternate process 14"/>
          <p:cNvSpPr/>
          <p:nvPr/>
        </p:nvSpPr>
        <p:spPr bwMode="auto">
          <a:xfrm rot="16199998" flipH="0" flipV="0">
            <a:off x="4831345" y="3966364"/>
            <a:ext cx="1129015" cy="656760"/>
          </a:xfrm>
          <a:custGeom>
            <a:avLst>
              <a:gd name="adj1" fmla="val 16667"/>
              <a:gd name="adj2" fmla="val 0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7992" y="126"/>
                </a:moveTo>
                <a:cubicBezTo>
                  <a:pt x="17853" y="149"/>
                  <a:pt x="23841" y="441"/>
                  <a:pt x="36009" y="126"/>
                </a:cubicBezTo>
                <a:cubicBezTo>
                  <a:pt x="39870" y="54"/>
                  <a:pt x="43012" y="7398"/>
                  <a:pt x="43184" y="12655"/>
                </a:cubicBezTo>
                <a:cubicBezTo>
                  <a:pt x="43263" y="23385"/>
                  <a:pt x="43011" y="33018"/>
                  <a:pt x="42924" y="43200"/>
                </a:cubicBezTo>
                <a:lnTo>
                  <a:pt x="0" y="43200"/>
                </a:lnTo>
                <a:lnTo>
                  <a:pt x="132" y="9899"/>
                </a:lnTo>
                <a:cubicBezTo>
                  <a:pt x="409" y="5022"/>
                  <a:pt x="4180" y="-378"/>
                  <a:pt x="7992" y="126"/>
                </a:cubicBezTo>
                <a:close/>
              </a:path>
            </a:pathLst>
          </a:custGeom>
          <a:gradFill>
            <a:gsLst>
              <a:gs pos="0">
                <a:srgbClr val="9551F3">
                  <a:alpha val="99999"/>
                </a:srgbClr>
              </a:gs>
              <a:gs pos="100000">
                <a:srgbClr val="002060">
                  <a:alpha val="99999"/>
                </a:srgbClr>
              </a:gs>
            </a:gsLst>
            <a:lin ang="2700000" scaled="1"/>
          </a:gradFill>
          <a:ln w="6350" cap="flat" cmpd="sng" algn="ctr">
            <a:solidFill>
              <a:srgbClr val="0F0F1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47239005" name="Flowchart: Alternate process 14"/>
          <p:cNvSpPr/>
          <p:nvPr/>
        </p:nvSpPr>
        <p:spPr bwMode="auto">
          <a:xfrm rot="16199998" flipH="0" flipV="0">
            <a:off x="4834587" y="5468468"/>
            <a:ext cx="1131248" cy="658648"/>
          </a:xfrm>
          <a:custGeom>
            <a:avLst>
              <a:gd name="adj1" fmla="val 16667"/>
              <a:gd name="adj2" fmla="val 0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7976" y="125"/>
                </a:moveTo>
                <a:cubicBezTo>
                  <a:pt x="17817" y="148"/>
                  <a:pt x="23793" y="439"/>
                  <a:pt x="35937" y="125"/>
                </a:cubicBezTo>
                <a:cubicBezTo>
                  <a:pt x="37690" y="92"/>
                  <a:pt x="39704" y="1496"/>
                  <a:pt x="40949" y="3633"/>
                </a:cubicBezTo>
                <a:cubicBezTo>
                  <a:pt x="42440" y="6192"/>
                  <a:pt x="43004" y="9761"/>
                  <a:pt x="43097" y="12618"/>
                </a:cubicBezTo>
                <a:lnTo>
                  <a:pt x="43200" y="43199"/>
                </a:lnTo>
                <a:lnTo>
                  <a:pt x="0" y="43076"/>
                </a:lnTo>
                <a:lnTo>
                  <a:pt x="131" y="9870"/>
                </a:lnTo>
                <a:cubicBezTo>
                  <a:pt x="407" y="5007"/>
                  <a:pt x="4171" y="-375"/>
                  <a:pt x="7976" y="125"/>
                </a:cubicBezTo>
                <a:close/>
              </a:path>
            </a:pathLst>
          </a:custGeom>
          <a:gradFill>
            <a:gsLst>
              <a:gs pos="0">
                <a:srgbClr val="9551F3">
                  <a:alpha val="99999"/>
                </a:srgbClr>
              </a:gs>
              <a:gs pos="100000">
                <a:srgbClr val="002060">
                  <a:alpha val="99999"/>
                </a:srgbClr>
              </a:gs>
            </a:gsLst>
            <a:lin ang="2700000" scaled="1"/>
          </a:gradFill>
          <a:ln w="6350" cap="flat" cmpd="sng" algn="ctr">
            <a:solidFill>
              <a:srgbClr val="0F0F1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524493848" name="Rectangle 18"/>
          <p:cNvSpPr txBox="1"/>
          <p:nvPr/>
        </p:nvSpPr>
        <p:spPr bwMode="auto">
          <a:xfrm rot="0" flipH="0" flipV="0">
            <a:off x="5126404" y="987091"/>
            <a:ext cx="88690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2800" b="1">
                <a:solidFill>
                  <a:schemeClr val="bg1"/>
                </a:solidFill>
                <a:latin typeface="DejaVu Sans Mono"/>
                <a:ea typeface="DejaVu Sans Mono"/>
                <a:cs typeface="DejaVu Sans Mono"/>
              </a:rPr>
              <a:t>1.</a:t>
            </a:r>
            <a:endParaRPr sz="2800" b="1">
              <a:solidFill>
                <a:schemeClr val="bg1"/>
              </a:solidFill>
              <a:latin typeface="DejaVu Sans Mono"/>
              <a:cs typeface="DejaVu Sans Mono"/>
            </a:endParaRPr>
          </a:p>
        </p:txBody>
      </p:sp>
      <p:sp>
        <p:nvSpPr>
          <p:cNvPr id="712844017" name="Rectangle 19"/>
          <p:cNvSpPr txBox="1"/>
          <p:nvPr/>
        </p:nvSpPr>
        <p:spPr bwMode="auto">
          <a:xfrm rot="0" flipH="0" flipV="0">
            <a:off x="5126404" y="2521658"/>
            <a:ext cx="88798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2800" b="1">
                <a:solidFill>
                  <a:schemeClr val="bg1"/>
                </a:solidFill>
                <a:latin typeface="DejaVu Sans Mono"/>
                <a:ea typeface="DejaVu Sans Mono"/>
                <a:cs typeface="DejaVu Sans Mono"/>
              </a:rPr>
              <a:t>2.</a:t>
            </a:r>
            <a:endParaRPr sz="2800" b="1">
              <a:solidFill>
                <a:schemeClr val="bg1"/>
              </a:solidFill>
              <a:latin typeface="DejaVu Sans Mono"/>
              <a:cs typeface="DejaVu Sans Mono"/>
            </a:endParaRPr>
          </a:p>
        </p:txBody>
      </p:sp>
      <p:sp>
        <p:nvSpPr>
          <p:cNvPr id="377040753" name="Rectangle 20"/>
          <p:cNvSpPr txBox="1"/>
          <p:nvPr/>
        </p:nvSpPr>
        <p:spPr bwMode="auto">
          <a:xfrm rot="0" flipH="0" flipV="0">
            <a:off x="5145455" y="4076371"/>
            <a:ext cx="88834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tabLst>
                <a:tab pos="5257798" algn="l"/>
              </a:tabLst>
              <a:defRPr/>
            </a:pPr>
            <a:r>
              <a:rPr lang="fr-FR" sz="2800" b="1">
                <a:solidFill>
                  <a:schemeClr val="bg1"/>
                </a:solidFill>
                <a:latin typeface="DejaVu Sans Mono"/>
                <a:ea typeface="DejaVu Sans Mono"/>
                <a:cs typeface="DejaVu Sans Mono"/>
              </a:rPr>
              <a:t>3.</a:t>
            </a:r>
            <a:endParaRPr sz="2800" b="1">
              <a:solidFill>
                <a:schemeClr val="bg1"/>
              </a:solidFill>
              <a:latin typeface="DejaVu Sans Mono"/>
              <a:cs typeface="DejaVu Sans Mono"/>
            </a:endParaRPr>
          </a:p>
        </p:txBody>
      </p:sp>
      <p:sp>
        <p:nvSpPr>
          <p:cNvPr id="150966268" name="Rectangle 21"/>
          <p:cNvSpPr txBox="1"/>
          <p:nvPr/>
        </p:nvSpPr>
        <p:spPr bwMode="auto">
          <a:xfrm rot="0" flipH="0" flipV="0">
            <a:off x="5145455" y="5539649"/>
            <a:ext cx="88978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>
              <a:tabLst>
                <a:tab pos="57150" algn="l"/>
                <a:tab pos="5257798" algn="l"/>
                <a:tab pos="5543548" algn="l"/>
              </a:tabLst>
              <a:defRPr/>
            </a:pPr>
            <a:r>
              <a:rPr lang="fr-FR" sz="2800" b="1">
                <a:solidFill>
                  <a:schemeClr val="bg1"/>
                </a:solidFill>
                <a:latin typeface="DejaVu Sans Mono"/>
                <a:ea typeface="DejaVu Sans Mono"/>
                <a:cs typeface="DejaVu Sans Mono"/>
              </a:rPr>
              <a:t>4.</a:t>
            </a:r>
            <a:endParaRPr sz="2800" b="1">
              <a:solidFill>
                <a:schemeClr val="bg1"/>
              </a:solidFill>
              <a:latin typeface="DejaVu Sans Mono"/>
              <a:cs typeface="DejaVu Sans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04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93044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5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505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87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0487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27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99273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0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4800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28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4528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15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715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044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6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696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839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77839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47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0947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948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3948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23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7239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49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2449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4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2844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04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7040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6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50966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6591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-6349"/>
            <a:ext cx="10515600" cy="144979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ctr">
              <a:defRPr/>
            </a:pPr>
            <a:r>
              <a:rPr lang="fr-FR" sz="3300" b="0" i="0" u="none" strike="noStrike" cap="none" spc="0">
                <a:solidFill>
                  <a:schemeClr val="bg1"/>
                </a:solidFill>
                <a:latin typeface="Michroma"/>
                <a:ea typeface="Michroma"/>
                <a:cs typeface="Michroma"/>
              </a:rPr>
              <a:t>Stato di avanzamento</a:t>
            </a:r>
            <a:endParaRPr sz="3300">
              <a:solidFill>
                <a:schemeClr val="bg1"/>
              </a:solidFill>
              <a:latin typeface="Michroma"/>
              <a:cs typeface="Michroma"/>
            </a:endParaRPr>
          </a:p>
          <a:p>
            <a:pPr>
              <a:defRPr/>
            </a:pPr>
            <a:endParaRPr/>
          </a:p>
        </p:txBody>
      </p:sp>
      <p:grpSp>
        <p:nvGrpSpPr>
          <p:cNvPr id="1488159787" name="Group 62"/>
          <p:cNvGrpSpPr/>
          <p:nvPr/>
        </p:nvGrpSpPr>
        <p:grpSpPr bwMode="auto">
          <a:xfrm flipH="0" flipV="0">
            <a:off x="353994" y="1124862"/>
            <a:ext cx="5429270" cy="629307"/>
            <a:chOff x="0" y="0"/>
            <a:chExt cx="5429270" cy="629307"/>
          </a:xfrm>
        </p:grpSpPr>
        <p:sp>
          <p:nvSpPr>
            <p:cNvPr id="64808593" name="Flowchart: Alternate process 63"/>
            <p:cNvSpPr/>
            <p:nvPr/>
          </p:nvSpPr>
          <p:spPr bwMode="auto">
            <a:xfrm rot="0" flipH="0" flipV="0">
              <a:off x="2020" y="1332"/>
              <a:ext cx="5427248" cy="622731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34486906" name="Flowchart: Alternate process 14"/>
            <p:cNvSpPr/>
            <p:nvPr/>
          </p:nvSpPr>
          <p:spPr bwMode="auto">
            <a:xfrm rot="16199998" flipH="0" flipV="0">
              <a:off x="13026" y="-13026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grpSp>
        <p:nvGrpSpPr>
          <p:cNvPr id="472208932" name="Group 64"/>
          <p:cNvGrpSpPr/>
          <p:nvPr/>
        </p:nvGrpSpPr>
        <p:grpSpPr bwMode="auto">
          <a:xfrm flipH="0" flipV="0">
            <a:off x="360248" y="2069596"/>
            <a:ext cx="5429269" cy="629307"/>
            <a:chOff x="0" y="0"/>
            <a:chExt cx="5429269" cy="629307"/>
          </a:xfrm>
        </p:grpSpPr>
        <p:sp>
          <p:nvSpPr>
            <p:cNvPr id="1585794658" name="Flowchart: Alternate process 65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25446541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grpSp>
        <p:nvGrpSpPr>
          <p:cNvPr id="1927465817" name="Group 66"/>
          <p:cNvGrpSpPr/>
          <p:nvPr/>
        </p:nvGrpSpPr>
        <p:grpSpPr bwMode="auto">
          <a:xfrm flipH="0" flipV="0">
            <a:off x="364481" y="2940545"/>
            <a:ext cx="5429269" cy="629307"/>
            <a:chOff x="0" y="0"/>
            <a:chExt cx="5429269" cy="629307"/>
          </a:xfrm>
        </p:grpSpPr>
        <p:sp>
          <p:nvSpPr>
            <p:cNvPr id="1054995483" name="Flowchart: Alternate process 67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68844809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grpSp>
        <p:nvGrpSpPr>
          <p:cNvPr id="1295062725" name="Group 68"/>
          <p:cNvGrpSpPr/>
          <p:nvPr/>
        </p:nvGrpSpPr>
        <p:grpSpPr bwMode="auto">
          <a:xfrm flipH="0" flipV="0">
            <a:off x="375066" y="3902574"/>
            <a:ext cx="5429269" cy="629307"/>
            <a:chOff x="0" y="0"/>
            <a:chExt cx="5429269" cy="629307"/>
          </a:xfrm>
        </p:grpSpPr>
        <p:sp>
          <p:nvSpPr>
            <p:cNvPr id="1193932191" name="Flowchart: Alternate process 69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50103788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1818939144" name="Rectangle 70"/>
          <p:cNvSpPr txBox="1"/>
          <p:nvPr/>
        </p:nvSpPr>
        <p:spPr bwMode="auto">
          <a:xfrm rot="0" flipH="0" flipV="0">
            <a:off x="1145165" y="1233415"/>
            <a:ext cx="450173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chemeClr val="bg1"/>
                </a:solidFill>
                <a:latin typeface="Michroma"/>
                <a:ea typeface="Michroma"/>
                <a:cs typeface="Michroma"/>
              </a:rPr>
              <a:t>Creazione nome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sp>
        <p:nvSpPr>
          <p:cNvPr id="1671015826" name="Rectangle 71"/>
          <p:cNvSpPr txBox="1"/>
          <p:nvPr/>
        </p:nvSpPr>
        <p:spPr bwMode="auto">
          <a:xfrm rot="0" flipH="0" flipV="0">
            <a:off x="1145165" y="2201191"/>
            <a:ext cx="450353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chemeClr val="bg1"/>
                </a:solidFill>
                <a:latin typeface="Michroma"/>
                <a:ea typeface="Michroma"/>
                <a:cs typeface="Michroma"/>
              </a:rPr>
              <a:t>Creazione logo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sp>
        <p:nvSpPr>
          <p:cNvPr id="1400076005" name="Rectangle 72"/>
          <p:cNvSpPr txBox="1"/>
          <p:nvPr/>
        </p:nvSpPr>
        <p:spPr bwMode="auto">
          <a:xfrm rot="0" flipH="0" flipV="0">
            <a:off x="1168011" y="3062880"/>
            <a:ext cx="450821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chemeClr val="bg1"/>
                </a:solidFill>
                <a:latin typeface="Michroma"/>
                <a:ea typeface="Michroma"/>
                <a:cs typeface="Michroma"/>
              </a:rPr>
              <a:t>Creazione recapito e-mail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sp>
        <p:nvSpPr>
          <p:cNvPr id="1596806646" name="Rectangle 73"/>
          <p:cNvSpPr txBox="1"/>
          <p:nvPr/>
        </p:nvSpPr>
        <p:spPr bwMode="auto">
          <a:xfrm rot="0" flipH="0" flipV="0">
            <a:off x="1174131" y="4031649"/>
            <a:ext cx="452368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u="sng">
                <a:solidFill>
                  <a:schemeClr val="hlink"/>
                </a:solidFill>
                <a:latin typeface="Michroma"/>
                <a:cs typeface="Michroma"/>
                <a:hlinkClick r:id="rId3" tooltip=""/>
              </a:rPr>
              <a:t>Call interna: 1</a:t>
            </a:r>
            <a:endParaRPr>
              <a:solidFill>
                <a:schemeClr val="bg2"/>
              </a:solidFill>
              <a:latin typeface="Michroma"/>
              <a:cs typeface="Michroma"/>
            </a:endParaRPr>
          </a:p>
        </p:txBody>
      </p:sp>
      <p:grpSp>
        <p:nvGrpSpPr>
          <p:cNvPr id="944544788" name="Group 74"/>
          <p:cNvGrpSpPr/>
          <p:nvPr/>
        </p:nvGrpSpPr>
        <p:grpSpPr bwMode="auto">
          <a:xfrm flipH="0" flipV="0">
            <a:off x="346100" y="4901640"/>
            <a:ext cx="5429269" cy="629307"/>
            <a:chOff x="0" y="0"/>
            <a:chExt cx="5429269" cy="629307"/>
          </a:xfrm>
        </p:grpSpPr>
        <p:sp>
          <p:nvSpPr>
            <p:cNvPr id="770733285" name="Flowchart: Alternate process 75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46577212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1685059566" name="Rectangle 76"/>
          <p:cNvSpPr txBox="1"/>
          <p:nvPr/>
        </p:nvSpPr>
        <p:spPr bwMode="auto">
          <a:xfrm rot="0" flipH="0" flipV="0">
            <a:off x="1145165" y="5030714"/>
            <a:ext cx="45398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chemeClr val="bg1"/>
                </a:solidFill>
                <a:latin typeface="Michroma"/>
                <a:cs typeface="Michroma"/>
              </a:rPr>
              <a:t>Cadenza generale call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grpSp>
        <p:nvGrpSpPr>
          <p:cNvPr id="998526541" name="Group 77"/>
          <p:cNvGrpSpPr/>
          <p:nvPr/>
        </p:nvGrpSpPr>
        <p:grpSpPr bwMode="auto">
          <a:xfrm flipH="0" flipV="0">
            <a:off x="336905" y="5879539"/>
            <a:ext cx="5429269" cy="629307"/>
            <a:chOff x="0" y="0"/>
            <a:chExt cx="5429269" cy="629307"/>
          </a:xfrm>
        </p:grpSpPr>
        <p:sp>
          <p:nvSpPr>
            <p:cNvPr id="1448591303" name="Flowchart: Alternate process 78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78014846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6488683" name="Rectangle 79"/>
          <p:cNvSpPr txBox="1"/>
          <p:nvPr/>
        </p:nvSpPr>
        <p:spPr bwMode="auto">
          <a:xfrm rot="0" flipH="0" flipV="0">
            <a:off x="1135971" y="6008613"/>
            <a:ext cx="45650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chemeClr val="bg1"/>
                </a:solidFill>
                <a:latin typeface="Michroma"/>
                <a:cs typeface="Michroma"/>
              </a:rPr>
              <a:t>Stesura resoconto capitolati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grpSp>
        <p:nvGrpSpPr>
          <p:cNvPr id="1430283589" name="Group 80"/>
          <p:cNvGrpSpPr/>
          <p:nvPr/>
        </p:nvGrpSpPr>
        <p:grpSpPr bwMode="auto">
          <a:xfrm flipH="0" flipV="0">
            <a:off x="6455236" y="1129352"/>
            <a:ext cx="5429269" cy="629307"/>
            <a:chOff x="0" y="0"/>
            <a:chExt cx="5429269" cy="629307"/>
          </a:xfrm>
        </p:grpSpPr>
        <p:sp>
          <p:nvSpPr>
            <p:cNvPr id="1507574082" name="Flowchart: Alternate process 81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08922847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178598820" name="Rectangle 82"/>
          <p:cNvSpPr txBox="1"/>
          <p:nvPr/>
        </p:nvSpPr>
        <p:spPr bwMode="auto">
          <a:xfrm rot="0" flipH="0" flipV="0">
            <a:off x="7254300" y="1258425"/>
            <a:ext cx="455681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u="sng">
                <a:ln w="12700">
                  <a:solidFill>
                    <a:srgbClr val="000000">
                      <a:alpha val="0"/>
                    </a:srgbClr>
                  </a:solidFill>
                </a:ln>
                <a:solidFill>
                  <a:srgbClr val="FFFFFF"/>
                </a:solidFill>
                <a:latin typeface="Michroma"/>
                <a:cs typeface="Michroma"/>
                <a:hlinkClick r:id="rId4" tooltip=""/>
              </a:rPr>
              <a:t>Incontro </a:t>
            </a:r>
            <a:r>
              <a:rPr lang="fr-FR" u="sng">
                <a:ln w="12700">
                  <a:solidFill>
                    <a:srgbClr val="000000">
                      <a:alpha val="0"/>
                    </a:srgbClr>
                  </a:solidFill>
                </a:ln>
                <a:solidFill>
                  <a:srgbClr val="FFFFFF"/>
                </a:solidFill>
                <a:latin typeface="Michroma"/>
                <a:cs typeface="Michroma"/>
                <a:hlinkClick r:id="rId4" tooltip=""/>
              </a:rPr>
              <a:t>1 : C9 - Zucchetti</a:t>
            </a:r>
            <a:endParaRPr>
              <a:ln w="12700">
                <a:solidFill>
                  <a:srgbClr val="000000">
                    <a:alpha val="0"/>
                  </a:srgbClr>
                </a:solidFill>
              </a:ln>
              <a:solidFill>
                <a:schemeClr val="accent5"/>
              </a:solidFill>
              <a:latin typeface="Michroma"/>
              <a:cs typeface="Michroma"/>
            </a:endParaRPr>
          </a:p>
        </p:txBody>
      </p:sp>
      <p:grpSp>
        <p:nvGrpSpPr>
          <p:cNvPr id="1191916724" name="Group 83"/>
          <p:cNvGrpSpPr/>
          <p:nvPr/>
        </p:nvGrpSpPr>
        <p:grpSpPr bwMode="auto">
          <a:xfrm flipH="0" flipV="0">
            <a:off x="6455236" y="2041456"/>
            <a:ext cx="5429269" cy="629307"/>
            <a:chOff x="0" y="0"/>
            <a:chExt cx="5429269" cy="629307"/>
          </a:xfrm>
        </p:grpSpPr>
        <p:sp>
          <p:nvSpPr>
            <p:cNvPr id="587593809" name="Flowchart: Alternate process 84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26891959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1469533486" name="Rectangle 85"/>
          <p:cNvSpPr txBox="1"/>
          <p:nvPr/>
        </p:nvSpPr>
        <p:spPr bwMode="auto">
          <a:xfrm rot="0" flipH="0" flipV="0">
            <a:off x="7254301" y="2170530"/>
            <a:ext cx="455861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chemeClr val="bg1"/>
                </a:solidFill>
                <a:latin typeface="Michroma"/>
                <a:cs typeface="Michroma"/>
              </a:rPr>
              <a:t>Creazione repository GitHub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grpSp>
        <p:nvGrpSpPr>
          <p:cNvPr id="739879962" name="Group 86"/>
          <p:cNvGrpSpPr/>
          <p:nvPr/>
        </p:nvGrpSpPr>
        <p:grpSpPr bwMode="auto">
          <a:xfrm flipH="0" flipV="0">
            <a:off x="6473596" y="2933804"/>
            <a:ext cx="5429269" cy="629307"/>
            <a:chOff x="0" y="0"/>
            <a:chExt cx="5429269" cy="629307"/>
          </a:xfrm>
        </p:grpSpPr>
        <p:sp>
          <p:nvSpPr>
            <p:cNvPr id="459466839" name="Flowchart: Alternate process 87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54846557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51449504" name="Rectangle 88"/>
          <p:cNvSpPr txBox="1"/>
          <p:nvPr/>
        </p:nvSpPr>
        <p:spPr bwMode="auto">
          <a:xfrm rot="0" flipH="0" flipV="0">
            <a:off x="7272661" y="3062880"/>
            <a:ext cx="454853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u="sng">
                <a:solidFill>
                  <a:schemeClr val="bg1"/>
                </a:solidFill>
                <a:latin typeface="Michroma"/>
                <a:cs typeface="Michroma"/>
                <a:hlinkClick r:id="rId5" tooltip=""/>
              </a:rPr>
              <a:t>Incontro 2 : C1 - Vimar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grpSp>
        <p:nvGrpSpPr>
          <p:cNvPr id="1481358855" name="Group 89"/>
          <p:cNvGrpSpPr/>
          <p:nvPr/>
        </p:nvGrpSpPr>
        <p:grpSpPr bwMode="auto">
          <a:xfrm flipH="0" flipV="0">
            <a:off x="6455236" y="3902574"/>
            <a:ext cx="5429269" cy="629307"/>
            <a:chOff x="0" y="0"/>
            <a:chExt cx="5429269" cy="629307"/>
          </a:xfrm>
        </p:grpSpPr>
        <p:sp>
          <p:nvSpPr>
            <p:cNvPr id="1318029522" name="Flowchart: Alternate process 90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06845921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789454152" name="Rectangle 91"/>
          <p:cNvSpPr txBox="1"/>
          <p:nvPr/>
        </p:nvSpPr>
        <p:spPr bwMode="auto">
          <a:xfrm rot="0" flipH="0" flipV="0">
            <a:off x="7254301" y="4031649"/>
            <a:ext cx="455177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chemeClr val="bg1"/>
                </a:solidFill>
                <a:latin typeface="Michroma"/>
                <a:cs typeface="Michroma"/>
              </a:rPr>
              <a:t>Stesura e revisione verbali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grpSp>
        <p:nvGrpSpPr>
          <p:cNvPr id="1840932472" name="Group 92"/>
          <p:cNvGrpSpPr/>
          <p:nvPr/>
        </p:nvGrpSpPr>
        <p:grpSpPr bwMode="auto">
          <a:xfrm flipH="0" flipV="0">
            <a:off x="6440418" y="5847708"/>
            <a:ext cx="5429269" cy="629307"/>
            <a:chOff x="0" y="0"/>
            <a:chExt cx="5429269" cy="629307"/>
          </a:xfrm>
        </p:grpSpPr>
        <p:sp>
          <p:nvSpPr>
            <p:cNvPr id="1866428365" name="Flowchart: Alternate process 93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9144164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2012946033" name="Rectangle 94"/>
          <p:cNvSpPr txBox="1"/>
          <p:nvPr/>
        </p:nvSpPr>
        <p:spPr bwMode="auto">
          <a:xfrm rot="0" flipH="0" flipV="0">
            <a:off x="7239484" y="5976783"/>
            <a:ext cx="455105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chemeClr val="bg1"/>
                </a:solidFill>
                <a:latin typeface="Michroma"/>
                <a:cs typeface="Michroma"/>
              </a:rPr>
              <a:t>Incontro 3 : C6 - VarGroup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grpSp>
        <p:nvGrpSpPr>
          <p:cNvPr id="1364174869" name="Group 106"/>
          <p:cNvGrpSpPr/>
          <p:nvPr/>
        </p:nvGrpSpPr>
        <p:grpSpPr bwMode="auto">
          <a:xfrm flipH="0" flipV="0">
            <a:off x="6458807" y="4888411"/>
            <a:ext cx="5429269" cy="629307"/>
            <a:chOff x="0" y="0"/>
            <a:chExt cx="5429269" cy="629307"/>
          </a:xfrm>
        </p:grpSpPr>
        <p:sp>
          <p:nvSpPr>
            <p:cNvPr id="1574290388" name="Flowchart: Alternate process 107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6940979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1752213649" name="Rectangle 108"/>
          <p:cNvSpPr txBox="1"/>
          <p:nvPr/>
        </p:nvSpPr>
        <p:spPr bwMode="auto">
          <a:xfrm rot="0" flipH="0" flipV="0">
            <a:off x="7257871" y="5017484"/>
            <a:ext cx="456005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u="sng">
                <a:solidFill>
                  <a:schemeClr val="bg1"/>
                </a:solidFill>
                <a:latin typeface="Michroma"/>
                <a:cs typeface="Michroma"/>
                <a:hlinkClick r:id="rId6" tooltip=""/>
              </a:rPr>
              <a:t>Call interna: 2 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pic>
        <p:nvPicPr>
          <p:cNvPr id="459355405" name="Picture 52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flipH="0" flipV="0">
            <a:off x="457333" y="1201664"/>
            <a:ext cx="467431" cy="467431"/>
          </a:xfrm>
          <a:prstGeom prst="rect">
            <a:avLst/>
          </a:prstGeom>
        </p:spPr>
      </p:pic>
      <p:pic>
        <p:nvPicPr>
          <p:cNvPr id="427500807" name="Picture 53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flipH="0" flipV="0">
            <a:off x="457333" y="2150534"/>
            <a:ext cx="467430" cy="467430"/>
          </a:xfrm>
          <a:prstGeom prst="rect">
            <a:avLst/>
          </a:prstGeom>
          <a:noFill/>
        </p:spPr>
      </p:pic>
      <p:pic>
        <p:nvPicPr>
          <p:cNvPr id="745128772" name="Picture 54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flipH="0" flipV="0">
            <a:off x="457333" y="3012223"/>
            <a:ext cx="467430" cy="467430"/>
          </a:xfrm>
          <a:prstGeom prst="rect">
            <a:avLst/>
          </a:prstGeom>
        </p:spPr>
      </p:pic>
      <p:pic>
        <p:nvPicPr>
          <p:cNvPr id="180991575" name="Picture 55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flipH="0" flipV="0">
            <a:off x="467916" y="3980992"/>
            <a:ext cx="467430" cy="467430"/>
          </a:xfrm>
          <a:prstGeom prst="rect">
            <a:avLst/>
          </a:prstGeom>
        </p:spPr>
      </p:pic>
      <p:pic>
        <p:nvPicPr>
          <p:cNvPr id="293418017" name="Picture 56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flipH="0" flipV="0">
            <a:off x="446750" y="4980057"/>
            <a:ext cx="467430" cy="467430"/>
          </a:xfrm>
          <a:prstGeom prst="rect">
            <a:avLst/>
          </a:prstGeom>
        </p:spPr>
      </p:pic>
      <p:pic>
        <p:nvPicPr>
          <p:cNvPr id="682106234" name="Picture 57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flipH="0" flipV="0">
            <a:off x="446750" y="5966198"/>
            <a:ext cx="467430" cy="467430"/>
          </a:xfrm>
          <a:prstGeom prst="rect">
            <a:avLst/>
          </a:prstGeom>
        </p:spPr>
      </p:pic>
      <p:pic>
        <p:nvPicPr>
          <p:cNvPr id="751797394" name="Picture 58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flipH="0" flipV="0">
            <a:off x="6549508" y="1201664"/>
            <a:ext cx="467430" cy="467430"/>
          </a:xfrm>
          <a:prstGeom prst="rect">
            <a:avLst/>
          </a:prstGeom>
        </p:spPr>
      </p:pic>
      <p:pic>
        <p:nvPicPr>
          <p:cNvPr id="1923797684" name="Picture 59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flipH="0" flipV="0">
            <a:off x="6560091" y="2119873"/>
            <a:ext cx="467430" cy="467430"/>
          </a:xfrm>
          <a:prstGeom prst="rect">
            <a:avLst/>
          </a:prstGeom>
        </p:spPr>
      </p:pic>
      <p:pic>
        <p:nvPicPr>
          <p:cNvPr id="1314901434" name="Picture 60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flipH="0" flipV="0">
            <a:off x="6575355" y="3012223"/>
            <a:ext cx="467430" cy="467430"/>
          </a:xfrm>
          <a:prstGeom prst="rect">
            <a:avLst/>
          </a:prstGeom>
        </p:spPr>
      </p:pic>
      <p:pic>
        <p:nvPicPr>
          <p:cNvPr id="1560285736" name="Picture 61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flipH="0" flipV="0">
            <a:off x="6549508" y="3980992"/>
            <a:ext cx="467430" cy="467430"/>
          </a:xfrm>
          <a:prstGeom prst="rect">
            <a:avLst/>
          </a:prstGeom>
        </p:spPr>
      </p:pic>
      <p:pic>
        <p:nvPicPr>
          <p:cNvPr id="149730836" name="Picture 62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flipH="0" flipV="0">
            <a:off x="6560091" y="4980057"/>
            <a:ext cx="467430" cy="467430"/>
          </a:xfrm>
          <a:prstGeom prst="rect">
            <a:avLst/>
          </a:prstGeom>
        </p:spPr>
      </p:pic>
      <p:pic>
        <p:nvPicPr>
          <p:cNvPr id="1716461639" name="Picture 65"/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</p:blipFill>
        <p:spPr bwMode="auto">
          <a:xfrm flipH="0" flipV="0">
            <a:off x="6549508" y="5936790"/>
            <a:ext cx="467430" cy="467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52922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-6349"/>
            <a:ext cx="10515600" cy="144979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ctr">
              <a:defRPr/>
            </a:pPr>
            <a:r>
              <a:rPr lang="fr-FR" sz="3300" b="0" i="0" u="none" strike="noStrike" cap="none" spc="0">
                <a:solidFill>
                  <a:schemeClr val="bg1"/>
                </a:solidFill>
                <a:latin typeface="Michroma"/>
                <a:ea typeface="Michroma"/>
                <a:cs typeface="Michroma"/>
              </a:rPr>
              <a:t>Obiettivi futuri a breve termine</a:t>
            </a:r>
            <a:endParaRPr sz="3300">
              <a:solidFill>
                <a:schemeClr val="bg1"/>
              </a:solidFill>
              <a:latin typeface="Michroma"/>
              <a:cs typeface="Michroma"/>
            </a:endParaRPr>
          </a:p>
          <a:p>
            <a:pPr>
              <a:defRPr/>
            </a:pPr>
            <a:endParaRPr/>
          </a:p>
        </p:txBody>
      </p:sp>
      <p:grpSp>
        <p:nvGrpSpPr>
          <p:cNvPr id="2092392161" name="Group 2"/>
          <p:cNvGrpSpPr/>
          <p:nvPr/>
        </p:nvGrpSpPr>
        <p:grpSpPr bwMode="auto">
          <a:xfrm flipH="0" flipV="0">
            <a:off x="281503" y="1529328"/>
            <a:ext cx="5429270" cy="629307"/>
            <a:chOff x="0" y="0"/>
            <a:chExt cx="5429270" cy="629307"/>
          </a:xfrm>
        </p:grpSpPr>
        <p:sp>
          <p:nvSpPr>
            <p:cNvPr id="1467211769" name="Flowchart: Alternate process 3"/>
            <p:cNvSpPr/>
            <p:nvPr/>
          </p:nvSpPr>
          <p:spPr bwMode="auto">
            <a:xfrm rot="0" flipH="0" flipV="0">
              <a:off x="2020" y="1332"/>
              <a:ext cx="5427248" cy="622731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8589404" name="Flowchart: Alternate process 14"/>
            <p:cNvSpPr/>
            <p:nvPr/>
          </p:nvSpPr>
          <p:spPr bwMode="auto">
            <a:xfrm rot="16199998" flipH="0" flipV="0">
              <a:off x="13026" y="-13026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grpSp>
        <p:nvGrpSpPr>
          <p:cNvPr id="1389490761" name="Group 5"/>
          <p:cNvGrpSpPr/>
          <p:nvPr/>
        </p:nvGrpSpPr>
        <p:grpSpPr bwMode="auto">
          <a:xfrm flipH="0" flipV="0">
            <a:off x="287757" y="2251812"/>
            <a:ext cx="5429269" cy="629307"/>
            <a:chOff x="0" y="0"/>
            <a:chExt cx="5429269" cy="629307"/>
          </a:xfrm>
        </p:grpSpPr>
        <p:sp>
          <p:nvSpPr>
            <p:cNvPr id="814244678" name="Flowchart: Alternate process 6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15710327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grpSp>
        <p:nvGrpSpPr>
          <p:cNvPr id="207948949" name="Group 8"/>
          <p:cNvGrpSpPr/>
          <p:nvPr/>
        </p:nvGrpSpPr>
        <p:grpSpPr bwMode="auto">
          <a:xfrm flipH="0" flipV="0">
            <a:off x="281406" y="2964011"/>
            <a:ext cx="5429269" cy="629307"/>
            <a:chOff x="0" y="0"/>
            <a:chExt cx="5429269" cy="629307"/>
          </a:xfrm>
        </p:grpSpPr>
        <p:sp>
          <p:nvSpPr>
            <p:cNvPr id="790688267" name="Flowchart: Alternate process 9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57692740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955177371" name="Rectangle 14"/>
          <p:cNvSpPr txBox="1"/>
          <p:nvPr/>
        </p:nvSpPr>
        <p:spPr bwMode="auto">
          <a:xfrm rot="0" flipH="0" flipV="0">
            <a:off x="1072674" y="1637881"/>
            <a:ext cx="452477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chemeClr val="bg1"/>
                </a:solidFill>
                <a:latin typeface="Michroma"/>
                <a:cs typeface="Michroma"/>
              </a:rPr>
              <a:t>Rifinitura « Way-Of-Working »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sp>
        <p:nvSpPr>
          <p:cNvPr id="1867144911" name="Rectangle 15"/>
          <p:cNvSpPr txBox="1"/>
          <p:nvPr/>
        </p:nvSpPr>
        <p:spPr bwMode="auto">
          <a:xfrm rot="0" flipH="0" flipV="0">
            <a:off x="1072674" y="2383407"/>
            <a:ext cx="452225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chemeClr val="bg1"/>
                </a:solidFill>
                <a:latin typeface="Michroma"/>
                <a:cs typeface="Michroma"/>
              </a:rPr>
              <a:t>Assegnazione ruoli 1°  turno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sp>
        <p:nvSpPr>
          <p:cNvPr id="66288052" name="Rectangle 16"/>
          <p:cNvSpPr txBox="1"/>
          <p:nvPr/>
        </p:nvSpPr>
        <p:spPr bwMode="auto">
          <a:xfrm rot="0" flipH="0" flipV="0">
            <a:off x="1076276" y="3095721"/>
            <a:ext cx="453737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tabLst>
                <a:tab pos="457200" algn="l"/>
                <a:tab pos="1143000" algn="l"/>
                <a:tab pos="1200150" algn="l"/>
              </a:tabLst>
              <a:defRPr/>
            </a:pPr>
            <a:r>
              <a:rPr lang="fr-FR">
                <a:solidFill>
                  <a:schemeClr val="bg1"/>
                </a:solidFill>
                <a:latin typeface="Michroma"/>
                <a:ea typeface="Michroma"/>
                <a:cs typeface="Michroma"/>
              </a:rPr>
              <a:t>Rifinitura preventivo iniziale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grpSp>
        <p:nvGrpSpPr>
          <p:cNvPr id="117134496" name="Group 56"/>
          <p:cNvGrpSpPr/>
          <p:nvPr/>
        </p:nvGrpSpPr>
        <p:grpSpPr bwMode="auto">
          <a:xfrm flipH="0" flipV="0">
            <a:off x="290311" y="3698279"/>
            <a:ext cx="5429269" cy="629307"/>
            <a:chOff x="0" y="0"/>
            <a:chExt cx="5429269" cy="629307"/>
          </a:xfrm>
        </p:grpSpPr>
        <p:sp>
          <p:nvSpPr>
            <p:cNvPr id="1154109" name="Flowchart: Alternate process 57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18802898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2088708978" name="Rectangle 58"/>
          <p:cNvSpPr txBox="1"/>
          <p:nvPr/>
        </p:nvSpPr>
        <p:spPr bwMode="auto">
          <a:xfrm rot="0" flipH="0" flipV="0">
            <a:off x="1093840" y="3820613"/>
            <a:ext cx="454097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chemeClr val="bg1"/>
                </a:solidFill>
                <a:latin typeface="Michroma"/>
                <a:ea typeface="Michroma"/>
                <a:cs typeface="Michroma"/>
              </a:rPr>
              <a:t>Presentazione candidatura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sp>
        <p:nvSpPr>
          <p:cNvPr id="570454122" name="Flowchart: Alternate process 64"/>
          <p:cNvSpPr/>
          <p:nvPr/>
        </p:nvSpPr>
        <p:spPr bwMode="auto">
          <a:xfrm rot="0" flipH="0" flipV="0">
            <a:off x="1229833" y="970530"/>
            <a:ext cx="3661833" cy="430588"/>
          </a:xfrm>
          <a:prstGeom prst="flowChartAlternateProcess">
            <a:avLst/>
          </a:prstGeom>
          <a:gradFill>
            <a:gsLst>
              <a:gs pos="0">
                <a:srgbClr val="9551F3">
                  <a:alpha val="99999"/>
                </a:srgbClr>
              </a:gs>
              <a:gs pos="100000">
                <a:srgbClr val="002060">
                  <a:alpha val="99999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fr-FR" b="1">
                <a:latin typeface="Michroma"/>
                <a:ea typeface="Michroma"/>
                <a:cs typeface="Michroma"/>
              </a:rPr>
              <a:t>Deadline : </a:t>
            </a:r>
            <a:r>
              <a:rPr lang="fr-FR" b="1">
                <a:solidFill>
                  <a:srgbClr val="FF0000"/>
                </a:solidFill>
                <a:latin typeface="Michroma"/>
                <a:ea typeface="Michroma"/>
                <a:cs typeface="Michroma"/>
              </a:rPr>
              <a:t>30 </a:t>
            </a:r>
            <a:r>
              <a:rPr lang="fr-FR" b="1">
                <a:solidFill>
                  <a:schemeClr val="bg1"/>
                </a:solidFill>
                <a:latin typeface="Michroma"/>
                <a:ea typeface="Michroma"/>
                <a:cs typeface="Michroma"/>
              </a:rPr>
              <a:t>Ottobre</a:t>
            </a:r>
            <a:endParaRPr b="1">
              <a:latin typeface="Michroma"/>
              <a:cs typeface="Michroma"/>
            </a:endParaRPr>
          </a:p>
        </p:txBody>
      </p:sp>
      <p:sp>
        <p:nvSpPr>
          <p:cNvPr id="836314845" name="Rectangle 65"/>
          <p:cNvSpPr txBox="1"/>
          <p:nvPr/>
        </p:nvSpPr>
        <p:spPr bwMode="auto">
          <a:xfrm rot="0" flipH="0" flipV="0">
            <a:off x="299015" y="1480789"/>
            <a:ext cx="82559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1200" b="1">
                <a:solidFill>
                  <a:srgbClr val="FFFFFF"/>
                </a:solidFill>
              </a:rPr>
              <a:t>expec.</a:t>
            </a:r>
            <a:endParaRPr sz="1200" b="1">
              <a:solidFill>
                <a:srgbClr val="FFFFFF"/>
              </a:solidFill>
            </a:endParaRPr>
          </a:p>
          <a:p>
            <a:pPr>
              <a:defRPr/>
            </a:pPr>
            <a:r>
              <a:rPr lang="fr-FR" sz="2800" b="1">
                <a:solidFill>
                  <a:srgbClr val="FF0000"/>
                </a:solidFill>
              </a:rPr>
              <a:t>28</a:t>
            </a:r>
            <a:endParaRPr sz="1400"/>
          </a:p>
        </p:txBody>
      </p:sp>
      <p:sp>
        <p:nvSpPr>
          <p:cNvPr id="2011513972" name="Rectangle 66"/>
          <p:cNvSpPr txBox="1"/>
          <p:nvPr/>
        </p:nvSpPr>
        <p:spPr bwMode="auto">
          <a:xfrm rot="0" flipH="0" flipV="0">
            <a:off x="296030" y="2215766"/>
            <a:ext cx="81911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1200" b="1">
                <a:solidFill>
                  <a:srgbClr val="FFFFFF"/>
                </a:solidFill>
              </a:rPr>
              <a:t>expec.</a:t>
            </a:r>
            <a:endParaRPr sz="1200" b="1">
              <a:solidFill>
                <a:srgbClr val="FFFFFF"/>
              </a:solidFill>
            </a:endParaRPr>
          </a:p>
          <a:p>
            <a:pPr>
              <a:defRPr/>
            </a:pPr>
            <a:r>
              <a:rPr lang="fr-FR" sz="2800" b="1">
                <a:solidFill>
                  <a:srgbClr val="FF0000"/>
                </a:solidFill>
              </a:rPr>
              <a:t>30</a:t>
            </a:r>
            <a:endParaRPr sz="1400" b="1"/>
          </a:p>
        </p:txBody>
      </p:sp>
      <p:sp>
        <p:nvSpPr>
          <p:cNvPr id="111336389" name="Rectangle 67"/>
          <p:cNvSpPr txBox="1"/>
          <p:nvPr/>
        </p:nvSpPr>
        <p:spPr bwMode="auto">
          <a:xfrm rot="0" flipH="0" flipV="0">
            <a:off x="312621" y="2929287"/>
            <a:ext cx="81911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1200" b="1">
                <a:solidFill>
                  <a:srgbClr val="FFFFFF"/>
                </a:solidFill>
              </a:rPr>
              <a:t>expec.</a:t>
            </a:r>
            <a:endParaRPr sz="1200" b="1">
              <a:solidFill>
                <a:srgbClr val="FFFFFF"/>
              </a:solidFill>
            </a:endParaRPr>
          </a:p>
          <a:p>
            <a:pPr>
              <a:defRPr/>
            </a:pPr>
            <a:r>
              <a:rPr lang="fr-FR" sz="2800" b="1">
                <a:solidFill>
                  <a:srgbClr val="FF0000"/>
                </a:solidFill>
              </a:rPr>
              <a:t>29</a:t>
            </a:r>
            <a:endParaRPr sz="1400" b="1"/>
          </a:p>
        </p:txBody>
      </p:sp>
      <p:sp>
        <p:nvSpPr>
          <p:cNvPr id="348968607" name="Rectangle 68"/>
          <p:cNvSpPr txBox="1"/>
          <p:nvPr/>
        </p:nvSpPr>
        <p:spPr bwMode="auto">
          <a:xfrm rot="0" flipH="0" flipV="0">
            <a:off x="297936" y="3652972"/>
            <a:ext cx="81911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1200" b="1">
                <a:solidFill>
                  <a:srgbClr val="FFFFFF"/>
                </a:solidFill>
              </a:rPr>
              <a:t>expec.</a:t>
            </a:r>
            <a:endParaRPr sz="1200" b="1">
              <a:solidFill>
                <a:srgbClr val="FFFFFF"/>
              </a:solidFill>
            </a:endParaRPr>
          </a:p>
          <a:p>
            <a:pPr>
              <a:defRPr/>
            </a:pPr>
            <a:r>
              <a:rPr lang="fr-FR" sz="2800" b="1">
                <a:solidFill>
                  <a:srgbClr val="FF0000"/>
                </a:solidFill>
              </a:rPr>
              <a:t>30</a:t>
            </a:r>
            <a:endParaRPr sz="1400" b="1"/>
          </a:p>
        </p:txBody>
      </p:sp>
      <p:grpSp>
        <p:nvGrpSpPr>
          <p:cNvPr id="1640176449" name="Group 69"/>
          <p:cNvGrpSpPr/>
          <p:nvPr/>
        </p:nvGrpSpPr>
        <p:grpSpPr bwMode="auto">
          <a:xfrm flipH="0" flipV="0">
            <a:off x="6413486" y="1522977"/>
            <a:ext cx="5429270" cy="629307"/>
            <a:chOff x="0" y="0"/>
            <a:chExt cx="5429270" cy="629307"/>
          </a:xfrm>
        </p:grpSpPr>
        <p:sp>
          <p:nvSpPr>
            <p:cNvPr id="1855767945" name="Flowchart: Alternate process 70"/>
            <p:cNvSpPr/>
            <p:nvPr/>
          </p:nvSpPr>
          <p:spPr bwMode="auto">
            <a:xfrm rot="0" flipH="0" flipV="0">
              <a:off x="2020" y="1332"/>
              <a:ext cx="5427248" cy="622731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15425259" name="Flowchart: Alternate process 14"/>
            <p:cNvSpPr/>
            <p:nvPr/>
          </p:nvSpPr>
          <p:spPr bwMode="auto">
            <a:xfrm rot="16199998" flipH="0" flipV="0">
              <a:off x="13026" y="-13026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grpSp>
        <p:nvGrpSpPr>
          <p:cNvPr id="364873856" name="Group 71"/>
          <p:cNvGrpSpPr/>
          <p:nvPr/>
        </p:nvGrpSpPr>
        <p:grpSpPr bwMode="auto">
          <a:xfrm flipH="0" flipV="0">
            <a:off x="6409156" y="2245461"/>
            <a:ext cx="5429269" cy="629307"/>
            <a:chOff x="0" y="0"/>
            <a:chExt cx="5429269" cy="629307"/>
          </a:xfrm>
        </p:grpSpPr>
        <p:sp>
          <p:nvSpPr>
            <p:cNvPr id="21532888" name="Flowchart: Alternate process 72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66997586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1744562795" name="Rectangle 75"/>
          <p:cNvSpPr txBox="1"/>
          <p:nvPr/>
        </p:nvSpPr>
        <p:spPr bwMode="auto">
          <a:xfrm rot="0" flipH="0" flipV="0">
            <a:off x="7217042" y="1525697"/>
            <a:ext cx="45359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1800" b="0" i="0" u="none" strike="noStrike" cap="none" spc="0">
                <a:solidFill>
                  <a:schemeClr val="bg1"/>
                </a:solidFill>
                <a:latin typeface="Michroma"/>
                <a:ea typeface="Michroma"/>
                <a:cs typeface="Michroma"/>
              </a:rPr>
              <a:t>Rifinitura cruscotto di valutazone della qualità</a:t>
            </a:r>
            <a:endParaRPr/>
          </a:p>
        </p:txBody>
      </p:sp>
      <p:sp>
        <p:nvSpPr>
          <p:cNvPr id="110269571" name="Rectangle 76"/>
          <p:cNvSpPr txBox="1"/>
          <p:nvPr/>
        </p:nvSpPr>
        <p:spPr bwMode="auto">
          <a:xfrm rot="0" flipH="0" flipV="0">
            <a:off x="7246990" y="2218306"/>
            <a:ext cx="457193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chemeClr val="bg1"/>
                </a:solidFill>
                <a:latin typeface="Michroma"/>
                <a:cs typeface="Michroma"/>
              </a:rPr>
              <a:t>Implementazione cruscotto rendicontazione ore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sp>
        <p:nvSpPr>
          <p:cNvPr id="706944115" name="Rectangle 82"/>
          <p:cNvSpPr txBox="1"/>
          <p:nvPr/>
        </p:nvSpPr>
        <p:spPr bwMode="auto">
          <a:xfrm rot="0" flipH="0" flipV="0">
            <a:off x="6430999" y="1474438"/>
            <a:ext cx="82739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1200" b="1">
                <a:solidFill>
                  <a:srgbClr val="FFFFFF"/>
                </a:solidFill>
              </a:rPr>
              <a:t>expec.</a:t>
            </a:r>
            <a:endParaRPr sz="1200" b="1">
              <a:solidFill>
                <a:srgbClr val="FFFFFF"/>
              </a:solidFill>
            </a:endParaRPr>
          </a:p>
          <a:p>
            <a:pPr>
              <a:defRPr/>
            </a:pPr>
            <a:r>
              <a:rPr lang="fr-FR" sz="2800" b="1">
                <a:solidFill>
                  <a:srgbClr val="FF0000"/>
                </a:solidFill>
              </a:rPr>
              <a:t> 2</a:t>
            </a:r>
            <a:endParaRPr sz="1400" b="1"/>
          </a:p>
        </p:txBody>
      </p:sp>
      <p:sp>
        <p:nvSpPr>
          <p:cNvPr id="1407959408" name="Flowchart: Alternate process 103"/>
          <p:cNvSpPr/>
          <p:nvPr/>
        </p:nvSpPr>
        <p:spPr bwMode="auto">
          <a:xfrm rot="0" flipH="0" flipV="0">
            <a:off x="7361816" y="911263"/>
            <a:ext cx="3661831" cy="430587"/>
          </a:xfrm>
          <a:prstGeom prst="flowChartAlternateProcess">
            <a:avLst/>
          </a:prstGeom>
          <a:gradFill>
            <a:gsLst>
              <a:gs pos="0">
                <a:srgbClr val="9551F3">
                  <a:alpha val="99999"/>
                </a:srgbClr>
              </a:gs>
              <a:gs pos="100000">
                <a:srgbClr val="002060">
                  <a:alpha val="99999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fr-FR" b="1">
                <a:latin typeface="Michroma"/>
                <a:ea typeface="Michroma"/>
                <a:cs typeface="Michroma"/>
              </a:rPr>
              <a:t>Deadline : </a:t>
            </a:r>
            <a:r>
              <a:rPr lang="fr-FR" b="1">
                <a:solidFill>
                  <a:srgbClr val="FF0000"/>
                </a:solidFill>
                <a:latin typeface="Michroma"/>
                <a:ea typeface="Michroma"/>
                <a:cs typeface="Michroma"/>
              </a:rPr>
              <a:t>3 </a:t>
            </a:r>
            <a:r>
              <a:rPr lang="fr-FR" b="1">
                <a:latin typeface="Michroma"/>
                <a:cs typeface="Michroma"/>
              </a:rPr>
              <a:t>Novembre</a:t>
            </a:r>
            <a:endParaRPr b="1">
              <a:latin typeface="Michroma"/>
              <a:cs typeface="Michroma"/>
            </a:endParaRPr>
          </a:p>
        </p:txBody>
      </p:sp>
      <p:grpSp>
        <p:nvGrpSpPr>
          <p:cNvPr id="1976380679" name="Group 110"/>
          <p:cNvGrpSpPr/>
          <p:nvPr/>
        </p:nvGrpSpPr>
        <p:grpSpPr bwMode="auto">
          <a:xfrm flipH="0" flipV="0">
            <a:off x="281007" y="5208175"/>
            <a:ext cx="5429270" cy="629307"/>
            <a:chOff x="0" y="0"/>
            <a:chExt cx="5429270" cy="629307"/>
          </a:xfrm>
        </p:grpSpPr>
        <p:sp>
          <p:nvSpPr>
            <p:cNvPr id="675258396" name="Flowchart: Alternate process 111"/>
            <p:cNvSpPr/>
            <p:nvPr/>
          </p:nvSpPr>
          <p:spPr bwMode="auto">
            <a:xfrm rot="0" flipH="0" flipV="0">
              <a:off x="2020" y="1332"/>
              <a:ext cx="5427248" cy="622731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40959645" name="Flowchart: Alternate process 14"/>
            <p:cNvSpPr/>
            <p:nvPr/>
          </p:nvSpPr>
          <p:spPr bwMode="auto">
            <a:xfrm rot="16199998" flipH="0" flipV="0">
              <a:off x="13026" y="-13026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grpSp>
        <p:nvGrpSpPr>
          <p:cNvPr id="1475549340" name="Group 112"/>
          <p:cNvGrpSpPr/>
          <p:nvPr/>
        </p:nvGrpSpPr>
        <p:grpSpPr bwMode="auto">
          <a:xfrm flipH="0" flipV="0">
            <a:off x="287261" y="5941242"/>
            <a:ext cx="5429269" cy="629307"/>
            <a:chOff x="0" y="0"/>
            <a:chExt cx="5429269" cy="629307"/>
          </a:xfrm>
        </p:grpSpPr>
        <p:sp>
          <p:nvSpPr>
            <p:cNvPr id="341595704" name="Flowchart: Alternate process 113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21288327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1832354937" name="Rectangle 114"/>
          <p:cNvSpPr txBox="1"/>
          <p:nvPr/>
        </p:nvSpPr>
        <p:spPr bwMode="auto">
          <a:xfrm rot="0" flipH="0" flipV="0">
            <a:off x="1084563" y="5369645"/>
            <a:ext cx="457661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1800" b="0" i="0" u="none" strike="noStrike" cap="none" spc="0">
                <a:solidFill>
                  <a:schemeClr val="bg1"/>
                </a:solidFill>
                <a:latin typeface="Michroma"/>
                <a:ea typeface="Michroma"/>
                <a:cs typeface="Michroma"/>
              </a:rPr>
              <a:t>Preparazione slide DdB</a:t>
            </a:r>
            <a:endParaRPr sz="1800">
              <a:solidFill>
                <a:schemeClr val="bg1"/>
              </a:solidFill>
              <a:latin typeface="Michroma"/>
              <a:cs typeface="Michroma"/>
            </a:endParaRPr>
          </a:p>
          <a:p>
            <a:pPr>
              <a:defRPr/>
            </a:pPr>
            <a:endParaRPr/>
          </a:p>
        </p:txBody>
      </p:sp>
      <p:sp>
        <p:nvSpPr>
          <p:cNvPr id="1227451409" name="Rectangle 115"/>
          <p:cNvSpPr txBox="1"/>
          <p:nvPr/>
        </p:nvSpPr>
        <p:spPr bwMode="auto">
          <a:xfrm rot="0" flipH="0" flipV="0">
            <a:off x="1072177" y="5935253"/>
            <a:ext cx="4762125" cy="914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1800" b="0" i="0" u="none" strike="noStrike" cap="none" spc="0">
                <a:solidFill>
                  <a:schemeClr val="bg1"/>
                </a:solidFill>
                <a:latin typeface="Michroma"/>
                <a:ea typeface="Michroma"/>
                <a:cs typeface="Michroma"/>
              </a:rPr>
              <a:t>Stesura verbali incontri esterni (VarGroup) ed interni (3)</a:t>
            </a:r>
            <a:endParaRPr sz="1800">
              <a:solidFill>
                <a:schemeClr val="bg1"/>
              </a:solidFill>
              <a:latin typeface="Michroma"/>
              <a:cs typeface="Michroma"/>
            </a:endParaRPr>
          </a:p>
          <a:p>
            <a:pPr>
              <a:defRPr/>
            </a:pPr>
            <a:endParaRPr/>
          </a:p>
        </p:txBody>
      </p:sp>
      <p:sp>
        <p:nvSpPr>
          <p:cNvPr id="156510923" name="Rectangle 116"/>
          <p:cNvSpPr txBox="1"/>
          <p:nvPr/>
        </p:nvSpPr>
        <p:spPr bwMode="auto">
          <a:xfrm rot="0" flipH="0" flipV="0">
            <a:off x="298520" y="5159637"/>
            <a:ext cx="8284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1200" b="1">
                <a:solidFill>
                  <a:srgbClr val="FFFFFF"/>
                </a:solidFill>
              </a:rPr>
              <a:t>expec.</a:t>
            </a:r>
            <a:endParaRPr sz="1200" b="1">
              <a:solidFill>
                <a:srgbClr val="FFFFFF"/>
              </a:solidFill>
            </a:endParaRPr>
          </a:p>
          <a:p>
            <a:pPr>
              <a:defRPr/>
            </a:pPr>
            <a:r>
              <a:rPr lang="fr-FR" sz="2800" b="1">
                <a:solidFill>
                  <a:srgbClr val="FF0000"/>
                </a:solidFill>
              </a:rPr>
              <a:t> 1</a:t>
            </a:r>
            <a:endParaRPr sz="1400" b="1"/>
          </a:p>
        </p:txBody>
      </p:sp>
      <p:sp>
        <p:nvSpPr>
          <p:cNvPr id="1456918560" name="Rectangle 117"/>
          <p:cNvSpPr txBox="1"/>
          <p:nvPr/>
        </p:nvSpPr>
        <p:spPr bwMode="auto">
          <a:xfrm rot="0" flipH="0" flipV="0">
            <a:off x="295534" y="5905197"/>
            <a:ext cx="82343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1200" b="1">
                <a:solidFill>
                  <a:srgbClr val="FFFFFF"/>
                </a:solidFill>
              </a:rPr>
              <a:t>expec.</a:t>
            </a:r>
            <a:endParaRPr sz="1200" b="1">
              <a:solidFill>
                <a:srgbClr val="FFFFFF"/>
              </a:solidFill>
            </a:endParaRPr>
          </a:p>
          <a:p>
            <a:pPr>
              <a:defRPr/>
            </a:pPr>
            <a:r>
              <a:rPr lang="fr-FR" sz="2800" b="1">
                <a:solidFill>
                  <a:srgbClr val="FF0000"/>
                </a:solidFill>
              </a:rPr>
              <a:t> 1</a:t>
            </a:r>
            <a:endParaRPr sz="1400" b="1"/>
          </a:p>
        </p:txBody>
      </p:sp>
      <p:sp>
        <p:nvSpPr>
          <p:cNvPr id="422265623" name="Flowchart: Alternate process 118"/>
          <p:cNvSpPr/>
          <p:nvPr/>
        </p:nvSpPr>
        <p:spPr bwMode="auto">
          <a:xfrm rot="0" flipH="0" flipV="0">
            <a:off x="1229833" y="4626237"/>
            <a:ext cx="3661831" cy="430587"/>
          </a:xfrm>
          <a:prstGeom prst="flowChartAlternateProcess">
            <a:avLst/>
          </a:prstGeom>
          <a:gradFill>
            <a:gsLst>
              <a:gs pos="0">
                <a:srgbClr val="9551F3">
                  <a:alpha val="99999"/>
                </a:srgbClr>
              </a:gs>
              <a:gs pos="100000">
                <a:srgbClr val="002060">
                  <a:alpha val="99999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fr-FR" b="1">
                <a:latin typeface="Michroma"/>
                <a:ea typeface="Michroma"/>
                <a:cs typeface="Michroma"/>
              </a:rPr>
              <a:t>Deadline : </a:t>
            </a:r>
            <a:r>
              <a:rPr lang="fr-FR" b="1">
                <a:solidFill>
                  <a:srgbClr val="FF0000"/>
                </a:solidFill>
                <a:latin typeface="Michroma"/>
                <a:ea typeface="Michroma"/>
                <a:cs typeface="Michroma"/>
              </a:rPr>
              <a:t>2 </a:t>
            </a:r>
            <a:r>
              <a:rPr lang="fr-FR" b="1">
                <a:latin typeface="Michroma"/>
                <a:cs typeface="Michroma"/>
              </a:rPr>
              <a:t>Novembre</a:t>
            </a:r>
            <a:endParaRPr b="1">
              <a:latin typeface="Michroma"/>
              <a:cs typeface="Michroma"/>
            </a:endParaRPr>
          </a:p>
        </p:txBody>
      </p:sp>
      <p:sp>
        <p:nvSpPr>
          <p:cNvPr id="319321418" name="Rectangle 119"/>
          <p:cNvSpPr txBox="1"/>
          <p:nvPr/>
        </p:nvSpPr>
        <p:spPr bwMode="auto">
          <a:xfrm rot="0" flipH="0" flipV="0">
            <a:off x="6430999" y="2189643"/>
            <a:ext cx="8284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1200" b="1">
                <a:solidFill>
                  <a:srgbClr val="FFFFFF"/>
                </a:solidFill>
              </a:rPr>
              <a:t>expec.</a:t>
            </a:r>
            <a:endParaRPr sz="1200" b="1">
              <a:solidFill>
                <a:srgbClr val="FFFFFF"/>
              </a:solidFill>
            </a:endParaRPr>
          </a:p>
          <a:p>
            <a:pPr>
              <a:defRPr/>
            </a:pPr>
            <a:r>
              <a:rPr lang="fr-FR" sz="2800" b="1">
                <a:solidFill>
                  <a:srgbClr val="FF0000"/>
                </a:solidFill>
              </a:rPr>
              <a:t> 3</a:t>
            </a:r>
            <a:endParaRPr sz="14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58826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-6349"/>
            <a:ext cx="10515600" cy="144979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ctr">
              <a:defRPr/>
            </a:pPr>
            <a:r>
              <a:rPr lang="fr-FR" sz="3300" b="0" i="0" u="none" strike="noStrike" cap="none" spc="0">
                <a:solidFill>
                  <a:schemeClr val="bg1"/>
                </a:solidFill>
                <a:latin typeface="Michroma"/>
                <a:ea typeface="Michroma"/>
                <a:cs typeface="Michroma"/>
              </a:rPr>
              <a:t>Difficoltà incontrate</a:t>
            </a:r>
            <a:endParaRPr sz="3300">
              <a:solidFill>
                <a:schemeClr val="bg1"/>
              </a:solidFill>
              <a:latin typeface="Michroma"/>
              <a:cs typeface="Michroma"/>
            </a:endParaRPr>
          </a:p>
          <a:p>
            <a:pPr>
              <a:defRPr/>
            </a:pPr>
            <a:endParaRPr/>
          </a:p>
        </p:txBody>
      </p:sp>
      <p:grpSp>
        <p:nvGrpSpPr>
          <p:cNvPr id="1642813831" name="Group 2"/>
          <p:cNvGrpSpPr/>
          <p:nvPr/>
        </p:nvGrpSpPr>
        <p:grpSpPr bwMode="auto">
          <a:xfrm flipH="0" flipV="0">
            <a:off x="3374098" y="1114279"/>
            <a:ext cx="5429270" cy="629307"/>
            <a:chOff x="0" y="0"/>
            <a:chExt cx="5429270" cy="629307"/>
          </a:xfrm>
        </p:grpSpPr>
        <p:sp>
          <p:nvSpPr>
            <p:cNvPr id="1272424536" name="Flowchart: Alternate process 3"/>
            <p:cNvSpPr/>
            <p:nvPr/>
          </p:nvSpPr>
          <p:spPr bwMode="auto">
            <a:xfrm rot="0" flipH="0" flipV="0">
              <a:off x="2020" y="1332"/>
              <a:ext cx="5427248" cy="622731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9396385" name="Flowchart: Alternate process 14"/>
            <p:cNvSpPr/>
            <p:nvPr/>
          </p:nvSpPr>
          <p:spPr bwMode="auto">
            <a:xfrm rot="16199998" flipH="0" flipV="0">
              <a:off x="13026" y="-13026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grpSp>
        <p:nvGrpSpPr>
          <p:cNvPr id="615621734" name="Group 5"/>
          <p:cNvGrpSpPr/>
          <p:nvPr/>
        </p:nvGrpSpPr>
        <p:grpSpPr bwMode="auto">
          <a:xfrm flipH="0" flipV="0">
            <a:off x="3380352" y="2016680"/>
            <a:ext cx="5429269" cy="629307"/>
            <a:chOff x="0" y="0"/>
            <a:chExt cx="5429269" cy="629307"/>
          </a:xfrm>
        </p:grpSpPr>
        <p:sp>
          <p:nvSpPr>
            <p:cNvPr id="306542886" name="Flowchart: Alternate process 6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58828960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grpSp>
        <p:nvGrpSpPr>
          <p:cNvPr id="101935286" name="Group 8"/>
          <p:cNvGrpSpPr/>
          <p:nvPr/>
        </p:nvGrpSpPr>
        <p:grpSpPr bwMode="auto">
          <a:xfrm flipH="0" flipV="0">
            <a:off x="3384585" y="2887629"/>
            <a:ext cx="5429269" cy="629307"/>
            <a:chOff x="0" y="0"/>
            <a:chExt cx="5429269" cy="629307"/>
          </a:xfrm>
        </p:grpSpPr>
        <p:sp>
          <p:nvSpPr>
            <p:cNvPr id="360007384" name="Flowchart: Alternate process 9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00652567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1893463342" name="Rectangle 14"/>
          <p:cNvSpPr txBox="1"/>
          <p:nvPr/>
        </p:nvSpPr>
        <p:spPr bwMode="auto">
          <a:xfrm rot="0" flipH="0" flipV="0">
            <a:off x="4165269" y="1222832"/>
            <a:ext cx="451541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chemeClr val="bg1"/>
                </a:solidFill>
                <a:latin typeface="Michroma"/>
                <a:cs typeface="Michroma"/>
              </a:rPr>
              <a:t>Scelta capitolati perseguibili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sp>
        <p:nvSpPr>
          <p:cNvPr id="515025448" name="Rectangle 15"/>
          <p:cNvSpPr txBox="1"/>
          <p:nvPr/>
        </p:nvSpPr>
        <p:spPr bwMode="auto">
          <a:xfrm rot="0" flipH="0" flipV="0">
            <a:off x="4165269" y="2148275"/>
            <a:ext cx="452081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chemeClr val="bg1"/>
                </a:solidFill>
                <a:latin typeface="Michroma"/>
                <a:ea typeface="Michroma"/>
                <a:cs typeface="Michroma"/>
              </a:rPr>
              <a:t>Gestione slot orari sincroni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sp>
        <p:nvSpPr>
          <p:cNvPr id="1257531497" name="Rectangle 16"/>
          <p:cNvSpPr txBox="1"/>
          <p:nvPr/>
        </p:nvSpPr>
        <p:spPr bwMode="auto">
          <a:xfrm rot="0" flipH="0" flipV="0">
            <a:off x="4177869" y="3009963"/>
            <a:ext cx="45182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chemeClr val="bg1"/>
                </a:solidFill>
                <a:latin typeface="Michroma"/>
                <a:cs typeface="Michroma"/>
              </a:rPr>
              <a:t>Stesura template verbali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grpSp>
        <p:nvGrpSpPr>
          <p:cNvPr id="1418125491" name="Group 66"/>
          <p:cNvGrpSpPr/>
          <p:nvPr/>
        </p:nvGrpSpPr>
        <p:grpSpPr bwMode="auto">
          <a:xfrm flipH="0" flipV="0">
            <a:off x="3378235" y="3759695"/>
            <a:ext cx="5429269" cy="629307"/>
            <a:chOff x="0" y="0"/>
            <a:chExt cx="5429269" cy="629307"/>
          </a:xfrm>
        </p:grpSpPr>
        <p:sp>
          <p:nvSpPr>
            <p:cNvPr id="1543494812" name="Flowchart: Alternate process 67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85116193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391309709" name="Rectangle 68"/>
          <p:cNvSpPr txBox="1"/>
          <p:nvPr/>
        </p:nvSpPr>
        <p:spPr bwMode="auto">
          <a:xfrm rot="0" flipH="0" flipV="0">
            <a:off x="4171519" y="3882029"/>
            <a:ext cx="452657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chemeClr val="bg1"/>
                </a:solidFill>
                <a:latin typeface="Michroma"/>
                <a:cs typeface="Michroma"/>
              </a:rPr>
              <a:t>Stesura resoconto capitolati</a:t>
            </a:r>
            <a:endParaRPr lang="fr-FR">
              <a:solidFill>
                <a:schemeClr val="bg1"/>
              </a:solidFill>
              <a:latin typeface="Michroma"/>
              <a:cs typeface="Michroma"/>
            </a:endParaRPr>
          </a:p>
        </p:txBody>
      </p:sp>
      <p:grpSp>
        <p:nvGrpSpPr>
          <p:cNvPr id="1274811468" name="Group 118"/>
          <p:cNvGrpSpPr/>
          <p:nvPr/>
        </p:nvGrpSpPr>
        <p:grpSpPr bwMode="auto">
          <a:xfrm flipH="0" flipV="0">
            <a:off x="3382468" y="4621178"/>
            <a:ext cx="5429269" cy="629307"/>
            <a:chOff x="0" y="0"/>
            <a:chExt cx="5429269" cy="629307"/>
          </a:xfrm>
        </p:grpSpPr>
        <p:sp>
          <p:nvSpPr>
            <p:cNvPr id="771524387" name="Flowchart: Alternate process 119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59182273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1923620486" name="Rectangle 120"/>
          <p:cNvSpPr txBox="1"/>
          <p:nvPr/>
        </p:nvSpPr>
        <p:spPr bwMode="auto">
          <a:xfrm rot="0" flipH="0" flipV="0">
            <a:off x="4175752" y="4743512"/>
            <a:ext cx="469596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chemeClr val="bg1"/>
                </a:solidFill>
                <a:latin typeface="Michroma"/>
                <a:cs typeface="Michroma"/>
              </a:rPr>
              <a:t>Scelta revisore fisso o variabile</a:t>
            </a:r>
            <a:endParaRPr lang="fr-FR">
              <a:solidFill>
                <a:schemeClr val="bg1"/>
              </a:solidFill>
              <a:latin typeface="Michroma"/>
              <a:cs typeface="Michroma"/>
            </a:endParaRPr>
          </a:p>
        </p:txBody>
      </p:sp>
      <p:pic>
        <p:nvPicPr>
          <p:cNvPr id="1650781369" name="Picture 22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</p:blipFill>
        <p:spPr bwMode="auto">
          <a:xfrm flipH="0" flipV="0">
            <a:off x="3477816" y="1209734"/>
            <a:ext cx="467430" cy="467430"/>
          </a:xfrm>
          <a:prstGeom prst="rect">
            <a:avLst/>
          </a:prstGeom>
        </p:spPr>
      </p:pic>
      <p:pic>
        <p:nvPicPr>
          <p:cNvPr id="708677029" name="Picture 25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</p:blipFill>
        <p:spPr bwMode="auto">
          <a:xfrm flipH="0" flipV="0">
            <a:off x="3488399" y="2097618"/>
            <a:ext cx="467430" cy="467430"/>
          </a:xfrm>
          <a:prstGeom prst="rect">
            <a:avLst/>
          </a:prstGeom>
        </p:spPr>
      </p:pic>
      <p:pic>
        <p:nvPicPr>
          <p:cNvPr id="1755164147" name="Picture 26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</p:blipFill>
        <p:spPr bwMode="auto">
          <a:xfrm flipH="0" flipV="0">
            <a:off x="3488399" y="2972152"/>
            <a:ext cx="467430" cy="467430"/>
          </a:xfrm>
          <a:prstGeom prst="rect">
            <a:avLst/>
          </a:prstGeom>
        </p:spPr>
      </p:pic>
      <p:pic>
        <p:nvPicPr>
          <p:cNvPr id="1770250824" name="Picture 27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</p:blipFill>
        <p:spPr bwMode="auto">
          <a:xfrm flipH="0" flipV="0">
            <a:off x="3488399" y="3841956"/>
            <a:ext cx="467430" cy="467430"/>
          </a:xfrm>
          <a:prstGeom prst="rect">
            <a:avLst/>
          </a:prstGeom>
        </p:spPr>
      </p:pic>
      <p:pic>
        <p:nvPicPr>
          <p:cNvPr id="1866091378" name="Picture 28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</p:blipFill>
        <p:spPr bwMode="auto">
          <a:xfrm flipH="0" flipV="0">
            <a:off x="3477816" y="4692855"/>
            <a:ext cx="467430" cy="467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25892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-7573" y="-6349"/>
            <a:ext cx="12211049" cy="144979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ctr">
              <a:defRPr/>
            </a:pPr>
            <a:r>
              <a:rPr lang="fr-FR" sz="3300" b="0" i="0" u="none" strike="noStrike" cap="none" spc="0">
                <a:solidFill>
                  <a:schemeClr val="bg1"/>
                </a:solidFill>
                <a:latin typeface="Michroma"/>
                <a:ea typeface="Michroma"/>
                <a:cs typeface="Michroma"/>
              </a:rPr>
              <a:t>Dubbi ed incertezze su come procedere</a:t>
            </a:r>
            <a:endParaRPr sz="3300">
              <a:solidFill>
                <a:schemeClr val="bg1"/>
              </a:solidFill>
              <a:latin typeface="Michroma"/>
              <a:cs typeface="Michroma"/>
            </a:endParaRPr>
          </a:p>
          <a:p>
            <a:pPr>
              <a:defRPr/>
            </a:pPr>
            <a:endParaRPr/>
          </a:p>
        </p:txBody>
      </p:sp>
      <p:grpSp>
        <p:nvGrpSpPr>
          <p:cNvPr id="1271397403" name="Group 22"/>
          <p:cNvGrpSpPr/>
          <p:nvPr/>
        </p:nvGrpSpPr>
        <p:grpSpPr bwMode="auto">
          <a:xfrm flipH="0" flipV="0">
            <a:off x="3370148" y="1107545"/>
            <a:ext cx="5429270" cy="629307"/>
            <a:chOff x="0" y="0"/>
            <a:chExt cx="5429270" cy="629307"/>
          </a:xfrm>
        </p:grpSpPr>
        <p:sp>
          <p:nvSpPr>
            <p:cNvPr id="647316861" name="Flowchart: Alternate process 23"/>
            <p:cNvSpPr/>
            <p:nvPr/>
          </p:nvSpPr>
          <p:spPr bwMode="auto">
            <a:xfrm rot="0" flipH="0" flipV="0">
              <a:off x="2020" y="1332"/>
              <a:ext cx="5427248" cy="622731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003457" name="Flowchart: Alternate process 14"/>
            <p:cNvSpPr/>
            <p:nvPr/>
          </p:nvSpPr>
          <p:spPr bwMode="auto">
            <a:xfrm rot="16199998" flipH="0" flipV="0">
              <a:off x="13026" y="-13026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grpSp>
        <p:nvGrpSpPr>
          <p:cNvPr id="1895012621" name="Group 24"/>
          <p:cNvGrpSpPr/>
          <p:nvPr/>
        </p:nvGrpSpPr>
        <p:grpSpPr bwMode="auto">
          <a:xfrm flipH="0" flipV="0">
            <a:off x="3376402" y="2041696"/>
            <a:ext cx="5429269" cy="629307"/>
            <a:chOff x="0" y="0"/>
            <a:chExt cx="5429269" cy="629307"/>
          </a:xfrm>
        </p:grpSpPr>
        <p:sp>
          <p:nvSpPr>
            <p:cNvPr id="1433911600" name="Flowchart: Alternate process 25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6515172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grpSp>
        <p:nvGrpSpPr>
          <p:cNvPr id="1332884706" name="Group 26"/>
          <p:cNvGrpSpPr/>
          <p:nvPr/>
        </p:nvGrpSpPr>
        <p:grpSpPr bwMode="auto">
          <a:xfrm flipH="0" flipV="0">
            <a:off x="3380635" y="2912645"/>
            <a:ext cx="5429269" cy="629307"/>
            <a:chOff x="0" y="0"/>
            <a:chExt cx="5429269" cy="629307"/>
          </a:xfrm>
        </p:grpSpPr>
        <p:sp>
          <p:nvSpPr>
            <p:cNvPr id="2076798890" name="Flowchart: Alternate process 27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60284000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grpSp>
        <p:nvGrpSpPr>
          <p:cNvPr id="814642713" name="Group 28"/>
          <p:cNvGrpSpPr/>
          <p:nvPr/>
        </p:nvGrpSpPr>
        <p:grpSpPr bwMode="auto">
          <a:xfrm flipH="0" flipV="0">
            <a:off x="3380635" y="3800591"/>
            <a:ext cx="5429269" cy="629307"/>
            <a:chOff x="0" y="0"/>
            <a:chExt cx="5429269" cy="629307"/>
          </a:xfrm>
        </p:grpSpPr>
        <p:sp>
          <p:nvSpPr>
            <p:cNvPr id="1044819861" name="Flowchart: Alternate process 29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56013774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1398838450" name="Rectangle 30"/>
          <p:cNvSpPr txBox="1"/>
          <p:nvPr/>
        </p:nvSpPr>
        <p:spPr bwMode="auto">
          <a:xfrm rot="0" flipH="0" flipV="0">
            <a:off x="4161319" y="1216098"/>
            <a:ext cx="45236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chemeClr val="bg1"/>
                </a:solidFill>
                <a:latin typeface="Michroma"/>
                <a:ea typeface="Michroma"/>
                <a:cs typeface="Michroma"/>
              </a:rPr>
              <a:t>Processo di candiatur</a:t>
            </a:r>
            <a:r>
              <a:rPr lang="fr-FR">
                <a:solidFill>
                  <a:schemeClr val="bg1"/>
                </a:solidFill>
                <a:latin typeface="Michroma"/>
                <a:cs typeface="Michroma"/>
              </a:rPr>
              <a:t>a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sp>
        <p:nvSpPr>
          <p:cNvPr id="918774975" name="Rectangle 31"/>
          <p:cNvSpPr txBox="1"/>
          <p:nvPr/>
        </p:nvSpPr>
        <p:spPr bwMode="auto">
          <a:xfrm rot="0" flipH="0" flipV="0">
            <a:off x="4161319" y="2173291"/>
            <a:ext cx="451325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chemeClr val="bg1"/>
                </a:solidFill>
                <a:latin typeface="Michroma"/>
                <a:ea typeface="Michroma"/>
                <a:cs typeface="Michroma"/>
              </a:rPr>
              <a:t>Equa rotazione dei ruoli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sp>
        <p:nvSpPr>
          <p:cNvPr id="1241125804" name="Rectangle 32"/>
          <p:cNvSpPr txBox="1"/>
          <p:nvPr/>
        </p:nvSpPr>
        <p:spPr bwMode="auto">
          <a:xfrm rot="0" flipH="0" flipV="0">
            <a:off x="4184164" y="3034979"/>
            <a:ext cx="45200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chemeClr val="bg1"/>
                </a:solidFill>
                <a:latin typeface="Michroma"/>
                <a:ea typeface="Michroma"/>
                <a:cs typeface="Michroma"/>
              </a:rPr>
              <a:t>Efficace cruscotto qualità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sp>
        <p:nvSpPr>
          <p:cNvPr id="240544430" name="Rectangle 33"/>
          <p:cNvSpPr txBox="1"/>
          <p:nvPr/>
        </p:nvSpPr>
        <p:spPr bwMode="auto">
          <a:xfrm rot="0" flipH="0" flipV="0">
            <a:off x="4179700" y="3961415"/>
            <a:ext cx="452801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1800" b="0" i="0" u="none" strike="noStrike" cap="none" spc="0">
                <a:solidFill>
                  <a:schemeClr val="bg1"/>
                </a:solidFill>
                <a:latin typeface="Michroma"/>
                <a:ea typeface="Michroma"/>
                <a:cs typeface="Michroma"/>
              </a:rPr>
              <a:t>Efficace cruscotto ore</a:t>
            </a:r>
            <a:endParaRPr sz="1800">
              <a:solidFill>
                <a:schemeClr val="bg1"/>
              </a:solidFill>
              <a:latin typeface="Michroma"/>
              <a:cs typeface="Michroma"/>
            </a:endParaRPr>
          </a:p>
          <a:p>
            <a:pPr>
              <a:defRPr/>
            </a:pPr>
            <a:endParaRPr>
              <a:solidFill>
                <a:schemeClr val="bg2"/>
              </a:solidFill>
              <a:latin typeface="Michroma"/>
              <a:cs typeface="Michroma"/>
            </a:endParaRPr>
          </a:p>
        </p:txBody>
      </p:sp>
      <p:grpSp>
        <p:nvGrpSpPr>
          <p:cNvPr id="210765346" name="Group 34"/>
          <p:cNvGrpSpPr/>
          <p:nvPr/>
        </p:nvGrpSpPr>
        <p:grpSpPr bwMode="auto">
          <a:xfrm flipH="0" flipV="0">
            <a:off x="3394004" y="4683240"/>
            <a:ext cx="5429269" cy="629307"/>
            <a:chOff x="0" y="0"/>
            <a:chExt cx="5429269" cy="629307"/>
          </a:xfrm>
        </p:grpSpPr>
        <p:sp>
          <p:nvSpPr>
            <p:cNvPr id="1404609119" name="Flowchart: Alternate process 35"/>
            <p:cNvSpPr/>
            <p:nvPr/>
          </p:nvSpPr>
          <p:spPr bwMode="auto">
            <a:xfrm rot="0" flipH="0" flipV="0">
              <a:off x="2019" y="1332"/>
              <a:ext cx="5427248" cy="622730"/>
            </a:xfrm>
            <a:prstGeom prst="flowChartAlternateProcess">
              <a:avLst/>
            </a:prstGeom>
            <a:solidFill>
              <a:srgbClr val="232B40">
                <a:alpha val="99999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48470090" name="Flowchart: Alternate process 14"/>
            <p:cNvSpPr/>
            <p:nvPr/>
          </p:nvSpPr>
          <p:spPr bwMode="auto">
            <a:xfrm rot="16199998" flipH="0" flipV="0">
              <a:off x="13025" y="-13025"/>
              <a:ext cx="629307" cy="655362"/>
            </a:xfrm>
            <a:custGeom>
              <a:avLst>
                <a:gd name="adj1" fmla="val 16667"/>
                <a:gd name="adj2" fmla="val 0"/>
              </a:avLst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047" y="34"/>
                  </a:moveTo>
                  <a:cubicBezTo>
                    <a:pt x="17867" y="57"/>
                    <a:pt x="23829" y="349"/>
                    <a:pt x="35946" y="34"/>
                  </a:cubicBezTo>
                  <a:cubicBezTo>
                    <a:pt x="38421" y="229"/>
                    <a:pt x="40802" y="757"/>
                    <a:pt x="42087" y="3278"/>
                  </a:cubicBezTo>
                  <a:cubicBezTo>
                    <a:pt x="43077" y="5219"/>
                    <a:pt x="43309" y="8538"/>
                    <a:pt x="43090" y="12589"/>
                  </a:cubicBezTo>
                  <a:cubicBezTo>
                    <a:pt x="43169" y="23342"/>
                    <a:pt x="42918" y="32996"/>
                    <a:pt x="42831" y="43200"/>
                  </a:cubicBezTo>
                  <a:lnTo>
                    <a:pt x="89" y="43200"/>
                  </a:lnTo>
                  <a:lnTo>
                    <a:pt x="221" y="9827"/>
                  </a:lnTo>
                  <a:cubicBezTo>
                    <a:pt x="-663" y="4244"/>
                    <a:pt x="2603" y="-102"/>
                    <a:pt x="8047" y="34"/>
                  </a:cubicBezTo>
                  <a:close/>
                </a:path>
              </a:pathLst>
            </a:custGeom>
            <a:gradFill>
              <a:gsLst>
                <a:gs pos="0">
                  <a:srgbClr val="9551F3">
                    <a:alpha val="99999"/>
                  </a:srgbClr>
                </a:gs>
                <a:gs pos="100000">
                  <a:srgbClr val="002060">
                    <a:alpha val="99999"/>
                  </a:srgbClr>
                </a:gs>
              </a:gsLst>
              <a:lin ang="2700000" scaled="1"/>
            </a:gradFill>
            <a:ln w="6350" cap="flat" cmpd="sng" algn="ctr">
              <a:solidFill>
                <a:srgbClr val="0F0F1B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837646164" name="Rectangle 36"/>
          <p:cNvSpPr txBox="1"/>
          <p:nvPr/>
        </p:nvSpPr>
        <p:spPr bwMode="auto">
          <a:xfrm rot="0" flipH="0" flipV="0">
            <a:off x="4193069" y="4812313"/>
            <a:ext cx="456005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chemeClr val="bg1"/>
                </a:solidFill>
                <a:latin typeface="Michroma"/>
                <a:cs typeface="Michroma"/>
              </a:rPr>
              <a:t>Preventivo iniziale corretto</a:t>
            </a:r>
            <a:endParaRPr>
              <a:solidFill>
                <a:schemeClr val="bg1"/>
              </a:solidFill>
              <a:latin typeface="Michroma"/>
              <a:cs typeface="Michroma"/>
            </a:endParaRPr>
          </a:p>
        </p:txBody>
      </p:sp>
      <p:pic>
        <p:nvPicPr>
          <p:cNvPr id="891538462" name="Picture 22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</p:blipFill>
        <p:spPr bwMode="auto">
          <a:xfrm flipH="0" flipV="0">
            <a:off x="3477816" y="1199150"/>
            <a:ext cx="467430" cy="467430"/>
          </a:xfrm>
          <a:prstGeom prst="rect">
            <a:avLst/>
          </a:prstGeom>
        </p:spPr>
      </p:pic>
      <p:pic>
        <p:nvPicPr>
          <p:cNvPr id="934220758" name="Picture 23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</p:blipFill>
        <p:spPr bwMode="auto">
          <a:xfrm flipH="0" flipV="0">
            <a:off x="3477816" y="2122634"/>
            <a:ext cx="467430" cy="467430"/>
          </a:xfrm>
          <a:prstGeom prst="rect">
            <a:avLst/>
          </a:prstGeom>
        </p:spPr>
      </p:pic>
      <p:pic>
        <p:nvPicPr>
          <p:cNvPr id="2087555763" name="Picture 24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</p:blipFill>
        <p:spPr bwMode="auto">
          <a:xfrm flipH="0" flipV="0">
            <a:off x="3477816" y="2982062"/>
            <a:ext cx="467430" cy="467430"/>
          </a:xfrm>
          <a:prstGeom prst="rect">
            <a:avLst/>
          </a:prstGeom>
        </p:spPr>
      </p:pic>
      <p:pic>
        <p:nvPicPr>
          <p:cNvPr id="1046039785" name="Picture 25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</p:blipFill>
        <p:spPr bwMode="auto">
          <a:xfrm flipH="0" flipV="0">
            <a:off x="3488399" y="3870383"/>
            <a:ext cx="467430" cy="467430"/>
          </a:xfrm>
          <a:prstGeom prst="rect">
            <a:avLst/>
          </a:prstGeom>
        </p:spPr>
      </p:pic>
      <p:pic>
        <p:nvPicPr>
          <p:cNvPr id="1744546781" name="Picture 26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</p:blipFill>
        <p:spPr bwMode="auto">
          <a:xfrm flipH="0" flipV="0">
            <a:off x="3477816" y="4761657"/>
            <a:ext cx="467430" cy="467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796314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3886940" y="2514946"/>
            <a:ext cx="4703581" cy="1294743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lang="fr-FR" sz="3200" b="1">
                <a:solidFill>
                  <a:schemeClr val="bg1"/>
                </a:solidFill>
                <a:latin typeface="Michroma"/>
                <a:ea typeface="Michroma"/>
                <a:cs typeface="Michroma"/>
              </a:rPr>
              <a:t>Grazie per l’attenzione!</a:t>
            </a:r>
            <a:endParaRPr sz="3200">
              <a:solidFill>
                <a:schemeClr val="bg1"/>
              </a:solidFill>
              <a:latin typeface="Michroma"/>
              <a:cs typeface="Michroma"/>
            </a:endParaRPr>
          </a:p>
        </p:txBody>
      </p:sp>
      <p:sp>
        <p:nvSpPr>
          <p:cNvPr id="1783184892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4056664" y="3896103"/>
            <a:ext cx="4143864" cy="394222"/>
          </a:xfrm>
        </p:spPr>
        <p:txBody>
          <a:bodyPr/>
          <a:lstStyle/>
          <a:p>
            <a:pPr>
              <a:defRPr/>
            </a:pPr>
            <a:r>
              <a:rPr lang="fr-FR" sz="1400">
                <a:solidFill>
                  <a:srgbClr val="5576F6"/>
                </a:solidFill>
                <a:latin typeface="Michroma"/>
                <a:ea typeface="Michroma"/>
                <a:cs typeface="Michroma"/>
              </a:rPr>
              <a:t>Venite a trovarci su </a:t>
            </a:r>
            <a:r>
              <a:rPr lang="fr-FR" sz="1400" u="sng">
                <a:solidFill>
                  <a:srgbClr val="5576F6"/>
                </a:solidFill>
                <a:latin typeface="Michroma"/>
                <a:ea typeface="Michroma"/>
                <a:cs typeface="Michroma"/>
                <a:hlinkClick r:id="rId3" tooltip=""/>
              </a:rPr>
              <a:t>GitHub</a:t>
            </a:r>
            <a:endParaRPr sz="1600">
              <a:solidFill>
                <a:srgbClr val="5576F6"/>
              </a:solidFill>
              <a:latin typeface="Michroma"/>
              <a:cs typeface="Michroma"/>
            </a:endParaRPr>
          </a:p>
        </p:txBody>
      </p:sp>
      <p:sp>
        <p:nvSpPr>
          <p:cNvPr id="20846873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31E1D6D-2301-946D-6050-67FB814A68C9}" type="slidenum">
              <a:rPr/>
              <a:t>1</a:t>
            </a:fld>
            <a:endParaRPr/>
          </a:p>
        </p:txBody>
      </p:sp>
      <p:pic>
        <p:nvPicPr>
          <p:cNvPr id="1625931233" name="Picture 5"/>
          <p:cNvPicPr>
            <a:picLocks noChangeAspect="1"/>
          </p:cNvPicPr>
          <p:nvPr/>
        </p:nvPicPr>
        <p:blipFill rotWithShape="1">
          <a:blip r:embed="rId4"/>
        </p:blipFill>
        <p:spPr bwMode="auto">
          <a:xfrm flipH="0" flipV="0">
            <a:off x="4710366" y="1480118"/>
            <a:ext cx="3003154" cy="993722"/>
          </a:xfrm>
          <a:prstGeom prst="rect">
            <a:avLst/>
          </a:prstGeom>
        </p:spPr>
      </p:pic>
      <p:pic>
        <p:nvPicPr>
          <p:cNvPr id="911191967" name="Picture 7"/>
          <p:cNvPicPr>
            <a:picLocks noChangeAspect="1"/>
          </p:cNvPicPr>
          <p:nvPr/>
        </p:nvPicPr>
        <p:blipFill rotWithShape="1">
          <a:blip r:embed="rId5">
            <a:alphaModFix amt="99999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7691558" y="3940449"/>
            <a:ext cx="166403" cy="1620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ONLYOFFICE/10.0.0.169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</cp:revision>
  <dcterms:modified xsi:type="dcterms:W3CDTF">2026-10-25T17:04:27Z</dcterms:modified>
</cp:coreProperties>
</file>