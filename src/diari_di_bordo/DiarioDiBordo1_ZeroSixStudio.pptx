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handoutMasters/handoutMaster1.xml" ContentType="application/vnd.openxmlformats-officedocument.presentationml.handoutMaster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693945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1479177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BC64B75F-DB81-5E43-51B6-28E41A86D043}" type="datetimeFigureOut">
              <a:rPr lang="en-US"/>
              <a:t/>
            </a:fld>
            <a:endParaRPr/>
          </a:p>
        </p:txBody>
      </p:sp>
      <p:sp>
        <p:nvSpPr>
          <p:cNvPr id="1692922716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1088520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6EE84743-54C1-0472-0730-FE9A2116D471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711523" name="Google Shape;3;n"/>
          <p:cNvSpPr txBox="1"/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66906515" name="Google Shape;4;n"/>
          <p:cNvSpPr txBox="1"/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11402449" name="Google Shape;5;n"/>
          <p:cNvSpPr/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8150790" name="Google Shape;6;n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88782582" name="Google Shape;7;n"/>
          <p:cNvSpPr txBox="1"/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87111317" name="Google Shape;8;n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336503" name="Google Shape;85;p1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9908575" name="Google Shape;86;p1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2140670" name="Google Shape;87;p1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415503" name="Google Shape;111;p2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1435961" name="Google Shape;112;p2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8323624" name="Google Shape;113;p2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50638" name="Google Shape;177;p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7607942" name="Google Shape;178;p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86904724" name="Google Shape;179;p3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883244" name="Google Shape;226;p4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6247942" name="Google Shape;227;p4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019338" name="Google Shape;228;p4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146173" name="Google Shape;257;p5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083033" name="Google Shape;258;p5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4037069" name="Google Shape;259;p5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866062" name="Google Shape;288;p6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4709920" name="Google Shape;289;p6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82854999" name="Google Shape;290;p6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2441151" name="Google Shape;16;p2"/>
          <p:cNvSpPr txBox="1"/>
          <p:nvPr>
            <p:ph type="ctrTitle"/>
          </p:nvPr>
        </p:nvSpPr>
        <p:spPr bwMode="auto">
          <a:xfrm>
            <a:off x="1523999" y="1122362"/>
            <a:ext cx="9144000" cy="2387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44339574" name="Google Shape;17;p2"/>
          <p:cNvSpPr txBox="1"/>
          <p:nvPr>
            <p:ph type="subTitle" idx="1"/>
          </p:nvPr>
        </p:nvSpPr>
        <p:spPr bwMode="auto">
          <a:xfrm>
            <a:off x="1523999" y="360203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29620455" name="Google Shape;18;p2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62205125" name="Google Shape;19;p2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96423889" name="Google Shape;20;p2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821183" name="Google Shape;22;p3"/>
          <p:cNvSpPr txBox="1"/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76723260" name="Google Shape;23;p3"/>
          <p:cNvSpPr txBox="1"/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2707772" name="Google Shape;24;p3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48374642" name="Google Shape;25;p3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30346501" name="Google Shape;26;p3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226341" name="Google Shape;28;p4"/>
          <p:cNvSpPr txBox="1"/>
          <p:nvPr>
            <p:ph type="title"/>
          </p:nvPr>
        </p:nvSpPr>
        <p:spPr bwMode="auto"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32445291" name="Google Shape;29;p4"/>
          <p:cNvSpPr txBox="1"/>
          <p:nvPr>
            <p:ph type="body" idx="1"/>
          </p:nvPr>
        </p:nvSpPr>
        <p:spPr bwMode="auto">
          <a:xfrm>
            <a:off x="831850" y="4589463"/>
            <a:ext cx="10515600" cy="1500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03298304" name="Google Shape;30;p4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52215632" name="Google Shape;31;p4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37571892" name="Google Shape;32;p4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367534" name="Google Shape;34;p5"/>
          <p:cNvSpPr txBox="1"/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4079399" name="Google Shape;35;p5"/>
          <p:cNvSpPr txBox="1"/>
          <p:nvPr>
            <p:ph type="body" idx="1"/>
          </p:nvPr>
        </p:nvSpPr>
        <p:spPr bwMode="auto">
          <a:xfrm>
            <a:off x="838198" y="1825625"/>
            <a:ext cx="5181599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75761732" name="Google Shape;36;p5"/>
          <p:cNvSpPr txBox="1"/>
          <p:nvPr>
            <p:ph type="body" idx="2"/>
          </p:nvPr>
        </p:nvSpPr>
        <p:spPr bwMode="auto">
          <a:xfrm>
            <a:off x="6172200" y="1825625"/>
            <a:ext cx="5181599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33769752" name="Google Shape;37;p5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91343374" name="Google Shape;38;p5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40864559" name="Google Shape;39;p5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235461" name="Google Shape;41;p6"/>
          <p:cNvSpPr txBox="1"/>
          <p:nvPr>
            <p:ph type="title"/>
          </p:nvPr>
        </p:nvSpPr>
        <p:spPr bwMode="auto">
          <a:xfrm>
            <a:off x="839787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76247099" name="Google Shape;42;p6"/>
          <p:cNvSpPr txBox="1"/>
          <p:nvPr>
            <p:ph type="body" idx="1"/>
          </p:nvPr>
        </p:nvSpPr>
        <p:spPr bwMode="auto">
          <a:xfrm>
            <a:off x="839789" y="1681162"/>
            <a:ext cx="5157785" cy="823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>
              <a:defRPr/>
            </a:pPr>
            <a:endParaRPr/>
          </a:p>
        </p:txBody>
      </p:sp>
      <p:sp>
        <p:nvSpPr>
          <p:cNvPr id="1474214088" name="Google Shape;43;p6"/>
          <p:cNvSpPr txBox="1"/>
          <p:nvPr>
            <p:ph type="body" idx="2"/>
          </p:nvPr>
        </p:nvSpPr>
        <p:spPr bwMode="auto">
          <a:xfrm>
            <a:off x="839789" y="2505074"/>
            <a:ext cx="5157785" cy="3684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95731526" name="Google Shape;44;p6"/>
          <p:cNvSpPr txBox="1"/>
          <p:nvPr>
            <p:ph type="body" idx="3"/>
          </p:nvPr>
        </p:nvSpPr>
        <p:spPr bwMode="auto">
          <a:xfrm>
            <a:off x="6172200" y="1681162"/>
            <a:ext cx="5183187" cy="823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>
              <a:defRPr/>
            </a:pPr>
            <a:endParaRPr/>
          </a:p>
        </p:txBody>
      </p:sp>
      <p:sp>
        <p:nvSpPr>
          <p:cNvPr id="1952523149" name="Google Shape;45;p6"/>
          <p:cNvSpPr txBox="1"/>
          <p:nvPr>
            <p:ph type="body" idx="4"/>
          </p:nvPr>
        </p:nvSpPr>
        <p:spPr bwMode="auto">
          <a:xfrm>
            <a:off x="6172200" y="2505074"/>
            <a:ext cx="5183187" cy="3684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7151769" name="Google Shape;46;p6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540157" name="Google Shape;47;p6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84252983" name="Google Shape;48;p6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349742" name="Google Shape;50;p7"/>
          <p:cNvSpPr txBox="1"/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19200906" name="Google Shape;51;p7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79363599" name="Google Shape;52;p7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9710860" name="Google Shape;53;p7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745619" name="Google Shape;55;p8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54296327" name="Google Shape;56;p8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0652695" name="Google Shape;57;p8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083955" name="Google Shape;59;p9"/>
          <p:cNvSpPr txBox="1"/>
          <p:nvPr>
            <p:ph type="title"/>
          </p:nvPr>
        </p:nvSpPr>
        <p:spPr bwMode="auto">
          <a:xfrm>
            <a:off x="839787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99017647" name="Google Shape;60;p9"/>
          <p:cNvSpPr txBox="1"/>
          <p:nvPr>
            <p:ph type="body" idx="1"/>
          </p:nvPr>
        </p:nvSpPr>
        <p:spPr bwMode="auto">
          <a:xfrm>
            <a:off x="5183187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>
              <a:defRPr/>
            </a:pPr>
            <a:endParaRPr/>
          </a:p>
        </p:txBody>
      </p:sp>
      <p:sp>
        <p:nvSpPr>
          <p:cNvPr id="850989784" name="Google Shape;61;p9"/>
          <p:cNvSpPr txBox="1"/>
          <p:nvPr>
            <p:ph type="body" idx="2"/>
          </p:nvPr>
        </p:nvSpPr>
        <p:spPr bwMode="auto">
          <a:xfrm>
            <a:off x="839787" y="2057399"/>
            <a:ext cx="3932237" cy="3811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pPr>
              <a:defRPr/>
            </a:pPr>
            <a:endParaRPr/>
          </a:p>
        </p:txBody>
      </p:sp>
      <p:sp>
        <p:nvSpPr>
          <p:cNvPr id="227913907" name="Google Shape;62;p9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83584769" name="Google Shape;63;p9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50757240" name="Google Shape;64;p9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7135299" name="Google Shape;66;p10"/>
          <p:cNvSpPr txBox="1"/>
          <p:nvPr>
            <p:ph type="title"/>
          </p:nvPr>
        </p:nvSpPr>
        <p:spPr bwMode="auto">
          <a:xfrm>
            <a:off x="839787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62829375" name="Google Shape;67;p10"/>
          <p:cNvSpPr/>
          <p:nvPr>
            <p:ph type="pic" idx="2"/>
          </p:nvPr>
        </p:nvSpPr>
        <p:spPr bwMode="auto">
          <a:xfrm>
            <a:off x="5183187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052396487" name="Google Shape;68;p10"/>
          <p:cNvSpPr txBox="1"/>
          <p:nvPr>
            <p:ph type="body" idx="1"/>
          </p:nvPr>
        </p:nvSpPr>
        <p:spPr bwMode="auto">
          <a:xfrm>
            <a:off x="839787" y="2057399"/>
            <a:ext cx="3932237" cy="3811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pPr>
              <a:defRPr/>
            </a:pPr>
            <a:endParaRPr/>
          </a:p>
        </p:txBody>
      </p:sp>
      <p:sp>
        <p:nvSpPr>
          <p:cNvPr id="603688349" name="Google Shape;69;p10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79166936" name="Google Shape;70;p10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02569699" name="Google Shape;71;p10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931409" name="Google Shape;73;p11"/>
          <p:cNvSpPr txBox="1"/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36593678" name="Google Shape;74;p11"/>
          <p:cNvSpPr txBox="1"/>
          <p:nvPr>
            <p:ph type="body" idx="1"/>
          </p:nvPr>
        </p:nvSpPr>
        <p:spPr bwMode="auto">
          <a:xfrm rot="5400000">
            <a:off x="3920329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10656733" name="Google Shape;75;p11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82610313" name="Google Shape;76;p11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82977010" name="Google Shape;77;p11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0896140" name="Google Shape;79;p12"/>
          <p:cNvSpPr txBox="1"/>
          <p:nvPr>
            <p:ph type="title"/>
          </p:nvPr>
        </p:nvSpPr>
        <p:spPr bwMode="auto">
          <a:xfrm rot="5400000">
            <a:off x="7133430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19429068" name="Google Shape;80;p12"/>
          <p:cNvSpPr txBox="1"/>
          <p:nvPr>
            <p:ph type="body" idx="1"/>
          </p:nvPr>
        </p:nvSpPr>
        <p:spPr bwMode="auto">
          <a:xfrm rot="5400000">
            <a:off x="1799429" y="-596106"/>
            <a:ext cx="5811838" cy="773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682034" name="Google Shape;81;p12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4992937" name="Google Shape;82;p12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45808942" name="Google Shape;83;p12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rgbClr val="0F0F1B"/>
            </a:gs>
            <a:gs pos="50000">
              <a:srgbClr val="0F0F1B"/>
            </a:gs>
            <a:gs pos="95000">
              <a:srgbClr val="7C49DB"/>
            </a:gs>
            <a:gs pos="100000">
              <a:srgbClr val="4C4AE6"/>
            </a:gs>
          </a:gsLst>
          <a:lin ang="24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072707" name="Google Shape;10;p1"/>
          <p:cNvSpPr txBox="1"/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485035617" name="Google Shape;11;p1"/>
          <p:cNvSpPr txBox="1"/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71521876" name="Google Shape;12;p1"/>
          <p:cNvSpPr txBox="1"/>
          <p:nvPr>
            <p:ph type="dt" idx="10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02613981" name="Google Shape;13;p1"/>
          <p:cNvSpPr txBox="1"/>
          <p:nvPr>
            <p:ph type="ftr" idx="11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577185" name="Google Shape;14;p1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0x06tudio/docs/blob/develop/out/verbali/interni/vi_2026_10_16.pdf" TargetMode="External"/><Relationship Id="rId4" Type="http://schemas.openxmlformats.org/officeDocument/2006/relationships/hyperlink" Target="https://github.com/0x06tudio/docs/blob/develop/out/verbali/esterni/verbale_2026-10-20.pdf" TargetMode="External"/><Relationship Id="rId5" Type="http://schemas.openxmlformats.org/officeDocument/2006/relationships/hyperlink" Target="https://github.com/0x06tudio/docs/blob/develop/out/verbali/esterni/verbale_2026-10-22.pdf" TargetMode="External"/><Relationship Id="rId6" Type="http://schemas.openxmlformats.org/officeDocument/2006/relationships/hyperlink" Target="https://github.com/0x06tudio/docs/blob/develop/out/verbali/interni/vi_2026_10_22.pdf" TargetMode="External"/><Relationship Id="rId7" Type="http://schemas.openxmlformats.org/officeDocument/2006/relationships/image" Target="../media/image2.png"/><Relationship Id="rId8" Type="http://schemas.openxmlformats.org/officeDocument/2006/relationships/image" Target="../media/media1.svg"/><Relationship Id="rId9" Type="http://schemas.openxmlformats.org/officeDocument/2006/relationships/image" Target="../media/image3.png"/><Relationship Id="rId10" Type="http://schemas.openxmlformats.org/officeDocument/2006/relationships/image" Target="../media/media2.sv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media3.sv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media4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orgs/0x06tudio/repositories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3535324" name="Google Shape;89;p13"/>
          <p:cNvSpPr txBox="1"/>
          <p:nvPr>
            <p:ph type="ctrTitle"/>
          </p:nvPr>
        </p:nvSpPr>
        <p:spPr bwMode="auto">
          <a:xfrm>
            <a:off x="-8790" y="3429000"/>
            <a:ext cx="4703582" cy="1294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ichroma"/>
              <a:buNone/>
              <a:defRPr/>
            </a:pPr>
            <a:r>
              <a:rPr lang="fr-FR" sz="3200" b="1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Riepilogo settimanale</a:t>
            </a:r>
            <a:endParaRPr sz="32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78240487" name="Google Shape;90;p13"/>
          <p:cNvSpPr txBox="1"/>
          <p:nvPr>
            <p:ph type="subTitle" idx="1"/>
          </p:nvPr>
        </p:nvSpPr>
        <p:spPr bwMode="auto">
          <a:xfrm>
            <a:off x="334870" y="4810157"/>
            <a:ext cx="4143865" cy="394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576F6"/>
              </a:buClr>
              <a:buSzPts val="1400"/>
              <a:buNone/>
              <a:defRPr/>
            </a:pP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Diario di Bordo - 26 Ottobre</a:t>
            </a:r>
            <a:endParaRPr sz="1600">
              <a:solidFill>
                <a:srgbClr val="5576F6"/>
              </a:solidFill>
              <a:latin typeface="Michroma"/>
              <a:ea typeface="Michroma"/>
              <a:cs typeface="Michroma"/>
            </a:endParaRPr>
          </a:p>
        </p:txBody>
      </p:sp>
      <p:pic>
        <p:nvPicPr>
          <p:cNvPr id="1069133837" name="Google Shape;91;p13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939105" y="2418125"/>
            <a:ext cx="2807790" cy="929078"/>
          </a:xfrm>
          <a:prstGeom prst="rect">
            <a:avLst/>
          </a:prstGeom>
          <a:noFill/>
          <a:ln>
            <a:noFill/>
          </a:ln>
        </p:spPr>
      </p:pic>
      <p:sp>
        <p:nvSpPr>
          <p:cNvPr id="984156545" name="Google Shape;92;p13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sp>
        <p:nvSpPr>
          <p:cNvPr id="217358535" name="Google Shape;93;p13"/>
          <p:cNvSpPr/>
          <p:nvPr/>
        </p:nvSpPr>
        <p:spPr bwMode="auto">
          <a:xfrm>
            <a:off x="5070892" y="3737307"/>
            <a:ext cx="5427251" cy="1121946"/>
          </a:xfrm>
          <a:prstGeom prst="flowChartAlternateProcess">
            <a:avLst/>
          </a:prstGeom>
          <a:solidFill>
            <a:srgbClr val="232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15331164" name="Google Shape;94;p13"/>
          <p:cNvSpPr/>
          <p:nvPr/>
        </p:nvSpPr>
        <p:spPr bwMode="auto">
          <a:xfrm>
            <a:off x="5070892" y="5234402"/>
            <a:ext cx="5427250" cy="1121946"/>
          </a:xfrm>
          <a:prstGeom prst="flowChartAlternateProcess">
            <a:avLst/>
          </a:prstGeom>
          <a:solidFill>
            <a:srgbClr val="232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10710636" name="Google Shape;95;p13"/>
          <p:cNvSpPr/>
          <p:nvPr/>
        </p:nvSpPr>
        <p:spPr bwMode="auto">
          <a:xfrm>
            <a:off x="5070892" y="2223481"/>
            <a:ext cx="5427250" cy="1121946"/>
          </a:xfrm>
          <a:prstGeom prst="flowChartAlternateProcess">
            <a:avLst/>
          </a:prstGeom>
          <a:solidFill>
            <a:srgbClr val="232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2688786" name="Google Shape;96;p13"/>
          <p:cNvSpPr/>
          <p:nvPr/>
        </p:nvSpPr>
        <p:spPr bwMode="auto">
          <a:xfrm>
            <a:off x="5070891" y="678308"/>
            <a:ext cx="5427250" cy="1121946"/>
          </a:xfrm>
          <a:prstGeom prst="flowChartAlternateProcess">
            <a:avLst/>
          </a:prstGeom>
          <a:solidFill>
            <a:srgbClr val="232B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6298180" name="Google Shape;97;p13"/>
          <p:cNvSpPr txBox="1"/>
          <p:nvPr/>
        </p:nvSpPr>
        <p:spPr bwMode="auto">
          <a:xfrm>
            <a:off x="2141674" y="3976932"/>
            <a:ext cx="914400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0373362" name="Google Shape;98;p13"/>
          <p:cNvSpPr txBox="1"/>
          <p:nvPr/>
        </p:nvSpPr>
        <p:spPr bwMode="auto">
          <a:xfrm>
            <a:off x="5402691" y="1063290"/>
            <a:ext cx="5075399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200" b="0" i="0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Stato di avanzamento</a:t>
            </a:r>
            <a:endParaRPr sz="1800" b="0" i="0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923605440" name="Google Shape;99;p13"/>
          <p:cNvSpPr txBox="1"/>
          <p:nvPr/>
        </p:nvSpPr>
        <p:spPr bwMode="auto">
          <a:xfrm>
            <a:off x="5395852" y="2403272"/>
            <a:ext cx="50823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200" b="0" i="0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Obiettivi futuri a breve termine</a:t>
            </a:r>
            <a:endParaRPr sz="1800" b="0" i="0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561806593" name="Google Shape;100;p13"/>
          <p:cNvSpPr txBox="1"/>
          <p:nvPr/>
        </p:nvSpPr>
        <p:spPr bwMode="auto">
          <a:xfrm>
            <a:off x="5193077" y="4129511"/>
            <a:ext cx="50766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200" b="0" i="0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Difficoltà incontrate</a:t>
            </a:r>
            <a:endParaRPr sz="1800" b="0" i="0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862675160" name="Google Shape;101;p13"/>
          <p:cNvSpPr txBox="1"/>
          <p:nvPr/>
        </p:nvSpPr>
        <p:spPr bwMode="auto">
          <a:xfrm>
            <a:off x="5428324" y="5414193"/>
            <a:ext cx="508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200" b="0" i="0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Dubbi ed incertezze su </a:t>
            </a:r>
            <a:endParaRPr sz="18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200" b="0" i="0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come procedere</a:t>
            </a:r>
            <a:endParaRPr sz="1800" b="0" i="0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675505452" name="Google Shape;102;p13"/>
          <p:cNvSpPr/>
          <p:nvPr/>
        </p:nvSpPr>
        <p:spPr bwMode="auto">
          <a:xfrm rot="-5400002">
            <a:off x="4833271" y="911059"/>
            <a:ext cx="1130456" cy="662071"/>
          </a:xfrm>
          <a:custGeom>
            <a:avLst/>
            <a:gdLst/>
            <a:ahLst/>
            <a:cxnLst/>
            <a:rect l="l" t="t" r="r" b="b"/>
            <a:pathLst>
              <a:path w="43200" h="43200" fill="norm" stroke="1" extrusionOk="0">
                <a:moveTo>
                  <a:pt x="7981" y="124"/>
                </a:moveTo>
                <a:cubicBezTo>
                  <a:pt x="17829" y="147"/>
                  <a:pt x="23810" y="437"/>
                  <a:pt x="35962" y="124"/>
                </a:cubicBezTo>
                <a:cubicBezTo>
                  <a:pt x="37832" y="90"/>
                  <a:pt x="39789" y="1487"/>
                  <a:pt x="41065" y="3838"/>
                </a:cubicBezTo>
                <a:cubicBezTo>
                  <a:pt x="42420" y="6334"/>
                  <a:pt x="43040" y="9867"/>
                  <a:pt x="43128" y="12553"/>
                </a:cubicBezTo>
                <a:cubicBezTo>
                  <a:pt x="43206" y="23197"/>
                  <a:pt x="43231" y="33099"/>
                  <a:pt x="43144" y="43200"/>
                </a:cubicBezTo>
                <a:lnTo>
                  <a:pt x="0" y="42853"/>
                </a:lnTo>
                <a:lnTo>
                  <a:pt x="131" y="9819"/>
                </a:lnTo>
                <a:cubicBezTo>
                  <a:pt x="408" y="4981"/>
                  <a:pt x="4174" y="-373"/>
                  <a:pt x="7981" y="124"/>
                </a:cubicBezTo>
                <a:close/>
              </a:path>
            </a:pathLst>
          </a:cu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 w="9525" cap="flat" cmpd="sng">
            <a:solidFill>
              <a:srgbClr val="0F0F1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8771424" name="Google Shape;103;p13"/>
          <p:cNvSpPr/>
          <p:nvPr/>
        </p:nvSpPr>
        <p:spPr bwMode="auto">
          <a:xfrm rot="-5400002">
            <a:off x="4836777" y="2454551"/>
            <a:ext cx="1124988" cy="656759"/>
          </a:xfrm>
          <a:custGeom>
            <a:avLst/>
            <a:gdLst/>
            <a:ahLst/>
            <a:cxnLst/>
            <a:rect l="l" t="t" r="r" b="b"/>
            <a:pathLst>
              <a:path w="43200" h="43200" fill="norm" stroke="1" extrusionOk="0">
                <a:moveTo>
                  <a:pt x="8020" y="125"/>
                </a:moveTo>
                <a:cubicBezTo>
                  <a:pt x="17916" y="149"/>
                  <a:pt x="23926" y="441"/>
                  <a:pt x="36137" y="125"/>
                </a:cubicBezTo>
                <a:cubicBezTo>
                  <a:pt x="40012" y="54"/>
                  <a:pt x="42994" y="6516"/>
                  <a:pt x="43167" y="11773"/>
                </a:cubicBezTo>
                <a:cubicBezTo>
                  <a:pt x="43246" y="22503"/>
                  <a:pt x="43164" y="33018"/>
                  <a:pt x="43077" y="43200"/>
                </a:cubicBezTo>
                <a:lnTo>
                  <a:pt x="0" y="43200"/>
                </a:lnTo>
                <a:lnTo>
                  <a:pt x="132" y="9898"/>
                </a:lnTo>
                <a:cubicBezTo>
                  <a:pt x="410" y="5021"/>
                  <a:pt x="4194" y="-378"/>
                  <a:pt x="8020" y="125"/>
                </a:cubicBezTo>
                <a:close/>
              </a:path>
            </a:pathLst>
          </a:cu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 w="9525" cap="flat" cmpd="sng">
            <a:solidFill>
              <a:srgbClr val="0F0F1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2883045" name="Google Shape;104;p13"/>
          <p:cNvSpPr/>
          <p:nvPr/>
        </p:nvSpPr>
        <p:spPr bwMode="auto">
          <a:xfrm rot="-5400002">
            <a:off x="4831345" y="3966364"/>
            <a:ext cx="1129015" cy="656760"/>
          </a:xfrm>
          <a:custGeom>
            <a:avLst/>
            <a:gdLst/>
            <a:ahLst/>
            <a:cxnLst/>
            <a:rect l="l" t="t" r="r" b="b"/>
            <a:pathLst>
              <a:path w="43200" h="43200" fill="norm" stroke="1" extrusionOk="0">
                <a:moveTo>
                  <a:pt x="7992" y="126"/>
                </a:moveTo>
                <a:cubicBezTo>
                  <a:pt x="17853" y="149"/>
                  <a:pt x="23841" y="441"/>
                  <a:pt x="36009" y="126"/>
                </a:cubicBezTo>
                <a:cubicBezTo>
                  <a:pt x="39870" y="54"/>
                  <a:pt x="43012" y="7398"/>
                  <a:pt x="43184" y="12655"/>
                </a:cubicBezTo>
                <a:cubicBezTo>
                  <a:pt x="43263" y="23385"/>
                  <a:pt x="43011" y="33018"/>
                  <a:pt x="42924" y="43200"/>
                </a:cubicBezTo>
                <a:lnTo>
                  <a:pt x="0" y="43200"/>
                </a:lnTo>
                <a:lnTo>
                  <a:pt x="132" y="9899"/>
                </a:lnTo>
                <a:cubicBezTo>
                  <a:pt x="409" y="5022"/>
                  <a:pt x="4180" y="-378"/>
                  <a:pt x="7992" y="126"/>
                </a:cubicBezTo>
                <a:close/>
              </a:path>
            </a:pathLst>
          </a:cu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 w="9525" cap="flat" cmpd="sng">
            <a:solidFill>
              <a:srgbClr val="0F0F1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7765783" name="Google Shape;105;p13"/>
          <p:cNvSpPr/>
          <p:nvPr/>
        </p:nvSpPr>
        <p:spPr bwMode="auto">
          <a:xfrm rot="-5400002">
            <a:off x="4834587" y="5468468"/>
            <a:ext cx="1131248" cy="658648"/>
          </a:xfrm>
          <a:custGeom>
            <a:avLst/>
            <a:gdLst/>
            <a:ahLst/>
            <a:cxnLst/>
            <a:rect l="l" t="t" r="r" b="b"/>
            <a:pathLst>
              <a:path w="43200" h="43200" fill="norm" stroke="1" extrusionOk="0">
                <a:moveTo>
                  <a:pt x="7976" y="125"/>
                </a:moveTo>
                <a:cubicBezTo>
                  <a:pt x="17817" y="148"/>
                  <a:pt x="23793" y="439"/>
                  <a:pt x="35937" y="125"/>
                </a:cubicBezTo>
                <a:cubicBezTo>
                  <a:pt x="37690" y="92"/>
                  <a:pt x="39704" y="1496"/>
                  <a:pt x="40949" y="3633"/>
                </a:cubicBezTo>
                <a:cubicBezTo>
                  <a:pt x="42440" y="6192"/>
                  <a:pt x="43004" y="9761"/>
                  <a:pt x="43097" y="12618"/>
                </a:cubicBezTo>
                <a:lnTo>
                  <a:pt x="43200" y="43199"/>
                </a:lnTo>
                <a:lnTo>
                  <a:pt x="0" y="43076"/>
                </a:lnTo>
                <a:lnTo>
                  <a:pt x="131" y="9870"/>
                </a:lnTo>
                <a:cubicBezTo>
                  <a:pt x="407" y="5007"/>
                  <a:pt x="4171" y="-375"/>
                  <a:pt x="7976" y="125"/>
                </a:cubicBezTo>
                <a:close/>
              </a:path>
            </a:pathLst>
          </a:cu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 w="9525" cap="flat" cmpd="sng">
            <a:solidFill>
              <a:srgbClr val="0F0F1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3472975" name="Google Shape;106;p13"/>
          <p:cNvSpPr txBox="1"/>
          <p:nvPr/>
        </p:nvSpPr>
        <p:spPr bwMode="auto">
          <a:xfrm>
            <a:off x="5126404" y="987091"/>
            <a:ext cx="886905" cy="518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</a:rPr>
              <a:t>1.</a:t>
            </a:r>
            <a:endParaRPr sz="2800" b="1" i="0" u="none" strike="noStrike" cap="none">
              <a:solidFill>
                <a:schemeClr val="lt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921610401" name="Google Shape;107;p13"/>
          <p:cNvSpPr txBox="1"/>
          <p:nvPr/>
        </p:nvSpPr>
        <p:spPr bwMode="auto">
          <a:xfrm>
            <a:off x="5126404" y="2521658"/>
            <a:ext cx="887985" cy="518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</a:rPr>
              <a:t>2.</a:t>
            </a:r>
            <a:endParaRPr sz="2800" b="1" i="0" u="none" strike="noStrike" cap="none">
              <a:solidFill>
                <a:schemeClr val="lt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1632159496" name="Google Shape;108;p13"/>
          <p:cNvSpPr txBox="1"/>
          <p:nvPr/>
        </p:nvSpPr>
        <p:spPr bwMode="auto">
          <a:xfrm>
            <a:off x="5145455" y="4076371"/>
            <a:ext cx="888345" cy="518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</a:rPr>
              <a:t>3.</a:t>
            </a:r>
            <a:endParaRPr sz="2800" b="1" i="0" u="none" strike="noStrike" cap="none">
              <a:solidFill>
                <a:schemeClr val="lt1"/>
              </a:solidFill>
              <a:latin typeface="Verdana"/>
              <a:ea typeface="Verdana"/>
              <a:cs typeface="Verdana"/>
            </a:endParaRPr>
          </a:p>
        </p:txBody>
      </p:sp>
      <p:sp>
        <p:nvSpPr>
          <p:cNvPr id="437588862" name="Google Shape;109;p13"/>
          <p:cNvSpPr txBox="1"/>
          <p:nvPr/>
        </p:nvSpPr>
        <p:spPr bwMode="auto">
          <a:xfrm>
            <a:off x="5145455" y="5539649"/>
            <a:ext cx="889785" cy="518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</a:rPr>
              <a:t>4.</a:t>
            </a:r>
            <a:endParaRPr sz="2800" b="1" i="0" u="none" strike="noStrike" cap="none">
              <a:solidFill>
                <a:schemeClr val="lt1"/>
              </a:solidFill>
              <a:latin typeface="Verdana"/>
              <a:ea typeface="Verdana"/>
              <a:cs typeface="Verdan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dur="indefinite" restart="never" nodeType="tmRoot">
          <p:childTnLst>
            <p:seq concurrent="1" nextAc="seek">
              <p:cTn id="2"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358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217358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533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815331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07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810710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688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4426887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6298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926298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373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640373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605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923605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1806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561806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2675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862675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505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675505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771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628771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2883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922883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7765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8577657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3472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933472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610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921610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2159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1632159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588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dur="500"/>
                                        <p:tgtEl>
                                          <p:spTgt spid="437588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053371" name="Google Shape;115;p14"/>
          <p:cNvSpPr txBox="1"/>
          <p:nvPr>
            <p:ph type="title"/>
          </p:nvPr>
        </p:nvSpPr>
        <p:spPr bwMode="auto">
          <a:xfrm>
            <a:off x="838197" y="-6349"/>
            <a:ext cx="10515600" cy="144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Michroma"/>
              <a:buNone/>
              <a:defRPr/>
            </a:pPr>
            <a:r>
              <a:rPr lang="fr-FR" sz="33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Stato di avanzamento</a:t>
            </a:r>
            <a:endParaRPr sz="33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/>
            </a:pPr>
            <a:endParaRPr/>
          </a:p>
        </p:txBody>
      </p:sp>
      <p:grpSp>
        <p:nvGrpSpPr>
          <p:cNvPr id="380365580" name="Google Shape;116;p14"/>
          <p:cNvGrpSpPr/>
          <p:nvPr/>
        </p:nvGrpSpPr>
        <p:grpSpPr bwMode="auto">
          <a:xfrm>
            <a:off x="353991" y="1124863"/>
            <a:ext cx="5429270" cy="629307"/>
            <a:chOff x="-2" y="1"/>
            <a:chExt cx="5429270" cy="629307"/>
          </a:xfrm>
        </p:grpSpPr>
        <p:sp>
          <p:nvSpPr>
            <p:cNvPr id="117" name="Google Shape;117;p14"/>
            <p:cNvSpPr/>
            <p:nvPr/>
          </p:nvSpPr>
          <p:spPr bwMode="auto">
            <a:xfrm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" name="Google Shape;118;p14"/>
            <p:cNvSpPr/>
            <p:nvPr/>
          </p:nvSpPr>
          <p:spPr bwMode="auto">
            <a:xfrm rot="-5400002">
              <a:off x="13026" y="-13026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381611981" name="Google Shape;119;p14"/>
          <p:cNvGrpSpPr/>
          <p:nvPr/>
        </p:nvGrpSpPr>
        <p:grpSpPr bwMode="auto">
          <a:xfrm>
            <a:off x="360245" y="2069598"/>
            <a:ext cx="5429270" cy="629307"/>
            <a:chOff x="-3" y="2"/>
            <a:chExt cx="5429270" cy="629307"/>
          </a:xfrm>
        </p:grpSpPr>
        <p:sp>
          <p:nvSpPr>
            <p:cNvPr id="120" name="Google Shape;120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1" name="Google Shape;121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44640628" name="Google Shape;122;p14"/>
          <p:cNvGrpSpPr/>
          <p:nvPr/>
        </p:nvGrpSpPr>
        <p:grpSpPr bwMode="auto">
          <a:xfrm>
            <a:off x="364478" y="2940547"/>
            <a:ext cx="5429270" cy="629307"/>
            <a:chOff x="-3" y="2"/>
            <a:chExt cx="5429270" cy="629307"/>
          </a:xfrm>
        </p:grpSpPr>
        <p:sp>
          <p:nvSpPr>
            <p:cNvPr id="123" name="Google Shape;123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4" name="Google Shape;124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936581924" name="Google Shape;125;p14"/>
          <p:cNvGrpSpPr/>
          <p:nvPr/>
        </p:nvGrpSpPr>
        <p:grpSpPr bwMode="auto">
          <a:xfrm>
            <a:off x="364381" y="3902576"/>
            <a:ext cx="5429270" cy="629307"/>
            <a:chOff x="-3" y="2"/>
            <a:chExt cx="5429270" cy="629307"/>
          </a:xfrm>
        </p:grpSpPr>
        <p:sp>
          <p:nvSpPr>
            <p:cNvPr id="126" name="Google Shape;126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" name="Google Shape;127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642494061" name="Google Shape;128;p14"/>
          <p:cNvSpPr txBox="1"/>
          <p:nvPr/>
        </p:nvSpPr>
        <p:spPr bwMode="auto">
          <a:xfrm>
            <a:off x="1125293" y="1239450"/>
            <a:ext cx="4733399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Creazione nome</a:t>
            </a: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, </a:t>
            </a: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logo e recapito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236892900" name="Google Shape;129;p14"/>
          <p:cNvSpPr txBox="1"/>
          <p:nvPr/>
        </p:nvSpPr>
        <p:spPr bwMode="auto">
          <a:xfrm>
            <a:off x="1145176" y="2201200"/>
            <a:ext cx="4782899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Scelta canali di comunicazione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427095962" name="Google Shape;130;p14"/>
          <p:cNvSpPr txBox="1"/>
          <p:nvPr/>
        </p:nvSpPr>
        <p:spPr bwMode="auto">
          <a:xfrm>
            <a:off x="1157329" y="3062880"/>
            <a:ext cx="450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Creazione </a:t>
            </a: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calendario comune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634589499" name="Google Shape;131;p14"/>
          <p:cNvSpPr txBox="1"/>
          <p:nvPr/>
        </p:nvSpPr>
        <p:spPr bwMode="auto">
          <a:xfrm>
            <a:off x="1174131" y="4031649"/>
            <a:ext cx="4523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sng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  <a:hlinkClick r:id="rId3" tooltip=""/>
              </a:rPr>
              <a:t>Call interna: 1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851527381" name="Google Shape;132;p14"/>
          <p:cNvGrpSpPr/>
          <p:nvPr/>
        </p:nvGrpSpPr>
        <p:grpSpPr bwMode="auto">
          <a:xfrm>
            <a:off x="346097" y="4901642"/>
            <a:ext cx="5429270" cy="629307"/>
            <a:chOff x="-3" y="2"/>
            <a:chExt cx="5429270" cy="629307"/>
          </a:xfrm>
        </p:grpSpPr>
        <p:sp>
          <p:nvSpPr>
            <p:cNvPr id="133" name="Google Shape;133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4" name="Google Shape;134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842298210" name="Google Shape;135;p14"/>
          <p:cNvSpPr txBox="1"/>
          <p:nvPr/>
        </p:nvSpPr>
        <p:spPr bwMode="auto">
          <a:xfrm>
            <a:off x="1145165" y="5030714"/>
            <a:ext cx="4539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Frequenza </a:t>
            </a: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call interne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618138595" name="Google Shape;136;p14"/>
          <p:cNvGrpSpPr/>
          <p:nvPr/>
        </p:nvGrpSpPr>
        <p:grpSpPr bwMode="auto">
          <a:xfrm>
            <a:off x="336902" y="5879541"/>
            <a:ext cx="5429270" cy="629307"/>
            <a:chOff x="-3" y="2"/>
            <a:chExt cx="5429270" cy="629307"/>
          </a:xfrm>
        </p:grpSpPr>
        <p:sp>
          <p:nvSpPr>
            <p:cNvPr id="137" name="Google Shape;137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8" name="Google Shape;138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156219156" name="Google Shape;139;p14"/>
          <p:cNvSpPr txBox="1"/>
          <p:nvPr/>
        </p:nvSpPr>
        <p:spPr bwMode="auto">
          <a:xfrm>
            <a:off x="1135971" y="6008613"/>
            <a:ext cx="456509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Stesura resoconto capitolati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08834061" name="Google Shape;140;p14"/>
          <p:cNvGrpSpPr/>
          <p:nvPr/>
        </p:nvGrpSpPr>
        <p:grpSpPr bwMode="auto">
          <a:xfrm>
            <a:off x="6455233" y="1129354"/>
            <a:ext cx="5429270" cy="629307"/>
            <a:chOff x="-3" y="2"/>
            <a:chExt cx="5429270" cy="629307"/>
          </a:xfrm>
        </p:grpSpPr>
        <p:sp>
          <p:nvSpPr>
            <p:cNvPr id="141" name="Google Shape;141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42" name="Google Shape;142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2098059789" name="Google Shape;143;p14"/>
          <p:cNvSpPr txBox="1"/>
          <p:nvPr/>
        </p:nvSpPr>
        <p:spPr bwMode="auto">
          <a:xfrm>
            <a:off x="7254300" y="1258425"/>
            <a:ext cx="4556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sng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  <a:hlinkClick r:id="rId4" tooltip=""/>
              </a:rPr>
              <a:t>Incontro 1 : C9 - Zucchetti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763534155" name="Google Shape;144;p14"/>
          <p:cNvGrpSpPr/>
          <p:nvPr/>
        </p:nvGrpSpPr>
        <p:grpSpPr bwMode="auto">
          <a:xfrm>
            <a:off x="6455233" y="2041458"/>
            <a:ext cx="5429270" cy="629307"/>
            <a:chOff x="-3" y="2"/>
            <a:chExt cx="5429270" cy="629307"/>
          </a:xfrm>
        </p:grpSpPr>
        <p:sp>
          <p:nvSpPr>
            <p:cNvPr id="145" name="Google Shape;145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46" name="Google Shape;146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396945387" name="Google Shape;147;p14"/>
          <p:cNvSpPr txBox="1"/>
          <p:nvPr/>
        </p:nvSpPr>
        <p:spPr bwMode="auto">
          <a:xfrm>
            <a:off x="7254301" y="2170530"/>
            <a:ext cx="4558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Creazione repo GitHub </a:t>
            </a: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(docs)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451166322" name="Google Shape;148;p14"/>
          <p:cNvGrpSpPr/>
          <p:nvPr/>
        </p:nvGrpSpPr>
        <p:grpSpPr bwMode="auto">
          <a:xfrm>
            <a:off x="6473593" y="2933806"/>
            <a:ext cx="5429270" cy="629307"/>
            <a:chOff x="-3" y="2"/>
            <a:chExt cx="5429270" cy="629307"/>
          </a:xfrm>
        </p:grpSpPr>
        <p:sp>
          <p:nvSpPr>
            <p:cNvPr id="149" name="Google Shape;149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50" name="Google Shape;150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369762382" name="Google Shape;151;p14"/>
          <p:cNvSpPr txBox="1"/>
          <p:nvPr/>
        </p:nvSpPr>
        <p:spPr bwMode="auto">
          <a:xfrm>
            <a:off x="7272661" y="3062880"/>
            <a:ext cx="4548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sng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  <a:hlinkClick r:id="rId5" tooltip=""/>
              </a:rPr>
              <a:t>Incontro 2 : C1 - Vimar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685037534" name="Google Shape;152;p14"/>
          <p:cNvGrpSpPr/>
          <p:nvPr/>
        </p:nvGrpSpPr>
        <p:grpSpPr bwMode="auto">
          <a:xfrm>
            <a:off x="6455233" y="3902576"/>
            <a:ext cx="5429270" cy="629307"/>
            <a:chOff x="-3" y="2"/>
            <a:chExt cx="5429270" cy="629307"/>
          </a:xfrm>
        </p:grpSpPr>
        <p:sp>
          <p:nvSpPr>
            <p:cNvPr id="153" name="Google Shape;153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54" name="Google Shape;154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685179322" name="Google Shape;155;p14"/>
          <p:cNvSpPr txBox="1"/>
          <p:nvPr/>
        </p:nvSpPr>
        <p:spPr bwMode="auto">
          <a:xfrm>
            <a:off x="7254301" y="4031649"/>
            <a:ext cx="4551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Stesura </a:t>
            </a: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template e </a:t>
            </a: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verbali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56173411" name="Google Shape;156;p14"/>
          <p:cNvGrpSpPr/>
          <p:nvPr/>
        </p:nvGrpSpPr>
        <p:grpSpPr bwMode="auto">
          <a:xfrm>
            <a:off x="6440415" y="5847710"/>
            <a:ext cx="5429270" cy="629307"/>
            <a:chOff x="-3" y="2"/>
            <a:chExt cx="5429270" cy="629307"/>
          </a:xfrm>
        </p:grpSpPr>
        <p:sp>
          <p:nvSpPr>
            <p:cNvPr id="157" name="Google Shape;157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58" name="Google Shape;158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867508014" name="Google Shape;159;p14"/>
          <p:cNvSpPr txBox="1"/>
          <p:nvPr/>
        </p:nvSpPr>
        <p:spPr bwMode="auto">
          <a:xfrm>
            <a:off x="7239484" y="5976783"/>
            <a:ext cx="455105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Incontro 3 : C6 - VarGroup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2028726039" name="Google Shape;160;p14"/>
          <p:cNvGrpSpPr/>
          <p:nvPr/>
        </p:nvGrpSpPr>
        <p:grpSpPr bwMode="auto">
          <a:xfrm>
            <a:off x="6458804" y="4888413"/>
            <a:ext cx="5429270" cy="629307"/>
            <a:chOff x="-3" y="2"/>
            <a:chExt cx="5429270" cy="629307"/>
          </a:xfrm>
        </p:grpSpPr>
        <p:sp>
          <p:nvSpPr>
            <p:cNvPr id="161" name="Google Shape;161;p14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62" name="Google Shape;162;p14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830518291" name="Google Shape;163;p14"/>
          <p:cNvSpPr txBox="1"/>
          <p:nvPr/>
        </p:nvSpPr>
        <p:spPr bwMode="auto">
          <a:xfrm>
            <a:off x="7257871" y="5017484"/>
            <a:ext cx="456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sng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  <a:hlinkClick r:id="rId6" tooltip=""/>
              </a:rPr>
              <a:t>Call interna: 2 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pic>
        <p:nvPicPr>
          <p:cNvPr id="2033922904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457332" y="1201663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1045730" name="Google Shape;175;p14"/>
          <p:cNvPicPr/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</p:blipFill>
        <p:spPr bwMode="auto">
          <a:xfrm>
            <a:off x="6549507" y="5936789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3578924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457332" y="2152134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1861699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457332" y="3013814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9002539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457332" y="3982583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2159463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457332" y="4981648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890435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457332" y="5936789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345205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6549507" y="1201663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5945546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6549507" y="2152134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7377264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6549507" y="3013814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2273693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6549507" y="3982583"/>
            <a:ext cx="467430" cy="467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9321780" name="Google Shape;164;p14"/>
          <p:cNvPicPr/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</p:blipFill>
        <p:spPr bwMode="auto">
          <a:xfrm>
            <a:off x="6549507" y="4968418"/>
            <a:ext cx="467430" cy="4674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19447" name="Google Shape;181;p15"/>
          <p:cNvSpPr txBox="1"/>
          <p:nvPr>
            <p:ph type="title"/>
          </p:nvPr>
        </p:nvSpPr>
        <p:spPr bwMode="auto">
          <a:xfrm>
            <a:off x="838197" y="-6349"/>
            <a:ext cx="10515600" cy="144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Michroma"/>
              <a:buNone/>
              <a:defRPr/>
            </a:pPr>
            <a:r>
              <a:rPr lang="fr-FR" sz="33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Obiettivi futuri a breve termine</a:t>
            </a:r>
            <a:endParaRPr sz="33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/>
            </a:pPr>
            <a:endParaRPr/>
          </a:p>
        </p:txBody>
      </p:sp>
      <p:grpSp>
        <p:nvGrpSpPr>
          <p:cNvPr id="386819552" name="Google Shape;182;p15"/>
          <p:cNvGrpSpPr/>
          <p:nvPr/>
        </p:nvGrpSpPr>
        <p:grpSpPr bwMode="auto">
          <a:xfrm>
            <a:off x="281501" y="1529329"/>
            <a:ext cx="5429270" cy="629307"/>
            <a:chOff x="-2" y="1"/>
            <a:chExt cx="5429270" cy="629307"/>
          </a:xfrm>
        </p:grpSpPr>
        <p:sp>
          <p:nvSpPr>
            <p:cNvPr id="183" name="Google Shape;183;p15"/>
            <p:cNvSpPr/>
            <p:nvPr/>
          </p:nvSpPr>
          <p:spPr bwMode="auto">
            <a:xfrm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84" name="Google Shape;184;p15"/>
            <p:cNvSpPr/>
            <p:nvPr/>
          </p:nvSpPr>
          <p:spPr bwMode="auto">
            <a:xfrm rot="-5400002">
              <a:off x="13026" y="-13026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21412913" name="Google Shape;185;p15"/>
          <p:cNvGrpSpPr/>
          <p:nvPr/>
        </p:nvGrpSpPr>
        <p:grpSpPr bwMode="auto">
          <a:xfrm>
            <a:off x="287754" y="2251814"/>
            <a:ext cx="5429270" cy="629307"/>
            <a:chOff x="-3" y="2"/>
            <a:chExt cx="5429270" cy="629307"/>
          </a:xfrm>
        </p:grpSpPr>
        <p:sp>
          <p:nvSpPr>
            <p:cNvPr id="186" name="Google Shape;186;p15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87" name="Google Shape;187;p15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550105095" name="Google Shape;188;p15"/>
          <p:cNvGrpSpPr/>
          <p:nvPr/>
        </p:nvGrpSpPr>
        <p:grpSpPr bwMode="auto">
          <a:xfrm>
            <a:off x="281403" y="2964013"/>
            <a:ext cx="5429270" cy="629307"/>
            <a:chOff x="-3" y="2"/>
            <a:chExt cx="5429270" cy="629307"/>
          </a:xfrm>
        </p:grpSpPr>
        <p:sp>
          <p:nvSpPr>
            <p:cNvPr id="189" name="Google Shape;189;p15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90" name="Google Shape;190;p15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569676651" name="Google Shape;191;p15"/>
          <p:cNvSpPr txBox="1"/>
          <p:nvPr/>
        </p:nvSpPr>
        <p:spPr bwMode="auto">
          <a:xfrm>
            <a:off x="1072674" y="1637881"/>
            <a:ext cx="4524772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Rifinitura « Way-Of-Working »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591251157" name="Google Shape;192;p15"/>
          <p:cNvSpPr txBox="1"/>
          <p:nvPr/>
        </p:nvSpPr>
        <p:spPr bwMode="auto">
          <a:xfrm>
            <a:off x="1072674" y="2383407"/>
            <a:ext cx="452225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Assegnazione ruoli 1°  turno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417667204" name="Google Shape;193;p15"/>
          <p:cNvSpPr txBox="1"/>
          <p:nvPr/>
        </p:nvSpPr>
        <p:spPr bwMode="auto">
          <a:xfrm>
            <a:off x="1076276" y="3095721"/>
            <a:ext cx="453737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Rifinitura preventivo iniziale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141714970" name="Google Shape;194;p15"/>
          <p:cNvGrpSpPr/>
          <p:nvPr/>
        </p:nvGrpSpPr>
        <p:grpSpPr bwMode="auto">
          <a:xfrm>
            <a:off x="290308" y="3698281"/>
            <a:ext cx="5429270" cy="629307"/>
            <a:chOff x="-3" y="2"/>
            <a:chExt cx="5429270" cy="629307"/>
          </a:xfrm>
        </p:grpSpPr>
        <p:sp>
          <p:nvSpPr>
            <p:cNvPr id="195" name="Google Shape;195;p15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96" name="Google Shape;196;p15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229847085" name="Google Shape;197;p15"/>
          <p:cNvSpPr txBox="1"/>
          <p:nvPr/>
        </p:nvSpPr>
        <p:spPr bwMode="auto">
          <a:xfrm>
            <a:off x="1093840" y="3820613"/>
            <a:ext cx="454097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Presentazione candidatura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74551276" name="Google Shape;198;p15"/>
          <p:cNvSpPr/>
          <p:nvPr/>
        </p:nvSpPr>
        <p:spPr bwMode="auto">
          <a:xfrm>
            <a:off x="1229833" y="970530"/>
            <a:ext cx="3661833" cy="430588"/>
          </a:xfrm>
          <a:prstGeom prst="flowChartAlternateProcess">
            <a:avLst/>
          </a:pr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1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Deadline : </a:t>
            </a:r>
            <a:r>
              <a:rPr lang="fr-FR" sz="1800" b="1" i="0" u="none" strike="noStrike" cap="none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30 </a:t>
            </a:r>
            <a:r>
              <a:rPr lang="fr-FR" sz="1800" b="1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Ottobre</a:t>
            </a:r>
            <a:endParaRPr sz="1800" b="1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937771225" name="Google Shape;199;p15"/>
          <p:cNvSpPr txBox="1"/>
          <p:nvPr/>
        </p:nvSpPr>
        <p:spPr bwMode="auto">
          <a:xfrm>
            <a:off x="299015" y="1480789"/>
            <a:ext cx="82559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28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097347" name="Google Shape;200;p15"/>
          <p:cNvSpPr txBox="1"/>
          <p:nvPr/>
        </p:nvSpPr>
        <p:spPr bwMode="auto">
          <a:xfrm>
            <a:off x="296030" y="2215766"/>
            <a:ext cx="81911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30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3090913" name="Google Shape;201;p15"/>
          <p:cNvSpPr txBox="1"/>
          <p:nvPr/>
        </p:nvSpPr>
        <p:spPr bwMode="auto">
          <a:xfrm>
            <a:off x="312621" y="2929287"/>
            <a:ext cx="81911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29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387257" name="Google Shape;202;p15"/>
          <p:cNvSpPr txBox="1"/>
          <p:nvPr/>
        </p:nvSpPr>
        <p:spPr bwMode="auto">
          <a:xfrm>
            <a:off x="297936" y="3652972"/>
            <a:ext cx="81911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30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031469114" name="Google Shape;203;p15"/>
          <p:cNvGrpSpPr/>
          <p:nvPr/>
        </p:nvGrpSpPr>
        <p:grpSpPr bwMode="auto">
          <a:xfrm>
            <a:off x="6413484" y="1522978"/>
            <a:ext cx="5429270" cy="629307"/>
            <a:chOff x="-2" y="1"/>
            <a:chExt cx="5429270" cy="629307"/>
          </a:xfrm>
        </p:grpSpPr>
        <p:sp>
          <p:nvSpPr>
            <p:cNvPr id="204" name="Google Shape;204;p15"/>
            <p:cNvSpPr/>
            <p:nvPr/>
          </p:nvSpPr>
          <p:spPr bwMode="auto">
            <a:xfrm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05" name="Google Shape;205;p15"/>
            <p:cNvSpPr/>
            <p:nvPr/>
          </p:nvSpPr>
          <p:spPr bwMode="auto">
            <a:xfrm rot="-5400002">
              <a:off x="13026" y="-13026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70116300" name="Google Shape;206;p15"/>
          <p:cNvGrpSpPr/>
          <p:nvPr/>
        </p:nvGrpSpPr>
        <p:grpSpPr bwMode="auto">
          <a:xfrm>
            <a:off x="6409153" y="2245463"/>
            <a:ext cx="5429270" cy="629307"/>
            <a:chOff x="-3" y="2"/>
            <a:chExt cx="5429270" cy="629307"/>
          </a:xfrm>
        </p:grpSpPr>
        <p:sp>
          <p:nvSpPr>
            <p:cNvPr id="207" name="Google Shape;207;p15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08" name="Google Shape;208;p15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86210356" name="Google Shape;209;p15"/>
          <p:cNvSpPr txBox="1"/>
          <p:nvPr/>
        </p:nvSpPr>
        <p:spPr bwMode="auto">
          <a:xfrm>
            <a:off x="7217042" y="1525697"/>
            <a:ext cx="4536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Rifinitura cruscotto di valutazione della qualità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2074081" name="Google Shape;210;p15"/>
          <p:cNvSpPr txBox="1"/>
          <p:nvPr/>
        </p:nvSpPr>
        <p:spPr bwMode="auto">
          <a:xfrm>
            <a:off x="7246990" y="2218306"/>
            <a:ext cx="4571931" cy="64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Implementazione cruscotto rendicontazione ore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589107024" name="Google Shape;211;p15"/>
          <p:cNvSpPr txBox="1"/>
          <p:nvPr/>
        </p:nvSpPr>
        <p:spPr bwMode="auto">
          <a:xfrm>
            <a:off x="6430999" y="1474438"/>
            <a:ext cx="82739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 2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0345790" name="Google Shape;212;p15"/>
          <p:cNvSpPr/>
          <p:nvPr/>
        </p:nvSpPr>
        <p:spPr bwMode="auto">
          <a:xfrm>
            <a:off x="7361816" y="953992"/>
            <a:ext cx="3661800" cy="430500"/>
          </a:xfrm>
          <a:prstGeom prst="flowChartAlternateProcess">
            <a:avLst/>
          </a:pr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1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Deadline : </a:t>
            </a:r>
            <a:r>
              <a:rPr lang="fr-FR" sz="1800" b="1" i="0" u="none" strike="noStrike" cap="none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3 </a:t>
            </a:r>
            <a:r>
              <a:rPr lang="fr-FR" sz="1800" b="1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Novembre</a:t>
            </a:r>
            <a:endParaRPr sz="1800" b="1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559076127" name="Google Shape;213;p15"/>
          <p:cNvGrpSpPr/>
          <p:nvPr/>
        </p:nvGrpSpPr>
        <p:grpSpPr bwMode="auto">
          <a:xfrm>
            <a:off x="281005" y="5208176"/>
            <a:ext cx="5429270" cy="629307"/>
            <a:chOff x="-2" y="1"/>
            <a:chExt cx="5429270" cy="629307"/>
          </a:xfrm>
        </p:grpSpPr>
        <p:sp>
          <p:nvSpPr>
            <p:cNvPr id="214" name="Google Shape;214;p15"/>
            <p:cNvSpPr/>
            <p:nvPr/>
          </p:nvSpPr>
          <p:spPr bwMode="auto">
            <a:xfrm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15" name="Google Shape;215;p15"/>
            <p:cNvSpPr/>
            <p:nvPr/>
          </p:nvSpPr>
          <p:spPr bwMode="auto">
            <a:xfrm rot="-5400002">
              <a:off x="13026" y="-13026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881968719" name="Google Shape;216;p15"/>
          <p:cNvGrpSpPr/>
          <p:nvPr/>
        </p:nvGrpSpPr>
        <p:grpSpPr bwMode="auto">
          <a:xfrm>
            <a:off x="287258" y="5941244"/>
            <a:ext cx="5429270" cy="629307"/>
            <a:chOff x="-3" y="2"/>
            <a:chExt cx="5429270" cy="629307"/>
          </a:xfrm>
        </p:grpSpPr>
        <p:sp>
          <p:nvSpPr>
            <p:cNvPr id="217" name="Google Shape;217;p15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2114961661" name="Google Shape;219;p15"/>
          <p:cNvSpPr txBox="1"/>
          <p:nvPr/>
        </p:nvSpPr>
        <p:spPr bwMode="auto">
          <a:xfrm>
            <a:off x="1084563" y="5369645"/>
            <a:ext cx="4576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Preparazione slide DdB 2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566027" name="Google Shape;220;p15"/>
          <p:cNvSpPr txBox="1"/>
          <p:nvPr/>
        </p:nvSpPr>
        <p:spPr bwMode="auto">
          <a:xfrm>
            <a:off x="1072177" y="5935253"/>
            <a:ext cx="4762125" cy="914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Stesura verbali incontri esterni (VarGroup) ed interni (3)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8202937" name="Google Shape;221;p15"/>
          <p:cNvSpPr txBox="1"/>
          <p:nvPr/>
        </p:nvSpPr>
        <p:spPr bwMode="auto">
          <a:xfrm>
            <a:off x="298520" y="5159637"/>
            <a:ext cx="82847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 1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2734914" name="Google Shape;222;p15"/>
          <p:cNvSpPr txBox="1"/>
          <p:nvPr/>
        </p:nvSpPr>
        <p:spPr bwMode="auto">
          <a:xfrm>
            <a:off x="295534" y="5905197"/>
            <a:ext cx="82343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 1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3235213" name="Google Shape;223;p15"/>
          <p:cNvSpPr/>
          <p:nvPr/>
        </p:nvSpPr>
        <p:spPr bwMode="auto">
          <a:xfrm>
            <a:off x="1229833" y="4658284"/>
            <a:ext cx="3661800" cy="430500"/>
          </a:xfrm>
          <a:prstGeom prst="flowChartAlternateProcess">
            <a:avLst/>
          </a:prstGeom>
          <a:gradFill>
            <a:gsLst>
              <a:gs pos="0">
                <a:srgbClr val="9551F3"/>
              </a:gs>
              <a:gs pos="100000">
                <a:srgbClr val="002060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1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Deadline : </a:t>
            </a:r>
            <a:r>
              <a:rPr lang="fr-FR" sz="1800" b="1" i="0" u="none" strike="noStrike" cap="none">
                <a:solidFill>
                  <a:srgbClr val="FF0000"/>
                </a:solidFill>
                <a:latin typeface="Michroma"/>
                <a:ea typeface="Michroma"/>
                <a:cs typeface="Michroma"/>
              </a:rPr>
              <a:t>2 </a:t>
            </a:r>
            <a:r>
              <a:rPr lang="fr-FR" sz="1800" b="1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Novembre</a:t>
            </a:r>
            <a:endParaRPr sz="1800" b="1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847489446" name="Google Shape;224;p15"/>
          <p:cNvSpPr txBox="1"/>
          <p:nvPr/>
        </p:nvSpPr>
        <p:spPr bwMode="auto">
          <a:xfrm>
            <a:off x="6430999" y="2189643"/>
            <a:ext cx="828470" cy="70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expec.</a:t>
            </a:r>
            <a:endParaRPr sz="12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2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</a:rPr>
              <a:t> 3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3729142" name="Google Shape;230;p16"/>
          <p:cNvSpPr txBox="1"/>
          <p:nvPr>
            <p:ph type="title"/>
          </p:nvPr>
        </p:nvSpPr>
        <p:spPr bwMode="auto">
          <a:xfrm>
            <a:off x="838197" y="-6349"/>
            <a:ext cx="10515600" cy="144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Michroma"/>
              <a:buNone/>
              <a:defRPr/>
            </a:pPr>
            <a:r>
              <a:rPr lang="fr-FR" sz="33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Difficoltà incontrate</a:t>
            </a:r>
            <a:endParaRPr sz="33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/>
            </a:pPr>
            <a:endParaRPr/>
          </a:p>
        </p:txBody>
      </p:sp>
      <p:grpSp>
        <p:nvGrpSpPr>
          <p:cNvPr id="2003039850" name="Google Shape;231;p16"/>
          <p:cNvGrpSpPr/>
          <p:nvPr/>
        </p:nvGrpSpPr>
        <p:grpSpPr bwMode="auto">
          <a:xfrm>
            <a:off x="3374096" y="1114280"/>
            <a:ext cx="5429270" cy="629307"/>
            <a:chOff x="-2" y="1"/>
            <a:chExt cx="5429270" cy="629307"/>
          </a:xfrm>
        </p:grpSpPr>
        <p:sp>
          <p:nvSpPr>
            <p:cNvPr id="232" name="Google Shape;232;p16"/>
            <p:cNvSpPr/>
            <p:nvPr/>
          </p:nvSpPr>
          <p:spPr bwMode="auto">
            <a:xfrm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 bwMode="auto">
            <a:xfrm rot="-5400002">
              <a:off x="13026" y="-13026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725747742" name="Google Shape;234;p16"/>
          <p:cNvGrpSpPr/>
          <p:nvPr/>
        </p:nvGrpSpPr>
        <p:grpSpPr bwMode="auto">
          <a:xfrm>
            <a:off x="3380349" y="2016682"/>
            <a:ext cx="5429270" cy="629307"/>
            <a:chOff x="-3" y="2"/>
            <a:chExt cx="5429270" cy="629307"/>
          </a:xfrm>
        </p:grpSpPr>
        <p:sp>
          <p:nvSpPr>
            <p:cNvPr id="235" name="Google Shape;235;p16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36" name="Google Shape;236;p16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844850928" name="Google Shape;237;p16"/>
          <p:cNvGrpSpPr/>
          <p:nvPr/>
        </p:nvGrpSpPr>
        <p:grpSpPr bwMode="auto">
          <a:xfrm>
            <a:off x="3384582" y="2887630"/>
            <a:ext cx="5429270" cy="629307"/>
            <a:chOff x="-3" y="2"/>
            <a:chExt cx="5429270" cy="629307"/>
          </a:xfrm>
        </p:grpSpPr>
        <p:sp>
          <p:nvSpPr>
            <p:cNvPr id="238" name="Google Shape;238;p16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39" name="Google Shape;239;p16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065654537" name="Google Shape;240;p16"/>
          <p:cNvSpPr txBox="1"/>
          <p:nvPr/>
        </p:nvSpPr>
        <p:spPr bwMode="auto">
          <a:xfrm>
            <a:off x="4165269" y="1222832"/>
            <a:ext cx="4515412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Scelta capitolati perseguibili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526443327" name="Google Shape;241;p16"/>
          <p:cNvSpPr txBox="1"/>
          <p:nvPr/>
        </p:nvSpPr>
        <p:spPr bwMode="auto">
          <a:xfrm>
            <a:off x="4165269" y="2148275"/>
            <a:ext cx="452081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Gestione slot orari sincroni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437615602" name="Google Shape;242;p16"/>
          <p:cNvSpPr txBox="1"/>
          <p:nvPr/>
        </p:nvSpPr>
        <p:spPr bwMode="auto">
          <a:xfrm>
            <a:off x="4177869" y="3009963"/>
            <a:ext cx="451829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Stesura template verbali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881042206" name="Google Shape;243;p16"/>
          <p:cNvGrpSpPr/>
          <p:nvPr/>
        </p:nvGrpSpPr>
        <p:grpSpPr bwMode="auto">
          <a:xfrm>
            <a:off x="3378232" y="3759697"/>
            <a:ext cx="5429270" cy="629307"/>
            <a:chOff x="-3" y="2"/>
            <a:chExt cx="5429270" cy="629307"/>
          </a:xfrm>
        </p:grpSpPr>
        <p:sp>
          <p:nvSpPr>
            <p:cNvPr id="244" name="Google Shape;244;p16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5" name="Google Shape;245;p16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261832930" name="Google Shape;246;p16"/>
          <p:cNvSpPr txBox="1"/>
          <p:nvPr/>
        </p:nvSpPr>
        <p:spPr bwMode="auto">
          <a:xfrm>
            <a:off x="4171519" y="3882029"/>
            <a:ext cx="452657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Stesura resoconto capitolati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251761035" name="Google Shape;247;p16"/>
          <p:cNvGrpSpPr/>
          <p:nvPr/>
        </p:nvGrpSpPr>
        <p:grpSpPr bwMode="auto">
          <a:xfrm>
            <a:off x="3382465" y="4621180"/>
            <a:ext cx="5429270" cy="629307"/>
            <a:chOff x="-3" y="2"/>
            <a:chExt cx="5429270" cy="629307"/>
          </a:xfrm>
        </p:grpSpPr>
        <p:sp>
          <p:nvSpPr>
            <p:cNvPr id="248" name="Google Shape;248;p16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9" name="Google Shape;249;p16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986266671" name="Google Shape;250;p16"/>
          <p:cNvSpPr txBox="1"/>
          <p:nvPr/>
        </p:nvSpPr>
        <p:spPr bwMode="auto">
          <a:xfrm>
            <a:off x="4175752" y="4743512"/>
            <a:ext cx="4695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Scelta revisore </a:t>
            </a:r>
            <a:r>
              <a:rPr lang="fr-FR" sz="1800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temporaneo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pic>
        <p:nvPicPr>
          <p:cNvPr id="374424980" name="Google Shape;251;p16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1209733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933799" name="Google Shape;251;p16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2097619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955147" name="Google Shape;251;p16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2959307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1973016" name="Google Shape;251;p16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3831373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881425" name="Google Shape;251;p16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4694446"/>
            <a:ext cx="467429" cy="467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5843886" name="Google Shape;261;p17"/>
          <p:cNvSpPr txBox="1"/>
          <p:nvPr>
            <p:ph type="title"/>
          </p:nvPr>
        </p:nvSpPr>
        <p:spPr bwMode="auto">
          <a:xfrm>
            <a:off x="-7573" y="-6349"/>
            <a:ext cx="12211049" cy="144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Michroma"/>
              <a:buNone/>
              <a:defRPr/>
            </a:pPr>
            <a:r>
              <a:rPr lang="fr-FR" sz="33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Dubbi ed incertezze su come procedere</a:t>
            </a:r>
            <a:endParaRPr sz="33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/>
            </a:pPr>
            <a:endParaRPr/>
          </a:p>
        </p:txBody>
      </p:sp>
      <p:grpSp>
        <p:nvGrpSpPr>
          <p:cNvPr id="1426923293" name="Google Shape;262;p17"/>
          <p:cNvGrpSpPr/>
          <p:nvPr/>
        </p:nvGrpSpPr>
        <p:grpSpPr bwMode="auto">
          <a:xfrm>
            <a:off x="3370146" y="1107546"/>
            <a:ext cx="5429270" cy="629307"/>
            <a:chOff x="-2" y="1"/>
            <a:chExt cx="5429270" cy="629307"/>
          </a:xfrm>
        </p:grpSpPr>
        <p:sp>
          <p:nvSpPr>
            <p:cNvPr id="263" name="Google Shape;263;p17"/>
            <p:cNvSpPr/>
            <p:nvPr/>
          </p:nvSpPr>
          <p:spPr bwMode="auto">
            <a:xfrm>
              <a:off x="2020" y="1332"/>
              <a:ext cx="5427248" cy="622731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64" name="Google Shape;264;p17"/>
            <p:cNvSpPr/>
            <p:nvPr/>
          </p:nvSpPr>
          <p:spPr bwMode="auto">
            <a:xfrm rot="-5400002">
              <a:off x="13026" y="-13026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2003566170" name="Google Shape;265;p17"/>
          <p:cNvGrpSpPr/>
          <p:nvPr/>
        </p:nvGrpSpPr>
        <p:grpSpPr bwMode="auto">
          <a:xfrm>
            <a:off x="3376399" y="2041698"/>
            <a:ext cx="5429270" cy="629307"/>
            <a:chOff x="-3" y="2"/>
            <a:chExt cx="5429270" cy="629307"/>
          </a:xfrm>
        </p:grpSpPr>
        <p:sp>
          <p:nvSpPr>
            <p:cNvPr id="266" name="Google Shape;266;p17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67" name="Google Shape;267;p17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399280477" name="Google Shape;268;p17"/>
          <p:cNvGrpSpPr/>
          <p:nvPr/>
        </p:nvGrpSpPr>
        <p:grpSpPr bwMode="auto">
          <a:xfrm>
            <a:off x="3380632" y="2912647"/>
            <a:ext cx="5429270" cy="629307"/>
            <a:chOff x="-3" y="2"/>
            <a:chExt cx="5429270" cy="629307"/>
          </a:xfrm>
        </p:grpSpPr>
        <p:sp>
          <p:nvSpPr>
            <p:cNvPr id="269" name="Google Shape;269;p17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70" name="Google Shape;270;p17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635353171" name="Google Shape;271;p17"/>
          <p:cNvGrpSpPr/>
          <p:nvPr/>
        </p:nvGrpSpPr>
        <p:grpSpPr bwMode="auto">
          <a:xfrm>
            <a:off x="3380632" y="3800593"/>
            <a:ext cx="5429270" cy="629307"/>
            <a:chOff x="-3" y="2"/>
            <a:chExt cx="5429270" cy="629307"/>
          </a:xfrm>
        </p:grpSpPr>
        <p:sp>
          <p:nvSpPr>
            <p:cNvPr id="272" name="Google Shape;272;p17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73" name="Google Shape;273;p17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654320891" name="Google Shape;274;p17"/>
          <p:cNvSpPr txBox="1"/>
          <p:nvPr/>
        </p:nvSpPr>
        <p:spPr bwMode="auto">
          <a:xfrm>
            <a:off x="4161319" y="1216098"/>
            <a:ext cx="4523692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Processo di candiatura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681727924" name="Google Shape;275;p17"/>
          <p:cNvSpPr txBox="1"/>
          <p:nvPr/>
        </p:nvSpPr>
        <p:spPr bwMode="auto">
          <a:xfrm>
            <a:off x="4161319" y="2173291"/>
            <a:ext cx="451325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Equa rotazione dei ruoli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935550776" name="Google Shape;276;p17"/>
          <p:cNvSpPr txBox="1"/>
          <p:nvPr/>
        </p:nvSpPr>
        <p:spPr bwMode="auto">
          <a:xfrm>
            <a:off x="4184164" y="3034979"/>
            <a:ext cx="452009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Efficace cruscotto qualità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346160807" name="Google Shape;277;p17"/>
          <p:cNvSpPr txBox="1"/>
          <p:nvPr/>
        </p:nvSpPr>
        <p:spPr bwMode="auto">
          <a:xfrm>
            <a:off x="4179700" y="3961415"/>
            <a:ext cx="4528010" cy="64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Efficace cruscotto ore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2"/>
              </a:solidFill>
              <a:latin typeface="Michroma"/>
              <a:ea typeface="Michroma"/>
              <a:cs typeface="Michroma"/>
            </a:endParaRPr>
          </a:p>
        </p:txBody>
      </p:sp>
      <p:grpSp>
        <p:nvGrpSpPr>
          <p:cNvPr id="1420152767" name="Google Shape;278;p17"/>
          <p:cNvGrpSpPr/>
          <p:nvPr/>
        </p:nvGrpSpPr>
        <p:grpSpPr bwMode="auto">
          <a:xfrm>
            <a:off x="3394001" y="4683242"/>
            <a:ext cx="5429270" cy="629307"/>
            <a:chOff x="-3" y="2"/>
            <a:chExt cx="5429270" cy="629307"/>
          </a:xfrm>
        </p:grpSpPr>
        <p:sp>
          <p:nvSpPr>
            <p:cNvPr id="279" name="Google Shape;279;p17"/>
            <p:cNvSpPr/>
            <p:nvPr/>
          </p:nvSpPr>
          <p:spPr bwMode="auto">
            <a:xfrm>
              <a:off x="2019" y="1332"/>
              <a:ext cx="5427248" cy="622730"/>
            </a:xfrm>
            <a:prstGeom prst="flowChartAlternateProcess">
              <a:avLst/>
            </a:prstGeom>
            <a:solidFill>
              <a:srgbClr val="232B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80" name="Google Shape;280;p17"/>
            <p:cNvSpPr/>
            <p:nvPr/>
          </p:nvSpPr>
          <p:spPr bwMode="auto">
            <a:xfrm rot="-5400002">
              <a:off x="13025" y="-13025"/>
              <a:ext cx="629307" cy="655362"/>
            </a:xfrm>
            <a:custGeom>
              <a:avLst/>
              <a:gdLst/>
              <a:ahLst/>
              <a:cxnLst/>
              <a:rect l="l" t="t" r="r" b="b"/>
              <a:pathLst>
                <a:path w="43200" h="43200" fill="norm" stroke="1" extrusionOk="0">
                  <a:moveTo>
                    <a:pt x="8047" y="34"/>
                  </a:moveTo>
                  <a:cubicBezTo>
                    <a:pt x="17867" y="57"/>
                    <a:pt x="23829" y="349"/>
                    <a:pt x="35946" y="34"/>
                  </a:cubicBezTo>
                  <a:cubicBezTo>
                    <a:pt x="38421" y="229"/>
                    <a:pt x="40802" y="757"/>
                    <a:pt x="42087" y="3278"/>
                  </a:cubicBezTo>
                  <a:cubicBezTo>
                    <a:pt x="43077" y="5219"/>
                    <a:pt x="43309" y="8538"/>
                    <a:pt x="43090" y="12589"/>
                  </a:cubicBezTo>
                  <a:cubicBezTo>
                    <a:pt x="43169" y="23342"/>
                    <a:pt x="42918" y="32996"/>
                    <a:pt x="42831" y="43200"/>
                  </a:cubicBezTo>
                  <a:lnTo>
                    <a:pt x="89" y="43200"/>
                  </a:lnTo>
                  <a:lnTo>
                    <a:pt x="221" y="9827"/>
                  </a:lnTo>
                  <a:cubicBezTo>
                    <a:pt x="-663" y="4244"/>
                    <a:pt x="2603" y="-102"/>
                    <a:pt x="8047" y="34"/>
                  </a:cubicBezTo>
                  <a:close/>
                </a:path>
              </a:pathLst>
            </a:custGeom>
            <a:gradFill>
              <a:gsLst>
                <a:gs pos="0">
                  <a:srgbClr val="9551F3"/>
                </a:gs>
                <a:gs pos="100000">
                  <a:srgbClr val="002060"/>
                </a:gs>
              </a:gsLst>
              <a:lin ang="2700000" scaled="0"/>
            </a:gradFill>
            <a:ln w="9525" cap="flat" cmpd="sng">
              <a:solidFill>
                <a:srgbClr val="0F0F1B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33622642" name="Google Shape;281;p17"/>
          <p:cNvSpPr txBox="1"/>
          <p:nvPr/>
        </p:nvSpPr>
        <p:spPr bwMode="auto">
          <a:xfrm>
            <a:off x="4193069" y="4812313"/>
            <a:ext cx="4560051" cy="366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sz="1800" b="0" i="0" u="none" strike="noStrike" cap="none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Preventivo iniziale corretto</a:t>
            </a:r>
            <a:endParaRPr sz="1800" b="0" i="0" u="none" strike="noStrike" cap="none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pic>
        <p:nvPicPr>
          <p:cNvPr id="1804687981" name="Google Shape;282;p17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1199149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620190085" name="Google Shape;282;p17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2122635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2963931" name="Google Shape;282;p17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2984323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0971153" name="Google Shape;282;p17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3891549"/>
            <a:ext cx="467429" cy="467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7886216" name="Google Shape;282;p17"/>
          <p:cNvPicPr/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</p:blipFill>
        <p:spPr bwMode="auto">
          <a:xfrm>
            <a:off x="3477816" y="4761657"/>
            <a:ext cx="467429" cy="467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870785" name="Google Shape;292;p18"/>
          <p:cNvSpPr txBox="1"/>
          <p:nvPr>
            <p:ph type="ctrTitle"/>
          </p:nvPr>
        </p:nvSpPr>
        <p:spPr bwMode="auto">
          <a:xfrm>
            <a:off x="3886940" y="2514946"/>
            <a:ext cx="4703581" cy="129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ichroma"/>
              <a:buNone/>
              <a:defRPr/>
            </a:pPr>
            <a:r>
              <a:rPr lang="fr-FR" sz="3200" b="1">
                <a:solidFill>
                  <a:schemeClr val="lt1"/>
                </a:solidFill>
                <a:latin typeface="Michroma"/>
                <a:ea typeface="Michroma"/>
                <a:cs typeface="Michroma"/>
              </a:rPr>
              <a:t>Grazie per l’attenzione!</a:t>
            </a:r>
            <a:endParaRPr sz="3200">
              <a:solidFill>
                <a:schemeClr val="lt1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708007672" name="Google Shape;293;p18"/>
          <p:cNvSpPr txBox="1"/>
          <p:nvPr>
            <p:ph type="subTitle" idx="1"/>
          </p:nvPr>
        </p:nvSpPr>
        <p:spPr bwMode="auto">
          <a:xfrm>
            <a:off x="4056664" y="3896103"/>
            <a:ext cx="4143864" cy="394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576F6"/>
              </a:buClr>
              <a:buSzPts val="1400"/>
              <a:buNone/>
              <a:defRPr/>
            </a:pPr>
            <a:r>
              <a:rPr lang="fr-FR" sz="1400">
                <a:solidFill>
                  <a:srgbClr val="5576F6"/>
                </a:solidFill>
                <a:latin typeface="Michroma"/>
                <a:ea typeface="Michroma"/>
                <a:cs typeface="Michroma"/>
              </a:rPr>
              <a:t>Venite a trovarci su </a:t>
            </a:r>
            <a:r>
              <a:rPr lang="fr-FR" sz="1400" u="sng">
                <a:solidFill>
                  <a:srgbClr val="5576F6"/>
                </a:solidFill>
                <a:latin typeface="Michroma"/>
                <a:ea typeface="Michroma"/>
                <a:cs typeface="Michroma"/>
                <a:hlinkClick r:id="rId3" tooltip=""/>
              </a:rPr>
              <a:t>GitHub</a:t>
            </a:r>
            <a:endParaRPr sz="1600">
              <a:solidFill>
                <a:srgbClr val="5576F6"/>
              </a:solidFill>
              <a:latin typeface="Michroma"/>
              <a:ea typeface="Michroma"/>
              <a:cs typeface="Michroma"/>
            </a:endParaRPr>
          </a:p>
        </p:txBody>
      </p:sp>
      <p:sp>
        <p:nvSpPr>
          <p:cNvPr id="1244340257" name="Google Shape;294;p18"/>
          <p:cNvSpPr txBox="1"/>
          <p:nvPr>
            <p:ph type="sldNum" idx="12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732470876" name="Google Shape;295;p18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710366" y="1480118"/>
            <a:ext cx="3003154" cy="99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874140799" name="Google Shape;296;p18"/>
          <p:cNvPicPr/>
          <p:nvPr/>
        </p:nvPicPr>
        <p:blipFill rotWithShape="1">
          <a:blip r:embed="rId5">
            <a:alphaModFix amt="99999"/>
          </a:blip>
          <a:srcRect l="0" t="0" r="0" b="0"/>
          <a:stretch/>
        </p:blipFill>
        <p:spPr bwMode="auto">
          <a:xfrm>
            <a:off x="7691558" y="3940449"/>
            <a:ext cx="166403" cy="162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ONLYOFFICE/10.0.0.169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