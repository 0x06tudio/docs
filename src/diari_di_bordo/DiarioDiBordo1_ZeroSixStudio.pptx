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handoutMasters/handoutMaster1.xml" ContentType="application/vnd.openxmlformats-officedocument.presentationml.handoutMaster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theme" Target="theme/theme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handoutMasters/_rels/handout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78515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61192569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620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r">
              <a:defRPr sz="1200"/>
            </a:lvl1pPr>
          </a:lstStyle>
          <a:p>
            <a:pPr>
              <a:defRPr/>
            </a:pPr>
            <a:fld id="{C4F134B4-A370-EBA4-8CC0-C8FC7B3C33E2}" type="datetimeFigureOut">
              <a:rPr lang="en-US"/>
              <a:t/>
            </a:fld>
            <a:endParaRPr/>
          </a:p>
        </p:txBody>
      </p:sp>
      <p:sp>
        <p:nvSpPr>
          <p:cNvPr id="1163860604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59107707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41FBA0A8-00A2-D1BB-F19E-550BD8E237BE}" type="slidenum">
              <a:rPr/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92705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873518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1882635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143215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9923630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218255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6518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41554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02973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9493D6-DB27-5A54-B25F-C4D3C1C6AD8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7879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9646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145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B0894C3-D446-73BB-1766-620477E3C15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7146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92469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964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0F5409-96A6-8B14-AC4E-57D80B9385D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9606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0457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717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217E3E-983B-9BBD-6A4D-6692FC7F2E46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61171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00815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3342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BEC3B0-DBE6-EE45-E427-16C310E01BFF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7179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80425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98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DA00BC-97B9-B77A-0D40-B6B2C6164E6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8202713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2387599"/>
          </a:xfrm>
        </p:spPr>
        <p:txBody>
          <a:bodyPr anchor="b"/>
          <a:lstStyle>
            <a:lvl1pPr algn="ctr"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60528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82495516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3763351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10742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888272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4886713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2267471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61686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79676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24901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6054841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702445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5743075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8780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36913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8327021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198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073255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2480162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23343292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339260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8443374" name="Title 1"/>
          <p:cNvSpPr>
            <a:spLocks noGrp="1"/>
          </p:cNvSpPr>
          <p:nvPr>
            <p:ph type="title"/>
          </p:nvPr>
        </p:nvSpPr>
        <p:spPr bwMode="auto">
          <a:xfrm>
            <a:off x="839787" y="365125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5636694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9" y="1681162"/>
            <a:ext cx="5157785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6219071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5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8513304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0460782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7019675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77232750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5073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05944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8566669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62588614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36693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6763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04170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45954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859874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06447122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171252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84452407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73732974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216212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9457396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4813517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7" y="987425"/>
            <a:ext cx="6172200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158284365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89569134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6750657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74456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017376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8647532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3276582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6925401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87221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18778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077009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8" y="365125"/>
            <a:ext cx="7734299" cy="5811838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1464092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05551667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00688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50000">
              <a:srgbClr val="0F0F1B"/>
            </a:gs>
            <a:gs pos="95000">
              <a:srgbClr val="7C49DB"/>
            </a:gs>
            <a:gs pos="100000">
              <a:srgbClr val="4C4AE6"/>
            </a:gs>
          </a:gsLst>
          <a:lin ang="2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254012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8" y="365125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0629892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8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8076240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5132781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9890223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>
        <a:lnSpc>
          <a:spcPct val="90000"/>
        </a:lnSpc>
        <a:spcBef>
          <a:spcPts val="0"/>
        </a:spcBef>
        <a:buNone/>
        <a:defRPr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>
        <a:lnSpc>
          <a:spcPct val="90000"/>
        </a:lnSpc>
        <a:spcBef>
          <a:spcPts val="749"/>
        </a:spcBef>
        <a:buFont typeface="Arial"/>
        <a:buChar char="•"/>
        <a:defRPr sz="21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hub.com/0x06tudio/docs/blob/develop/out/verbali/interni/verbale_2026-10-16.pdf" TargetMode="External"/><Relationship Id="rId4" Type="http://schemas.openxmlformats.org/officeDocument/2006/relationships/hyperlink" Target="https://github.com/0x06tudio/docs/blob/develop/out/verbali/esterni/verbale_2026-10-20.pdf" TargetMode="External"/><Relationship Id="rId5" Type="http://schemas.openxmlformats.org/officeDocument/2006/relationships/hyperlink" Target="https://github.com/0x06tudio/docs/blob/develop/out/verbali/esterni/verbale_2026-10-22.pdf" TargetMode="External"/><Relationship Id="rId6" Type="http://schemas.openxmlformats.org/officeDocument/2006/relationships/image" Target="../media/image2.png"/><Relationship Id="rId7" Type="http://schemas.openxmlformats.org/officeDocument/2006/relationships/hyperlink" Target="https://github.com/0x06tudio/docs/blob/develop/out/verbali/interni/verbale_2026-10-22.pdf" TargetMode="Externa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orgs/0x06tudio/repositories" TargetMode="Externa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256533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-8790" y="3429000"/>
            <a:ext cx="4703582" cy="1294744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/>
          <a:p>
            <a:pPr>
              <a:defRPr/>
            </a:pPr>
            <a:r>
              <a:rPr lang="fr-FR" sz="3200" b="1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Riepilogo settimanale</a:t>
            </a:r>
            <a:endParaRPr sz="3200"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87581731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334870" y="4810157"/>
            <a:ext cx="4143865" cy="394223"/>
          </a:xfrm>
        </p:spPr>
        <p:txBody>
          <a:bodyPr/>
          <a:lstStyle/>
          <a:p>
            <a:pPr>
              <a:defRPr/>
            </a:pPr>
            <a:r>
              <a:rPr lang="fr-FR" sz="1400">
                <a:solidFill>
                  <a:srgbClr val="5576F6"/>
                </a:solidFill>
                <a:latin typeface="Michroma"/>
                <a:ea typeface="Michroma"/>
                <a:cs typeface="Michroma"/>
              </a:rPr>
              <a:t>Diario di </a:t>
            </a:r>
            <a:r>
              <a:rPr lang="fr-FR" sz="1400">
                <a:solidFill>
                  <a:srgbClr val="5576F6"/>
                </a:solidFill>
                <a:latin typeface="Michroma"/>
                <a:ea typeface="Michroma"/>
                <a:cs typeface="Michroma"/>
              </a:rPr>
              <a:t>Bordo </a:t>
            </a:r>
            <a:r>
              <a:rPr lang="fr-FR" sz="1400">
                <a:solidFill>
                  <a:srgbClr val="5576F6"/>
                </a:solidFill>
                <a:latin typeface="Michroma"/>
                <a:ea typeface="Michroma"/>
                <a:cs typeface="Michroma"/>
              </a:rPr>
              <a:t>- 26 Ottobre</a:t>
            </a:r>
            <a:endParaRPr sz="1600">
              <a:solidFill>
                <a:srgbClr val="5576F6"/>
              </a:solidFill>
              <a:latin typeface="Michroma"/>
              <a:cs typeface="Michroma"/>
            </a:endParaRPr>
          </a:p>
        </p:txBody>
      </p:sp>
      <p:pic>
        <p:nvPicPr>
          <p:cNvPr id="135251917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3591" y="1943520"/>
            <a:ext cx="4298816" cy="1485479"/>
          </a:xfrm>
          <a:prstGeom prst="rect">
            <a:avLst/>
          </a:prstGeom>
        </p:spPr>
      </p:pic>
      <p:sp>
        <p:nvSpPr>
          <p:cNvPr id="970907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518E49B-BBA8-6532-069A-47DB8E8D4602}" type="slidenum">
              <a:rPr/>
              <a:t>1</a:t>
            </a:fld>
            <a:endParaRPr/>
          </a:p>
        </p:txBody>
      </p:sp>
      <p:sp>
        <p:nvSpPr>
          <p:cNvPr id="1800736473" name=""/>
          <p:cNvSpPr/>
          <p:nvPr/>
        </p:nvSpPr>
        <p:spPr bwMode="auto">
          <a:xfrm rot="0" flipH="0" flipV="0">
            <a:off x="5070892" y="3737307"/>
            <a:ext cx="5427251" cy="1121946"/>
          </a:xfrm>
          <a:prstGeom prst="flowChartAlternateProcess">
            <a:avLst/>
          </a:prstGeom>
          <a:solidFill>
            <a:srgbClr val="232B40">
              <a:alpha val="99999"/>
            </a:srgb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47743035" name=""/>
          <p:cNvSpPr/>
          <p:nvPr/>
        </p:nvSpPr>
        <p:spPr bwMode="auto">
          <a:xfrm rot="0" flipH="0" flipV="0">
            <a:off x="5070892" y="5234402"/>
            <a:ext cx="5427250" cy="1121946"/>
          </a:xfrm>
          <a:prstGeom prst="flowChartAlternateProcess">
            <a:avLst/>
          </a:prstGeom>
          <a:solidFill>
            <a:srgbClr val="232B40">
              <a:alpha val="99999"/>
            </a:srgb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44844491" name=""/>
          <p:cNvSpPr/>
          <p:nvPr/>
        </p:nvSpPr>
        <p:spPr bwMode="auto">
          <a:xfrm rot="0" flipH="0" flipV="0">
            <a:off x="5070892" y="2223481"/>
            <a:ext cx="5427250" cy="1121946"/>
          </a:xfrm>
          <a:prstGeom prst="flowChartAlternateProcess">
            <a:avLst/>
          </a:prstGeom>
          <a:solidFill>
            <a:srgbClr val="232B40">
              <a:alpha val="99999"/>
            </a:srgb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74364718" name=""/>
          <p:cNvSpPr/>
          <p:nvPr/>
        </p:nvSpPr>
        <p:spPr bwMode="auto">
          <a:xfrm rot="0" flipH="0" flipV="0">
            <a:off x="5070891" y="678308"/>
            <a:ext cx="5427250" cy="1121946"/>
          </a:xfrm>
          <a:prstGeom prst="flowChartAlternateProcess">
            <a:avLst/>
          </a:prstGeom>
          <a:solidFill>
            <a:srgbClr val="232B40">
              <a:alpha val="99999"/>
            </a:srgb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2861921" name="Rectangle 9"/>
          <p:cNvSpPr txBox="1"/>
          <p:nvPr/>
        </p:nvSpPr>
        <p:spPr bwMode="auto">
          <a:xfrm rot="0" flipH="0" flipV="0">
            <a:off x="2141674" y="3976932"/>
            <a:ext cx="914400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375867328" name="Rectangle 10"/>
          <p:cNvSpPr txBox="1"/>
          <p:nvPr/>
        </p:nvSpPr>
        <p:spPr bwMode="auto">
          <a:xfrm rot="0" flipH="0" flipV="0">
            <a:off x="5402691" y="1063290"/>
            <a:ext cx="5075446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fr-FR" sz="2200" u="sng">
                <a:solidFill>
                  <a:schemeClr val="bg1"/>
                </a:solidFill>
                <a:latin typeface="Michroma"/>
                <a:ea typeface="Michroma"/>
                <a:cs typeface="Michroma"/>
                <a:hlinkClick r:id="rId4" action="ppaction://hlinksldjump" tooltip="Slide 2"/>
              </a:rPr>
              <a:t>Stato di avanzamento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898444448" name="Rectangle 11"/>
          <p:cNvSpPr txBox="1"/>
          <p:nvPr/>
        </p:nvSpPr>
        <p:spPr bwMode="auto">
          <a:xfrm rot="0" flipH="0" flipV="0">
            <a:off x="5395852" y="2403272"/>
            <a:ext cx="5082285" cy="762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fr-FR" sz="2200" u="sng">
                <a:solidFill>
                  <a:schemeClr val="bg1"/>
                </a:solidFill>
                <a:latin typeface="Michroma"/>
                <a:ea typeface="Michroma"/>
                <a:cs typeface="Michroma"/>
                <a:hlinkClick r:id="rId5" action="ppaction://hlinksldjump" tooltip="Slide 3"/>
              </a:rPr>
              <a:t>Obiettivi futuri a breve termine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817655228" name="Rectangle 12"/>
          <p:cNvSpPr txBox="1"/>
          <p:nvPr/>
        </p:nvSpPr>
        <p:spPr bwMode="auto">
          <a:xfrm rot="0" flipH="0" flipV="0">
            <a:off x="5193077" y="4129511"/>
            <a:ext cx="5076524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tabLst>
                <a:tab pos="6000750" algn="l"/>
              </a:tabLst>
              <a:defRPr/>
            </a:pPr>
            <a:r>
              <a:rPr lang="fr-FR" sz="2200" u="sng">
                <a:solidFill>
                  <a:schemeClr val="bg1"/>
                </a:solidFill>
                <a:latin typeface="Michroma"/>
                <a:ea typeface="Michroma"/>
                <a:cs typeface="Michroma"/>
                <a:hlinkClick r:id="rId6" action="ppaction://hlinksldjump" tooltip="Slide 4"/>
              </a:rPr>
              <a:t>Difficoltà incontrate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302627632" name="Rectangle 13"/>
          <p:cNvSpPr txBox="1"/>
          <p:nvPr/>
        </p:nvSpPr>
        <p:spPr bwMode="auto">
          <a:xfrm rot="0" flipH="0" flipV="0">
            <a:off x="5428324" y="5414193"/>
            <a:ext cx="5083005" cy="762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tabLst>
                <a:tab pos="6000750" algn="l"/>
              </a:tabLst>
              <a:defRPr/>
            </a:pPr>
            <a:r>
              <a:rPr lang="fr-FR" sz="2200" u="sng">
                <a:solidFill>
                  <a:schemeClr val="bg1"/>
                </a:solidFill>
                <a:latin typeface="Michroma"/>
                <a:ea typeface="Michroma"/>
                <a:cs typeface="Michroma"/>
                <a:hlinkClick r:id="rId7" action="ppaction://hlinksldjump" tooltip="Slide 5"/>
              </a:rPr>
              <a:t>Dubbi ed incertezze su come procedere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125981474" name="Flowchart: Alternate process 14"/>
          <p:cNvSpPr/>
          <p:nvPr/>
        </p:nvSpPr>
        <p:spPr bwMode="auto">
          <a:xfrm rot="16199998" flipH="0" flipV="0">
            <a:off x="4833271" y="911059"/>
            <a:ext cx="1130456" cy="662071"/>
          </a:xfrm>
          <a:custGeom>
            <a:avLst>
              <a:gd name="adj1" fmla="val 16667"/>
              <a:gd name="adj2" fmla="val 0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7981" y="124"/>
                </a:moveTo>
                <a:cubicBezTo>
                  <a:pt x="17829" y="147"/>
                  <a:pt x="23810" y="437"/>
                  <a:pt x="35962" y="124"/>
                </a:cubicBezTo>
                <a:cubicBezTo>
                  <a:pt x="37832" y="90"/>
                  <a:pt x="39789" y="1487"/>
                  <a:pt x="41065" y="3838"/>
                </a:cubicBezTo>
                <a:cubicBezTo>
                  <a:pt x="42420" y="6334"/>
                  <a:pt x="43040" y="9867"/>
                  <a:pt x="43128" y="12553"/>
                </a:cubicBezTo>
                <a:cubicBezTo>
                  <a:pt x="43206" y="23197"/>
                  <a:pt x="43231" y="33099"/>
                  <a:pt x="43144" y="43200"/>
                </a:cubicBezTo>
                <a:lnTo>
                  <a:pt x="0" y="42853"/>
                </a:lnTo>
                <a:lnTo>
                  <a:pt x="131" y="9819"/>
                </a:lnTo>
                <a:cubicBezTo>
                  <a:pt x="408" y="4981"/>
                  <a:pt x="4174" y="-373"/>
                  <a:pt x="7981" y="124"/>
                </a:cubicBezTo>
                <a:close/>
              </a:path>
            </a:pathLst>
          </a:cu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6350" cap="flat" cmpd="sng" algn="ctr">
            <a:solidFill>
              <a:srgbClr val="0F0F1B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25819872" name="Flowchart: Alternate process 14"/>
          <p:cNvSpPr/>
          <p:nvPr/>
        </p:nvSpPr>
        <p:spPr bwMode="auto">
          <a:xfrm rot="16199998" flipH="0" flipV="0">
            <a:off x="4834764" y="2452538"/>
            <a:ext cx="1129015" cy="656760"/>
          </a:xfrm>
          <a:custGeom>
            <a:avLst>
              <a:gd name="adj1" fmla="val 16667"/>
              <a:gd name="adj2" fmla="val 0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7992" y="126"/>
                </a:moveTo>
                <a:cubicBezTo>
                  <a:pt x="17853" y="149"/>
                  <a:pt x="23841" y="441"/>
                  <a:pt x="36009" y="126"/>
                </a:cubicBezTo>
                <a:cubicBezTo>
                  <a:pt x="39870" y="54"/>
                  <a:pt x="43012" y="7398"/>
                  <a:pt x="43184" y="12655"/>
                </a:cubicBezTo>
                <a:cubicBezTo>
                  <a:pt x="43263" y="23385"/>
                  <a:pt x="43011" y="33018"/>
                  <a:pt x="42924" y="43200"/>
                </a:cubicBezTo>
                <a:lnTo>
                  <a:pt x="0" y="43200"/>
                </a:lnTo>
                <a:lnTo>
                  <a:pt x="132" y="9899"/>
                </a:lnTo>
                <a:cubicBezTo>
                  <a:pt x="409" y="5022"/>
                  <a:pt x="4180" y="-378"/>
                  <a:pt x="7992" y="126"/>
                </a:cubicBezTo>
                <a:close/>
              </a:path>
            </a:pathLst>
          </a:cu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6350" cap="flat" cmpd="sng" algn="ctr">
            <a:solidFill>
              <a:srgbClr val="0F0F1B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228369645" name="Flowchart: Alternate process 14"/>
          <p:cNvSpPr/>
          <p:nvPr/>
        </p:nvSpPr>
        <p:spPr bwMode="auto">
          <a:xfrm rot="16199998" flipH="0" flipV="0">
            <a:off x="4831345" y="3966364"/>
            <a:ext cx="1129015" cy="656760"/>
          </a:xfrm>
          <a:custGeom>
            <a:avLst>
              <a:gd name="adj1" fmla="val 16667"/>
              <a:gd name="adj2" fmla="val 0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7992" y="126"/>
                </a:moveTo>
                <a:cubicBezTo>
                  <a:pt x="17853" y="149"/>
                  <a:pt x="23841" y="441"/>
                  <a:pt x="36009" y="126"/>
                </a:cubicBezTo>
                <a:cubicBezTo>
                  <a:pt x="39870" y="54"/>
                  <a:pt x="43012" y="7398"/>
                  <a:pt x="43184" y="12655"/>
                </a:cubicBezTo>
                <a:cubicBezTo>
                  <a:pt x="43263" y="23385"/>
                  <a:pt x="43011" y="33018"/>
                  <a:pt x="42924" y="43200"/>
                </a:cubicBezTo>
                <a:lnTo>
                  <a:pt x="0" y="43200"/>
                </a:lnTo>
                <a:lnTo>
                  <a:pt x="132" y="9899"/>
                </a:lnTo>
                <a:cubicBezTo>
                  <a:pt x="409" y="5022"/>
                  <a:pt x="4180" y="-378"/>
                  <a:pt x="7992" y="126"/>
                </a:cubicBezTo>
                <a:close/>
              </a:path>
            </a:pathLst>
          </a:cu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6350" cap="flat" cmpd="sng" algn="ctr">
            <a:solidFill>
              <a:srgbClr val="0F0F1B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057576104" name="Flowchart: Alternate process 14"/>
          <p:cNvSpPr/>
          <p:nvPr/>
        </p:nvSpPr>
        <p:spPr bwMode="auto">
          <a:xfrm rot="16199998" flipH="0" flipV="0">
            <a:off x="4834587" y="5468468"/>
            <a:ext cx="1131248" cy="658648"/>
          </a:xfrm>
          <a:custGeom>
            <a:avLst>
              <a:gd name="adj1" fmla="val 16667"/>
              <a:gd name="adj2" fmla="val 0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7976" y="125"/>
                </a:moveTo>
                <a:cubicBezTo>
                  <a:pt x="17817" y="148"/>
                  <a:pt x="23793" y="439"/>
                  <a:pt x="35937" y="125"/>
                </a:cubicBezTo>
                <a:cubicBezTo>
                  <a:pt x="37690" y="92"/>
                  <a:pt x="39704" y="1496"/>
                  <a:pt x="40949" y="3633"/>
                </a:cubicBezTo>
                <a:cubicBezTo>
                  <a:pt x="42440" y="6192"/>
                  <a:pt x="43004" y="9761"/>
                  <a:pt x="43097" y="12618"/>
                </a:cubicBezTo>
                <a:lnTo>
                  <a:pt x="43200" y="43199"/>
                </a:lnTo>
                <a:lnTo>
                  <a:pt x="0" y="43076"/>
                </a:lnTo>
                <a:lnTo>
                  <a:pt x="131" y="9870"/>
                </a:lnTo>
                <a:cubicBezTo>
                  <a:pt x="407" y="5007"/>
                  <a:pt x="4171" y="-375"/>
                  <a:pt x="7976" y="125"/>
                </a:cubicBezTo>
                <a:close/>
              </a:path>
            </a:pathLst>
          </a:cu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6350" cap="flat" cmpd="sng" algn="ctr">
            <a:solidFill>
              <a:srgbClr val="0F0F1B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034481654" name="Rectangle 18"/>
          <p:cNvSpPr txBox="1"/>
          <p:nvPr/>
        </p:nvSpPr>
        <p:spPr bwMode="auto">
          <a:xfrm rot="0" flipH="0" flipV="0">
            <a:off x="5126404" y="987091"/>
            <a:ext cx="88690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2800" b="1">
                <a:solidFill>
                  <a:schemeClr val="bg1"/>
                </a:solidFill>
                <a:latin typeface="DejaVu Sans Mono"/>
                <a:ea typeface="DejaVu Sans Mono"/>
                <a:cs typeface="DejaVu Sans Mono"/>
              </a:rPr>
              <a:t>1.</a:t>
            </a:r>
            <a:endParaRPr sz="2800" b="1">
              <a:solidFill>
                <a:schemeClr val="bg1"/>
              </a:solidFill>
              <a:latin typeface="DejaVu Sans Mono"/>
              <a:cs typeface="DejaVu Sans Mono"/>
            </a:endParaRPr>
          </a:p>
        </p:txBody>
      </p:sp>
      <p:sp>
        <p:nvSpPr>
          <p:cNvPr id="114382343" name="Rectangle 19"/>
          <p:cNvSpPr txBox="1"/>
          <p:nvPr/>
        </p:nvSpPr>
        <p:spPr bwMode="auto">
          <a:xfrm rot="0" flipH="0" flipV="0">
            <a:off x="5126404" y="2521658"/>
            <a:ext cx="88798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2800" b="1">
                <a:solidFill>
                  <a:schemeClr val="bg1"/>
                </a:solidFill>
                <a:latin typeface="DejaVu Sans Mono"/>
                <a:ea typeface="DejaVu Sans Mono"/>
                <a:cs typeface="DejaVu Sans Mono"/>
              </a:rPr>
              <a:t>2.</a:t>
            </a:r>
            <a:endParaRPr sz="2800" b="1">
              <a:solidFill>
                <a:schemeClr val="bg1"/>
              </a:solidFill>
              <a:latin typeface="DejaVu Sans Mono"/>
              <a:cs typeface="DejaVu Sans Mono"/>
            </a:endParaRPr>
          </a:p>
        </p:txBody>
      </p:sp>
      <p:sp>
        <p:nvSpPr>
          <p:cNvPr id="411818749" name="Rectangle 20"/>
          <p:cNvSpPr txBox="1"/>
          <p:nvPr/>
        </p:nvSpPr>
        <p:spPr bwMode="auto">
          <a:xfrm rot="0" flipH="0" flipV="0">
            <a:off x="5145455" y="4076371"/>
            <a:ext cx="88834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tabLst>
                <a:tab pos="5257798" algn="l"/>
              </a:tabLst>
              <a:defRPr/>
            </a:pPr>
            <a:r>
              <a:rPr lang="fr-FR" sz="2800" b="1">
                <a:solidFill>
                  <a:schemeClr val="bg1"/>
                </a:solidFill>
                <a:latin typeface="DejaVu Sans Mono"/>
                <a:ea typeface="DejaVu Sans Mono"/>
                <a:cs typeface="DejaVu Sans Mono"/>
              </a:rPr>
              <a:t>3.</a:t>
            </a:r>
            <a:endParaRPr sz="2800" b="1">
              <a:solidFill>
                <a:schemeClr val="bg1"/>
              </a:solidFill>
              <a:latin typeface="DejaVu Sans Mono"/>
              <a:cs typeface="DejaVu Sans Mono"/>
            </a:endParaRPr>
          </a:p>
        </p:txBody>
      </p:sp>
      <p:sp>
        <p:nvSpPr>
          <p:cNvPr id="735781963" name="Rectangle 21"/>
          <p:cNvSpPr txBox="1"/>
          <p:nvPr/>
        </p:nvSpPr>
        <p:spPr bwMode="auto">
          <a:xfrm rot="0" flipH="0" flipV="0">
            <a:off x="5145455" y="5539649"/>
            <a:ext cx="88978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>
              <a:tabLst>
                <a:tab pos="57150" algn="l"/>
                <a:tab pos="5257798" algn="l"/>
                <a:tab pos="5543548" algn="l"/>
              </a:tabLst>
              <a:defRPr/>
            </a:pPr>
            <a:r>
              <a:rPr lang="fr-FR" sz="2800" b="1">
                <a:solidFill>
                  <a:schemeClr val="bg1"/>
                </a:solidFill>
                <a:latin typeface="DejaVu Sans Mono"/>
                <a:ea typeface="DejaVu Sans Mono"/>
                <a:cs typeface="DejaVu Sans Mono"/>
              </a:rPr>
              <a:t>4.</a:t>
            </a:r>
            <a:endParaRPr sz="2800" b="1">
              <a:solidFill>
                <a:schemeClr val="bg1"/>
              </a:solidFill>
              <a:latin typeface="DejaVu Sans Mono"/>
              <a:cs typeface="DejaVu Sans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0736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007364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743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47743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4844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448444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4364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743647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861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28619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5867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75867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8444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98444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655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17655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627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026276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981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259814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819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5819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369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283696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7576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7576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481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344816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8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382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818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11818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5781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735781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31541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-6349"/>
            <a:ext cx="10515600" cy="14497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ctr">
              <a:defRPr/>
            </a:pPr>
            <a:r>
              <a:rPr lang="fr-FR" sz="33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Stato di avanzamento</a:t>
            </a:r>
            <a:endParaRPr sz="33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/>
          </a:p>
        </p:txBody>
      </p:sp>
      <p:grpSp>
        <p:nvGrpSpPr>
          <p:cNvPr id="2089966841" name="Group 62"/>
          <p:cNvGrpSpPr/>
          <p:nvPr/>
        </p:nvGrpSpPr>
        <p:grpSpPr bwMode="auto">
          <a:xfrm flipH="0" flipV="0">
            <a:off x="353994" y="1124862"/>
            <a:ext cx="5429270" cy="629307"/>
            <a:chOff x="0" y="0"/>
            <a:chExt cx="5429270" cy="629307"/>
          </a:xfrm>
        </p:grpSpPr>
        <p:sp>
          <p:nvSpPr>
            <p:cNvPr id="64808593" name="Flowchart: Alternate process 63"/>
            <p:cNvSpPr/>
            <p:nvPr/>
          </p:nvSpPr>
          <p:spPr bwMode="auto">
            <a:xfrm rot="0" flipH="0" flipV="0"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34486906" name="Flowchart: Alternate process 14"/>
            <p:cNvSpPr/>
            <p:nvPr/>
          </p:nvSpPr>
          <p:spPr bwMode="auto">
            <a:xfrm rot="16199998" flipH="0" flipV="0">
              <a:off x="13026" y="-13026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427821688" name="Group 64"/>
          <p:cNvGrpSpPr/>
          <p:nvPr/>
        </p:nvGrpSpPr>
        <p:grpSpPr bwMode="auto">
          <a:xfrm flipH="0" flipV="0">
            <a:off x="360248" y="2069596"/>
            <a:ext cx="5429269" cy="629307"/>
            <a:chOff x="0" y="0"/>
            <a:chExt cx="5429269" cy="629307"/>
          </a:xfrm>
        </p:grpSpPr>
        <p:sp>
          <p:nvSpPr>
            <p:cNvPr id="1585794658" name="Flowchart: Alternate process 65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25446541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999753003" name="Group 66"/>
          <p:cNvGrpSpPr/>
          <p:nvPr/>
        </p:nvGrpSpPr>
        <p:grpSpPr bwMode="auto">
          <a:xfrm flipH="0" flipV="0">
            <a:off x="364481" y="2940545"/>
            <a:ext cx="5429269" cy="629307"/>
            <a:chOff x="0" y="0"/>
            <a:chExt cx="5429269" cy="629307"/>
          </a:xfrm>
        </p:grpSpPr>
        <p:sp>
          <p:nvSpPr>
            <p:cNvPr id="1054995483" name="Flowchart: Alternate process 67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68844809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835250080" name="Group 68"/>
          <p:cNvGrpSpPr/>
          <p:nvPr/>
        </p:nvGrpSpPr>
        <p:grpSpPr bwMode="auto">
          <a:xfrm flipH="0" flipV="0">
            <a:off x="375066" y="3902574"/>
            <a:ext cx="5429269" cy="629307"/>
            <a:chOff x="0" y="0"/>
            <a:chExt cx="5429269" cy="629307"/>
          </a:xfrm>
        </p:grpSpPr>
        <p:sp>
          <p:nvSpPr>
            <p:cNvPr id="1193932191" name="Flowchart: Alternate process 69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50103788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90128656" name="Rectangle 70"/>
          <p:cNvSpPr txBox="1"/>
          <p:nvPr/>
        </p:nvSpPr>
        <p:spPr bwMode="auto">
          <a:xfrm rot="0" flipH="0" flipV="0">
            <a:off x="1145165" y="1233415"/>
            <a:ext cx="450173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Creazione nome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640881803" name="Rectangle 71"/>
          <p:cNvSpPr txBox="1"/>
          <p:nvPr/>
        </p:nvSpPr>
        <p:spPr bwMode="auto">
          <a:xfrm rot="0" flipH="0" flipV="0">
            <a:off x="1145165" y="2201191"/>
            <a:ext cx="450353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Creazione logo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46327239" name="Rectangle 72"/>
          <p:cNvSpPr txBox="1"/>
          <p:nvPr/>
        </p:nvSpPr>
        <p:spPr bwMode="auto">
          <a:xfrm rot="0" flipH="0" flipV="0">
            <a:off x="1168011" y="3062880"/>
            <a:ext cx="450821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Creazione recapito e-mail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958218608" name="Rectangle 73"/>
          <p:cNvSpPr txBox="1"/>
          <p:nvPr/>
        </p:nvSpPr>
        <p:spPr bwMode="auto">
          <a:xfrm rot="0" flipH="0" flipV="0">
            <a:off x="1174131" y="4031649"/>
            <a:ext cx="452333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u="sng">
                <a:solidFill>
                  <a:schemeClr val="hlink"/>
                </a:solidFill>
                <a:latin typeface="Michroma"/>
                <a:cs typeface="Michroma"/>
                <a:hlinkClick r:id="rId3" tooltip=""/>
              </a:rPr>
              <a:t>Call interna: 1</a:t>
            </a:r>
            <a:endParaRPr>
              <a:solidFill>
                <a:schemeClr val="bg2"/>
              </a:solidFill>
              <a:latin typeface="Michroma"/>
              <a:cs typeface="Michroma"/>
            </a:endParaRPr>
          </a:p>
        </p:txBody>
      </p:sp>
      <p:grpSp>
        <p:nvGrpSpPr>
          <p:cNvPr id="1192772700" name="Group 74"/>
          <p:cNvGrpSpPr/>
          <p:nvPr/>
        </p:nvGrpSpPr>
        <p:grpSpPr bwMode="auto">
          <a:xfrm flipH="0" flipV="0">
            <a:off x="346100" y="4901640"/>
            <a:ext cx="5429269" cy="629307"/>
            <a:chOff x="0" y="0"/>
            <a:chExt cx="5429269" cy="629307"/>
          </a:xfrm>
        </p:grpSpPr>
        <p:sp>
          <p:nvSpPr>
            <p:cNvPr id="770733285" name="Flowchart: Alternate process 75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46577212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947813721" name="Rectangle 76"/>
          <p:cNvSpPr txBox="1"/>
          <p:nvPr/>
        </p:nvSpPr>
        <p:spPr bwMode="auto">
          <a:xfrm rot="0" flipH="0" flipV="0">
            <a:off x="1145165" y="5030714"/>
            <a:ext cx="453989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Cadenza generale call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1207687651" name="Group 77"/>
          <p:cNvGrpSpPr/>
          <p:nvPr/>
        </p:nvGrpSpPr>
        <p:grpSpPr bwMode="auto">
          <a:xfrm flipH="0" flipV="0">
            <a:off x="336905" y="5879539"/>
            <a:ext cx="5429269" cy="629307"/>
            <a:chOff x="0" y="0"/>
            <a:chExt cx="5429269" cy="629307"/>
          </a:xfrm>
        </p:grpSpPr>
        <p:sp>
          <p:nvSpPr>
            <p:cNvPr id="1448591303" name="Flowchart: Alternate process 78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78014846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407145229" name="Rectangle 79"/>
          <p:cNvSpPr txBox="1"/>
          <p:nvPr/>
        </p:nvSpPr>
        <p:spPr bwMode="auto">
          <a:xfrm rot="0" flipH="0" flipV="0">
            <a:off x="1135971" y="6008613"/>
            <a:ext cx="456509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Stesura resoconto capitolati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1430474631" name="Group 80"/>
          <p:cNvGrpSpPr/>
          <p:nvPr/>
        </p:nvGrpSpPr>
        <p:grpSpPr bwMode="auto">
          <a:xfrm flipH="0" flipV="0">
            <a:off x="6455236" y="1129352"/>
            <a:ext cx="5429269" cy="629307"/>
            <a:chOff x="0" y="0"/>
            <a:chExt cx="5429269" cy="629307"/>
          </a:xfrm>
        </p:grpSpPr>
        <p:sp>
          <p:nvSpPr>
            <p:cNvPr id="1507574082" name="Flowchart: Alternate process 81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08922847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872687484" name="Rectangle 82"/>
          <p:cNvSpPr txBox="1"/>
          <p:nvPr/>
        </p:nvSpPr>
        <p:spPr bwMode="auto">
          <a:xfrm rot="0" flipH="0" flipV="0">
            <a:off x="7254300" y="1258425"/>
            <a:ext cx="455681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u="sng">
                <a:ln w="12700">
                  <a:solidFill>
                    <a:srgbClr val="000000">
                      <a:alpha val="0"/>
                    </a:srgbClr>
                  </a:solidFill>
                </a:ln>
                <a:solidFill>
                  <a:srgbClr val="FFFFFF"/>
                </a:solidFill>
                <a:latin typeface="Michroma"/>
                <a:cs typeface="Michroma"/>
                <a:hlinkClick r:id="rId4" tooltip=""/>
              </a:rPr>
              <a:t>Incontro </a:t>
            </a:r>
            <a:r>
              <a:rPr lang="fr-FR" u="sng">
                <a:ln w="12700">
                  <a:solidFill>
                    <a:srgbClr val="000000">
                      <a:alpha val="0"/>
                    </a:srgbClr>
                  </a:solidFill>
                </a:ln>
                <a:solidFill>
                  <a:srgbClr val="FFFFFF"/>
                </a:solidFill>
                <a:latin typeface="Michroma"/>
                <a:cs typeface="Michroma"/>
                <a:hlinkClick r:id="rId4" tooltip=""/>
              </a:rPr>
              <a:t>1 : C9 - Zucchetti</a:t>
            </a:r>
            <a:endParaRPr>
              <a:ln w="12700">
                <a:solidFill>
                  <a:srgbClr val="000000">
                    <a:alpha val="0"/>
                  </a:srgbClr>
                </a:solidFill>
              </a:ln>
              <a:solidFill>
                <a:schemeClr val="accent5"/>
              </a:solidFill>
              <a:latin typeface="Michroma"/>
              <a:cs typeface="Michroma"/>
            </a:endParaRPr>
          </a:p>
        </p:txBody>
      </p:sp>
      <p:grpSp>
        <p:nvGrpSpPr>
          <p:cNvPr id="1137206618" name="Group 83"/>
          <p:cNvGrpSpPr/>
          <p:nvPr/>
        </p:nvGrpSpPr>
        <p:grpSpPr bwMode="auto">
          <a:xfrm flipH="0" flipV="0">
            <a:off x="6455236" y="2041456"/>
            <a:ext cx="5429269" cy="629307"/>
            <a:chOff x="0" y="0"/>
            <a:chExt cx="5429269" cy="629307"/>
          </a:xfrm>
        </p:grpSpPr>
        <p:sp>
          <p:nvSpPr>
            <p:cNvPr id="587593809" name="Flowchart: Alternate process 84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26891959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546584836" name="Rectangle 85"/>
          <p:cNvSpPr txBox="1"/>
          <p:nvPr/>
        </p:nvSpPr>
        <p:spPr bwMode="auto">
          <a:xfrm rot="0" flipH="0" flipV="0">
            <a:off x="7254301" y="2170530"/>
            <a:ext cx="455861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Creazione repository GitHub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1957962375" name="Group 86"/>
          <p:cNvGrpSpPr/>
          <p:nvPr/>
        </p:nvGrpSpPr>
        <p:grpSpPr bwMode="auto">
          <a:xfrm flipH="0" flipV="0">
            <a:off x="6473596" y="2933804"/>
            <a:ext cx="5429269" cy="629307"/>
            <a:chOff x="0" y="0"/>
            <a:chExt cx="5429269" cy="629307"/>
          </a:xfrm>
        </p:grpSpPr>
        <p:sp>
          <p:nvSpPr>
            <p:cNvPr id="459466839" name="Flowchart: Alternate process 87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54846557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821900029" name="Rectangle 88"/>
          <p:cNvSpPr txBox="1"/>
          <p:nvPr/>
        </p:nvSpPr>
        <p:spPr bwMode="auto">
          <a:xfrm rot="0" flipH="0" flipV="0">
            <a:off x="7272661" y="3062880"/>
            <a:ext cx="454853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u="sng">
                <a:solidFill>
                  <a:schemeClr val="bg1"/>
                </a:solidFill>
                <a:latin typeface="Michroma"/>
                <a:cs typeface="Michroma"/>
                <a:hlinkClick r:id="rId5" tooltip=""/>
              </a:rPr>
              <a:t>Incontro 2 : C1 - Vimar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1650391751" name="Group 89"/>
          <p:cNvGrpSpPr/>
          <p:nvPr/>
        </p:nvGrpSpPr>
        <p:grpSpPr bwMode="auto">
          <a:xfrm flipH="0" flipV="0">
            <a:off x="6455236" y="3902574"/>
            <a:ext cx="5429269" cy="629307"/>
            <a:chOff x="0" y="0"/>
            <a:chExt cx="5429269" cy="629307"/>
          </a:xfrm>
        </p:grpSpPr>
        <p:sp>
          <p:nvSpPr>
            <p:cNvPr id="1318029522" name="Flowchart: Alternate process 90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06845921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551164759" name="Rectangle 91"/>
          <p:cNvSpPr txBox="1"/>
          <p:nvPr/>
        </p:nvSpPr>
        <p:spPr bwMode="auto">
          <a:xfrm rot="0" flipH="0" flipV="0">
            <a:off x="7254301" y="4031649"/>
            <a:ext cx="455177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Stesura e revisione verbali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1736756833" name="Group 92"/>
          <p:cNvGrpSpPr/>
          <p:nvPr/>
        </p:nvGrpSpPr>
        <p:grpSpPr bwMode="auto">
          <a:xfrm flipH="0" flipV="0">
            <a:off x="6440418" y="5847709"/>
            <a:ext cx="5429269" cy="629307"/>
            <a:chOff x="0" y="0"/>
            <a:chExt cx="5429269" cy="629307"/>
          </a:xfrm>
        </p:grpSpPr>
        <p:sp>
          <p:nvSpPr>
            <p:cNvPr id="1866428365" name="Flowchart: Alternate process 93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9144164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604520241" name="Rectangle 94"/>
          <p:cNvSpPr txBox="1"/>
          <p:nvPr/>
        </p:nvSpPr>
        <p:spPr bwMode="auto">
          <a:xfrm rot="0" flipH="0" flipV="0">
            <a:off x="7239484" y="5976783"/>
            <a:ext cx="45510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Incontro 3 : C6 - VarGroup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pic>
        <p:nvPicPr>
          <p:cNvPr id="1517512863" name="Picture 95"/>
          <p:cNvPicPr>
            <a:picLocks noChangeAspect="1"/>
          </p:cNvPicPr>
          <p:nvPr/>
        </p:nvPicPr>
        <p:blipFill rotWithShape="1">
          <a:blip r:embed="rId6"/>
          <a:srcRect l="0" t="0" r="43292" b="0"/>
          <a:stretch/>
        </p:blipFill>
        <p:spPr bwMode="auto">
          <a:xfrm flipH="0" flipV="0">
            <a:off x="380133" y="1078430"/>
            <a:ext cx="617432" cy="730034"/>
          </a:xfrm>
          <a:prstGeom prst="rect">
            <a:avLst/>
          </a:prstGeom>
        </p:spPr>
      </p:pic>
      <p:pic>
        <p:nvPicPr>
          <p:cNvPr id="692899693" name="Picture 96"/>
          <p:cNvPicPr>
            <a:picLocks noChangeAspect="1"/>
          </p:cNvPicPr>
          <p:nvPr/>
        </p:nvPicPr>
        <p:blipFill rotWithShape="1">
          <a:blip r:embed="rId6"/>
          <a:srcRect l="0" t="0" r="43292" b="0"/>
          <a:stretch/>
        </p:blipFill>
        <p:spPr bwMode="auto">
          <a:xfrm flipH="0" flipV="0">
            <a:off x="380133" y="2019232"/>
            <a:ext cx="617432" cy="730033"/>
          </a:xfrm>
          <a:prstGeom prst="rect">
            <a:avLst/>
          </a:prstGeom>
        </p:spPr>
      </p:pic>
      <p:pic>
        <p:nvPicPr>
          <p:cNvPr id="527621043" name="Picture 97"/>
          <p:cNvPicPr>
            <a:picLocks noChangeAspect="1"/>
          </p:cNvPicPr>
          <p:nvPr/>
        </p:nvPicPr>
        <p:blipFill rotWithShape="1">
          <a:blip r:embed="rId6"/>
          <a:srcRect l="0" t="0" r="43292" b="0"/>
          <a:stretch/>
        </p:blipFill>
        <p:spPr bwMode="auto">
          <a:xfrm flipH="0" flipV="0">
            <a:off x="380133" y="2880920"/>
            <a:ext cx="617432" cy="730033"/>
          </a:xfrm>
          <a:prstGeom prst="rect">
            <a:avLst/>
          </a:prstGeom>
        </p:spPr>
      </p:pic>
      <p:pic>
        <p:nvPicPr>
          <p:cNvPr id="1786126831" name="Picture 98"/>
          <p:cNvPicPr>
            <a:picLocks noChangeAspect="1"/>
          </p:cNvPicPr>
          <p:nvPr/>
        </p:nvPicPr>
        <p:blipFill rotWithShape="1">
          <a:blip r:embed="rId6"/>
          <a:srcRect l="0" t="0" r="43292" b="0"/>
          <a:stretch/>
        </p:blipFill>
        <p:spPr bwMode="auto">
          <a:xfrm flipH="0" flipV="0">
            <a:off x="403944" y="3849689"/>
            <a:ext cx="617432" cy="730033"/>
          </a:xfrm>
          <a:prstGeom prst="rect">
            <a:avLst/>
          </a:prstGeom>
        </p:spPr>
      </p:pic>
      <p:pic>
        <p:nvPicPr>
          <p:cNvPr id="1268779798" name="Picture 99"/>
          <p:cNvPicPr>
            <a:picLocks noChangeAspect="1"/>
          </p:cNvPicPr>
          <p:nvPr/>
        </p:nvPicPr>
        <p:blipFill rotWithShape="1">
          <a:blip r:embed="rId6"/>
          <a:srcRect l="0" t="0" r="43292" b="0"/>
          <a:stretch/>
        </p:blipFill>
        <p:spPr bwMode="auto">
          <a:xfrm flipH="0" flipV="0">
            <a:off x="380133" y="4848755"/>
            <a:ext cx="617432" cy="730033"/>
          </a:xfrm>
          <a:prstGeom prst="rect">
            <a:avLst/>
          </a:prstGeom>
        </p:spPr>
      </p:pic>
      <p:pic>
        <p:nvPicPr>
          <p:cNvPr id="775705204" name="Picture 100"/>
          <p:cNvPicPr>
            <a:picLocks noChangeAspect="1"/>
          </p:cNvPicPr>
          <p:nvPr/>
        </p:nvPicPr>
        <p:blipFill rotWithShape="1">
          <a:blip r:embed="rId6"/>
          <a:srcRect l="0" t="0" r="43292" b="0"/>
          <a:stretch/>
        </p:blipFill>
        <p:spPr bwMode="auto">
          <a:xfrm flipH="0" flipV="0">
            <a:off x="380133" y="5826654"/>
            <a:ext cx="617432" cy="730033"/>
          </a:xfrm>
          <a:prstGeom prst="rect">
            <a:avLst/>
          </a:prstGeom>
        </p:spPr>
      </p:pic>
      <p:pic>
        <p:nvPicPr>
          <p:cNvPr id="514485027" name="Picture 101"/>
          <p:cNvPicPr>
            <a:picLocks noChangeAspect="1"/>
          </p:cNvPicPr>
          <p:nvPr/>
        </p:nvPicPr>
        <p:blipFill rotWithShape="1">
          <a:blip r:embed="rId6"/>
          <a:srcRect l="0" t="0" r="43292" b="0"/>
          <a:stretch/>
        </p:blipFill>
        <p:spPr bwMode="auto">
          <a:xfrm flipH="0" flipV="0">
            <a:off x="6481328" y="1078430"/>
            <a:ext cx="617432" cy="730033"/>
          </a:xfrm>
          <a:prstGeom prst="rect">
            <a:avLst/>
          </a:prstGeom>
        </p:spPr>
      </p:pic>
      <p:pic>
        <p:nvPicPr>
          <p:cNvPr id="1921808527" name="Picture 102"/>
          <p:cNvPicPr>
            <a:picLocks noChangeAspect="1"/>
          </p:cNvPicPr>
          <p:nvPr/>
        </p:nvPicPr>
        <p:blipFill rotWithShape="1">
          <a:blip r:embed="rId6"/>
          <a:srcRect l="0" t="0" r="43292" b="0"/>
          <a:stretch/>
        </p:blipFill>
        <p:spPr bwMode="auto">
          <a:xfrm flipH="0" flipV="0">
            <a:off x="6481328" y="2019232"/>
            <a:ext cx="617432" cy="730033"/>
          </a:xfrm>
          <a:prstGeom prst="rect">
            <a:avLst/>
          </a:prstGeom>
        </p:spPr>
      </p:pic>
      <p:pic>
        <p:nvPicPr>
          <p:cNvPr id="1758978188" name="Picture 103"/>
          <p:cNvPicPr>
            <a:picLocks noChangeAspect="1"/>
          </p:cNvPicPr>
          <p:nvPr/>
        </p:nvPicPr>
        <p:blipFill rotWithShape="1">
          <a:blip r:embed="rId6"/>
          <a:srcRect l="0" t="0" r="43292" b="0"/>
          <a:stretch/>
        </p:blipFill>
        <p:spPr bwMode="auto">
          <a:xfrm flipH="0" flipV="0">
            <a:off x="6481328" y="2880920"/>
            <a:ext cx="617432" cy="730033"/>
          </a:xfrm>
          <a:prstGeom prst="rect">
            <a:avLst/>
          </a:prstGeom>
        </p:spPr>
      </p:pic>
      <p:pic>
        <p:nvPicPr>
          <p:cNvPr id="433877431" name="Picture 104"/>
          <p:cNvPicPr>
            <a:picLocks noChangeAspect="1"/>
          </p:cNvPicPr>
          <p:nvPr/>
        </p:nvPicPr>
        <p:blipFill rotWithShape="1">
          <a:blip r:embed="rId6"/>
          <a:srcRect l="0" t="0" r="43292" b="0"/>
          <a:stretch/>
        </p:blipFill>
        <p:spPr bwMode="auto">
          <a:xfrm flipH="0" flipV="0">
            <a:off x="6481328" y="3849689"/>
            <a:ext cx="617432" cy="730033"/>
          </a:xfrm>
          <a:prstGeom prst="rect">
            <a:avLst/>
          </a:prstGeom>
        </p:spPr>
      </p:pic>
      <p:pic>
        <p:nvPicPr>
          <p:cNvPr id="1099547216" name="Picture 105"/>
          <p:cNvPicPr>
            <a:picLocks noChangeAspect="1"/>
          </p:cNvPicPr>
          <p:nvPr/>
        </p:nvPicPr>
        <p:blipFill rotWithShape="1">
          <a:blip r:embed="rId6"/>
          <a:srcRect l="50000" t="0" r="0" b="0"/>
          <a:stretch/>
        </p:blipFill>
        <p:spPr bwMode="auto">
          <a:xfrm flipH="0" flipV="0">
            <a:off x="6481328" y="5783385"/>
            <a:ext cx="561458" cy="752913"/>
          </a:xfrm>
          <a:prstGeom prst="rect">
            <a:avLst/>
          </a:prstGeom>
        </p:spPr>
      </p:pic>
      <p:grpSp>
        <p:nvGrpSpPr>
          <p:cNvPr id="1831908010" name="Group 106"/>
          <p:cNvGrpSpPr/>
          <p:nvPr/>
        </p:nvGrpSpPr>
        <p:grpSpPr bwMode="auto">
          <a:xfrm flipH="0" flipV="0">
            <a:off x="6458807" y="4888411"/>
            <a:ext cx="5429269" cy="629307"/>
            <a:chOff x="0" y="0"/>
            <a:chExt cx="5429269" cy="629307"/>
          </a:xfrm>
        </p:grpSpPr>
        <p:sp>
          <p:nvSpPr>
            <p:cNvPr id="1574290388" name="Flowchart: Alternate process 107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6940979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459181756" name="Rectangle 108"/>
          <p:cNvSpPr txBox="1"/>
          <p:nvPr/>
        </p:nvSpPr>
        <p:spPr bwMode="auto">
          <a:xfrm rot="0" flipH="0" flipV="0">
            <a:off x="7257872" y="5017485"/>
            <a:ext cx="455969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u="sng">
                <a:solidFill>
                  <a:schemeClr val="bg1"/>
                </a:solidFill>
                <a:latin typeface="Michroma"/>
                <a:cs typeface="Michroma"/>
                <a:hlinkClick r:id="rId7" tooltip=""/>
              </a:rPr>
              <a:t>Call interna: 2 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pic>
        <p:nvPicPr>
          <p:cNvPr id="529429840" name="Picture 109"/>
          <p:cNvPicPr>
            <a:picLocks noChangeAspect="1"/>
          </p:cNvPicPr>
          <p:nvPr/>
        </p:nvPicPr>
        <p:blipFill rotWithShape="1">
          <a:blip r:embed="rId6"/>
          <a:srcRect l="0" t="0" r="43292" b="0"/>
          <a:stretch/>
        </p:blipFill>
        <p:spPr bwMode="auto">
          <a:xfrm flipH="0" flipV="0">
            <a:off x="6484899" y="4835526"/>
            <a:ext cx="617432" cy="7300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  <p:timing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726080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-6349"/>
            <a:ext cx="10515600" cy="14497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ctr">
              <a:defRPr/>
            </a:pPr>
            <a:r>
              <a:rPr lang="fr-FR" sz="33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Obiettivi futuri a breve termine</a:t>
            </a:r>
            <a:endParaRPr sz="33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/>
          </a:p>
        </p:txBody>
      </p:sp>
      <p:grpSp>
        <p:nvGrpSpPr>
          <p:cNvPr id="329392342" name="Group 2"/>
          <p:cNvGrpSpPr/>
          <p:nvPr/>
        </p:nvGrpSpPr>
        <p:grpSpPr bwMode="auto">
          <a:xfrm flipH="0" flipV="0">
            <a:off x="281503" y="1529328"/>
            <a:ext cx="5429270" cy="629307"/>
            <a:chOff x="0" y="0"/>
            <a:chExt cx="5429270" cy="629307"/>
          </a:xfrm>
        </p:grpSpPr>
        <p:sp>
          <p:nvSpPr>
            <p:cNvPr id="1467211769" name="Flowchart: Alternate process 3"/>
            <p:cNvSpPr/>
            <p:nvPr/>
          </p:nvSpPr>
          <p:spPr bwMode="auto">
            <a:xfrm rot="0" flipH="0" flipV="0"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8589404" name="Flowchart: Alternate process 14"/>
            <p:cNvSpPr/>
            <p:nvPr/>
          </p:nvSpPr>
          <p:spPr bwMode="auto">
            <a:xfrm rot="16199998" flipH="0" flipV="0">
              <a:off x="13026" y="-13026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304517785" name="Group 5"/>
          <p:cNvGrpSpPr/>
          <p:nvPr/>
        </p:nvGrpSpPr>
        <p:grpSpPr bwMode="auto">
          <a:xfrm flipH="0" flipV="0">
            <a:off x="287757" y="2251812"/>
            <a:ext cx="5429269" cy="629307"/>
            <a:chOff x="0" y="0"/>
            <a:chExt cx="5429269" cy="629307"/>
          </a:xfrm>
        </p:grpSpPr>
        <p:sp>
          <p:nvSpPr>
            <p:cNvPr id="814244678" name="Flowchart: Alternate process 6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15710327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903427850" name="Group 8"/>
          <p:cNvGrpSpPr/>
          <p:nvPr/>
        </p:nvGrpSpPr>
        <p:grpSpPr bwMode="auto">
          <a:xfrm flipH="0" flipV="0">
            <a:off x="281406" y="2964011"/>
            <a:ext cx="5429269" cy="629307"/>
            <a:chOff x="0" y="0"/>
            <a:chExt cx="5429269" cy="629307"/>
          </a:xfrm>
        </p:grpSpPr>
        <p:sp>
          <p:nvSpPr>
            <p:cNvPr id="790688267" name="Flowchart: Alternate process 9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57692740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475199515" name="Rectangle 14"/>
          <p:cNvSpPr txBox="1"/>
          <p:nvPr/>
        </p:nvSpPr>
        <p:spPr bwMode="auto">
          <a:xfrm rot="0" flipH="0" flipV="0">
            <a:off x="1072674" y="1637881"/>
            <a:ext cx="452477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Rifinitura « Way-Of-Working »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939174329" name="Rectangle 15"/>
          <p:cNvSpPr txBox="1"/>
          <p:nvPr/>
        </p:nvSpPr>
        <p:spPr bwMode="auto">
          <a:xfrm rot="0" flipH="0" flipV="0">
            <a:off x="1072674" y="2383407"/>
            <a:ext cx="45222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Assegnazione ruoli 1°  turno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807879020" name="Rectangle 16"/>
          <p:cNvSpPr txBox="1"/>
          <p:nvPr/>
        </p:nvSpPr>
        <p:spPr bwMode="auto">
          <a:xfrm rot="0" flipH="0" flipV="0">
            <a:off x="1076276" y="3095721"/>
            <a:ext cx="453737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tabLst>
                <a:tab pos="457200" algn="l"/>
                <a:tab pos="1143000" algn="l"/>
                <a:tab pos="1200150" algn="l"/>
              </a:tabLst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Rifinitura preventivo iniziale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1612400785" name="Group 56"/>
          <p:cNvGrpSpPr/>
          <p:nvPr/>
        </p:nvGrpSpPr>
        <p:grpSpPr bwMode="auto">
          <a:xfrm flipH="0" flipV="0">
            <a:off x="290311" y="3698279"/>
            <a:ext cx="5429269" cy="629307"/>
            <a:chOff x="0" y="0"/>
            <a:chExt cx="5429269" cy="629307"/>
          </a:xfrm>
        </p:grpSpPr>
        <p:sp>
          <p:nvSpPr>
            <p:cNvPr id="1154109" name="Flowchart: Alternate process 57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18802898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45868224" name="Rectangle 58"/>
          <p:cNvSpPr txBox="1"/>
          <p:nvPr/>
        </p:nvSpPr>
        <p:spPr bwMode="auto">
          <a:xfrm rot="0" flipH="0" flipV="0">
            <a:off x="1093840" y="3820613"/>
            <a:ext cx="454097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Presentazione candidatura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248014064" name="Flowchart: Alternate process 64"/>
          <p:cNvSpPr/>
          <p:nvPr/>
        </p:nvSpPr>
        <p:spPr bwMode="auto">
          <a:xfrm rot="0" flipH="0" flipV="0">
            <a:off x="1229833" y="970530"/>
            <a:ext cx="3661833" cy="430588"/>
          </a:xfrm>
          <a:prstGeom prst="flowChartAlternateProcess">
            <a:avLst/>
          </a:pr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 b="1">
                <a:latin typeface="Michroma"/>
                <a:ea typeface="Michroma"/>
                <a:cs typeface="Michroma"/>
              </a:rPr>
              <a:t>Deadline : </a:t>
            </a:r>
            <a:r>
              <a:rPr lang="fr-FR" b="1">
                <a:solidFill>
                  <a:srgbClr val="FF0000"/>
                </a:solidFill>
                <a:latin typeface="Michroma"/>
                <a:ea typeface="Michroma"/>
                <a:cs typeface="Michroma"/>
              </a:rPr>
              <a:t>30 </a:t>
            </a:r>
            <a:r>
              <a:rPr lang="fr-FR" b="1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Ottobre</a:t>
            </a:r>
            <a:endParaRPr b="1">
              <a:latin typeface="Michroma"/>
              <a:cs typeface="Michroma"/>
            </a:endParaRPr>
          </a:p>
        </p:txBody>
      </p:sp>
      <p:sp>
        <p:nvSpPr>
          <p:cNvPr id="2079465567" name="Rectangle 65"/>
          <p:cNvSpPr txBox="1"/>
          <p:nvPr/>
        </p:nvSpPr>
        <p:spPr bwMode="auto">
          <a:xfrm rot="0" flipH="0" flipV="0">
            <a:off x="299017" y="1480790"/>
            <a:ext cx="825231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>
                <a:solidFill>
                  <a:srgbClr val="FF0000"/>
                </a:solidFill>
              </a:rPr>
              <a:t>28</a:t>
            </a:r>
            <a:endParaRPr sz="1400"/>
          </a:p>
        </p:txBody>
      </p:sp>
      <p:sp>
        <p:nvSpPr>
          <p:cNvPr id="2068392413" name="Rectangle 66"/>
          <p:cNvSpPr txBox="1"/>
          <p:nvPr/>
        </p:nvSpPr>
        <p:spPr bwMode="auto">
          <a:xfrm rot="0" flipH="0" flipV="0">
            <a:off x="296031" y="2215767"/>
            <a:ext cx="818751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>
                <a:solidFill>
                  <a:srgbClr val="FF0000"/>
                </a:solidFill>
              </a:rPr>
              <a:t>30</a:t>
            </a:r>
            <a:endParaRPr sz="1400"/>
          </a:p>
        </p:txBody>
      </p:sp>
      <p:sp>
        <p:nvSpPr>
          <p:cNvPr id="1202899423" name="Rectangle 67"/>
          <p:cNvSpPr txBox="1"/>
          <p:nvPr/>
        </p:nvSpPr>
        <p:spPr bwMode="auto">
          <a:xfrm rot="0" flipH="0" flipV="0">
            <a:off x="312622" y="2929288"/>
            <a:ext cx="818751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>
                <a:solidFill>
                  <a:srgbClr val="FF0000"/>
                </a:solidFill>
              </a:rPr>
              <a:t>29</a:t>
            </a:r>
            <a:endParaRPr sz="1400"/>
          </a:p>
        </p:txBody>
      </p:sp>
      <p:sp>
        <p:nvSpPr>
          <p:cNvPr id="1603513704" name="Rectangle 68"/>
          <p:cNvSpPr txBox="1"/>
          <p:nvPr/>
        </p:nvSpPr>
        <p:spPr bwMode="auto">
          <a:xfrm rot="0" flipH="0" flipV="0">
            <a:off x="297937" y="3652973"/>
            <a:ext cx="818751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>
                <a:solidFill>
                  <a:srgbClr val="FF0000"/>
                </a:solidFill>
              </a:rPr>
              <a:t>30</a:t>
            </a:r>
            <a:endParaRPr sz="1400"/>
          </a:p>
        </p:txBody>
      </p:sp>
      <p:grpSp>
        <p:nvGrpSpPr>
          <p:cNvPr id="1297858915" name="Group 69"/>
          <p:cNvGrpSpPr/>
          <p:nvPr/>
        </p:nvGrpSpPr>
        <p:grpSpPr bwMode="auto">
          <a:xfrm flipH="0" flipV="0">
            <a:off x="6413486" y="1522977"/>
            <a:ext cx="5429270" cy="629307"/>
            <a:chOff x="0" y="0"/>
            <a:chExt cx="5429270" cy="629307"/>
          </a:xfrm>
        </p:grpSpPr>
        <p:sp>
          <p:nvSpPr>
            <p:cNvPr id="1855767945" name="Flowchart: Alternate process 70"/>
            <p:cNvSpPr/>
            <p:nvPr/>
          </p:nvSpPr>
          <p:spPr bwMode="auto">
            <a:xfrm rot="0" flipH="0" flipV="0"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15425259" name="Flowchart: Alternate process 14"/>
            <p:cNvSpPr/>
            <p:nvPr/>
          </p:nvSpPr>
          <p:spPr bwMode="auto">
            <a:xfrm rot="16199998" flipH="0" flipV="0">
              <a:off x="13026" y="-13026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742257913" name="Group 71"/>
          <p:cNvGrpSpPr/>
          <p:nvPr/>
        </p:nvGrpSpPr>
        <p:grpSpPr bwMode="auto">
          <a:xfrm flipH="0" flipV="0">
            <a:off x="6409156" y="2245461"/>
            <a:ext cx="5429269" cy="629307"/>
            <a:chOff x="0" y="0"/>
            <a:chExt cx="5429269" cy="629307"/>
          </a:xfrm>
        </p:grpSpPr>
        <p:sp>
          <p:nvSpPr>
            <p:cNvPr id="21532888" name="Flowchart: Alternate process 72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66997586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298329246" name="Rectangle 75"/>
          <p:cNvSpPr txBox="1"/>
          <p:nvPr/>
        </p:nvSpPr>
        <p:spPr bwMode="auto">
          <a:xfrm rot="0" flipH="0" flipV="0">
            <a:off x="7217042" y="1525697"/>
            <a:ext cx="4535932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8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Rifinitura cruscotto di valutazone della qualità</a:t>
            </a:r>
            <a:endParaRPr/>
          </a:p>
        </p:txBody>
      </p:sp>
      <p:sp>
        <p:nvSpPr>
          <p:cNvPr id="164778092" name="Rectangle 76"/>
          <p:cNvSpPr txBox="1"/>
          <p:nvPr/>
        </p:nvSpPr>
        <p:spPr bwMode="auto">
          <a:xfrm rot="0" flipH="0" flipV="0">
            <a:off x="7246990" y="2218306"/>
            <a:ext cx="457193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Implementazione cruscotto rendicontazione ore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336530540" name="Rectangle 82"/>
          <p:cNvSpPr txBox="1"/>
          <p:nvPr/>
        </p:nvSpPr>
        <p:spPr bwMode="auto">
          <a:xfrm rot="0" flipH="0" flipV="0">
            <a:off x="6431000" y="1474439"/>
            <a:ext cx="827031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>
                <a:solidFill>
                  <a:srgbClr val="FF0000"/>
                </a:solidFill>
              </a:rPr>
              <a:t> 2</a:t>
            </a:r>
            <a:endParaRPr sz="1400"/>
          </a:p>
        </p:txBody>
      </p:sp>
      <p:sp>
        <p:nvSpPr>
          <p:cNvPr id="1277288408" name="Flowchart: Alternate process 103"/>
          <p:cNvSpPr/>
          <p:nvPr/>
        </p:nvSpPr>
        <p:spPr bwMode="auto">
          <a:xfrm rot="0" flipH="0" flipV="0">
            <a:off x="7361816" y="911263"/>
            <a:ext cx="3661831" cy="430587"/>
          </a:xfrm>
          <a:prstGeom prst="flowChartAlternateProcess">
            <a:avLst/>
          </a:pr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 b="1">
                <a:latin typeface="Michroma"/>
                <a:ea typeface="Michroma"/>
                <a:cs typeface="Michroma"/>
              </a:rPr>
              <a:t>Deadline : </a:t>
            </a:r>
            <a:r>
              <a:rPr lang="fr-FR" b="1">
                <a:solidFill>
                  <a:srgbClr val="FF0000"/>
                </a:solidFill>
                <a:latin typeface="Michroma"/>
                <a:ea typeface="Michroma"/>
                <a:cs typeface="Michroma"/>
              </a:rPr>
              <a:t>3 </a:t>
            </a:r>
            <a:r>
              <a:rPr lang="fr-FR" b="1">
                <a:latin typeface="Michroma"/>
                <a:cs typeface="Michroma"/>
              </a:rPr>
              <a:t>Novembre</a:t>
            </a:r>
            <a:endParaRPr b="1">
              <a:latin typeface="Michroma"/>
              <a:cs typeface="Michroma"/>
            </a:endParaRPr>
          </a:p>
        </p:txBody>
      </p:sp>
      <p:grpSp>
        <p:nvGrpSpPr>
          <p:cNvPr id="1946481036" name="Group 110"/>
          <p:cNvGrpSpPr/>
          <p:nvPr/>
        </p:nvGrpSpPr>
        <p:grpSpPr bwMode="auto">
          <a:xfrm flipH="0" flipV="0">
            <a:off x="281007" y="5208175"/>
            <a:ext cx="5429270" cy="629307"/>
            <a:chOff x="0" y="0"/>
            <a:chExt cx="5429270" cy="629307"/>
          </a:xfrm>
        </p:grpSpPr>
        <p:sp>
          <p:nvSpPr>
            <p:cNvPr id="675258396" name="Flowchart: Alternate process 111"/>
            <p:cNvSpPr/>
            <p:nvPr/>
          </p:nvSpPr>
          <p:spPr bwMode="auto">
            <a:xfrm rot="0" flipH="0" flipV="0"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40959645" name="Flowchart: Alternate process 14"/>
            <p:cNvSpPr/>
            <p:nvPr/>
          </p:nvSpPr>
          <p:spPr bwMode="auto">
            <a:xfrm rot="16199998" flipH="0" flipV="0">
              <a:off x="13026" y="-13026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213020452" name="Group 112"/>
          <p:cNvGrpSpPr/>
          <p:nvPr/>
        </p:nvGrpSpPr>
        <p:grpSpPr bwMode="auto">
          <a:xfrm flipH="0" flipV="0">
            <a:off x="287261" y="5941242"/>
            <a:ext cx="5429269" cy="629307"/>
            <a:chOff x="0" y="0"/>
            <a:chExt cx="5429269" cy="629307"/>
          </a:xfrm>
        </p:grpSpPr>
        <p:sp>
          <p:nvSpPr>
            <p:cNvPr id="341595704" name="Flowchart: Alternate process 113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21288327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814794617" name="Rectangle 114"/>
          <p:cNvSpPr txBox="1"/>
          <p:nvPr/>
        </p:nvSpPr>
        <p:spPr bwMode="auto">
          <a:xfrm rot="0" flipH="0" flipV="0">
            <a:off x="1084563" y="5369645"/>
            <a:ext cx="4576612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8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Preparazione slide DdB</a:t>
            </a:r>
            <a:endParaRPr sz="18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/>
          </a:p>
        </p:txBody>
      </p:sp>
      <p:sp>
        <p:nvSpPr>
          <p:cNvPr id="1849289592" name="Rectangle 115"/>
          <p:cNvSpPr txBox="1"/>
          <p:nvPr/>
        </p:nvSpPr>
        <p:spPr bwMode="auto">
          <a:xfrm rot="0" flipH="0" flipV="0">
            <a:off x="1072177" y="5935253"/>
            <a:ext cx="4762125" cy="914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8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Stesura verbali incontri esterni (VarGroup) ed interni (3)</a:t>
            </a:r>
            <a:endParaRPr sz="18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/>
          </a:p>
        </p:txBody>
      </p:sp>
      <p:sp>
        <p:nvSpPr>
          <p:cNvPr id="818809121" name="Rectangle 116"/>
          <p:cNvSpPr txBox="1"/>
          <p:nvPr/>
        </p:nvSpPr>
        <p:spPr bwMode="auto">
          <a:xfrm rot="0" flipH="0" flipV="0">
            <a:off x="298521" y="5159637"/>
            <a:ext cx="828111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>
                <a:solidFill>
                  <a:srgbClr val="FF0000"/>
                </a:solidFill>
              </a:rPr>
              <a:t> 1</a:t>
            </a:r>
            <a:endParaRPr sz="1400"/>
          </a:p>
        </p:txBody>
      </p:sp>
      <p:sp>
        <p:nvSpPr>
          <p:cNvPr id="1910104860" name="Rectangle 117"/>
          <p:cNvSpPr txBox="1"/>
          <p:nvPr/>
        </p:nvSpPr>
        <p:spPr bwMode="auto">
          <a:xfrm rot="0" flipH="0" flipV="0">
            <a:off x="295535" y="5905197"/>
            <a:ext cx="823071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>
                <a:solidFill>
                  <a:srgbClr val="FF0000"/>
                </a:solidFill>
              </a:rPr>
              <a:t> 1</a:t>
            </a:r>
            <a:endParaRPr sz="1400"/>
          </a:p>
        </p:txBody>
      </p:sp>
      <p:sp>
        <p:nvSpPr>
          <p:cNvPr id="1793403897" name="Flowchart: Alternate process 118"/>
          <p:cNvSpPr/>
          <p:nvPr/>
        </p:nvSpPr>
        <p:spPr bwMode="auto">
          <a:xfrm rot="0" flipH="0" flipV="0">
            <a:off x="1229833" y="4626237"/>
            <a:ext cx="3661831" cy="430587"/>
          </a:xfrm>
          <a:prstGeom prst="flowChartAlternateProcess">
            <a:avLst/>
          </a:pr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 b="1">
                <a:latin typeface="Michroma"/>
                <a:ea typeface="Michroma"/>
                <a:cs typeface="Michroma"/>
              </a:rPr>
              <a:t>Deadline : </a:t>
            </a:r>
            <a:r>
              <a:rPr lang="fr-FR" b="1">
                <a:solidFill>
                  <a:srgbClr val="FF0000"/>
                </a:solidFill>
                <a:latin typeface="Michroma"/>
                <a:ea typeface="Michroma"/>
                <a:cs typeface="Michroma"/>
              </a:rPr>
              <a:t>2 </a:t>
            </a:r>
            <a:r>
              <a:rPr lang="fr-FR" b="1">
                <a:latin typeface="Michroma"/>
                <a:cs typeface="Michroma"/>
              </a:rPr>
              <a:t>Novembre</a:t>
            </a:r>
            <a:endParaRPr b="1">
              <a:latin typeface="Michroma"/>
              <a:cs typeface="Michroma"/>
            </a:endParaRPr>
          </a:p>
        </p:txBody>
      </p:sp>
      <p:sp>
        <p:nvSpPr>
          <p:cNvPr id="685091081" name="Rectangle 119"/>
          <p:cNvSpPr txBox="1"/>
          <p:nvPr/>
        </p:nvSpPr>
        <p:spPr bwMode="auto">
          <a:xfrm rot="0" flipH="0" flipV="0">
            <a:off x="6431000" y="2189644"/>
            <a:ext cx="828111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>
                <a:solidFill>
                  <a:srgbClr val="FF0000"/>
                </a:solidFill>
              </a:rPr>
              <a:t> 3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709697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-6349"/>
            <a:ext cx="10515600" cy="14497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ctr">
              <a:defRPr/>
            </a:pPr>
            <a:r>
              <a:rPr lang="fr-FR" sz="33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Difficoltà incontrate</a:t>
            </a:r>
            <a:endParaRPr sz="33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/>
          </a:p>
        </p:txBody>
      </p:sp>
      <p:grpSp>
        <p:nvGrpSpPr>
          <p:cNvPr id="656184688" name="Group 2"/>
          <p:cNvGrpSpPr/>
          <p:nvPr/>
        </p:nvGrpSpPr>
        <p:grpSpPr bwMode="auto">
          <a:xfrm flipH="0" flipV="0">
            <a:off x="3374098" y="1114279"/>
            <a:ext cx="5429270" cy="629307"/>
            <a:chOff x="0" y="0"/>
            <a:chExt cx="5429270" cy="629307"/>
          </a:xfrm>
        </p:grpSpPr>
        <p:sp>
          <p:nvSpPr>
            <p:cNvPr id="1272424536" name="Flowchart: Alternate process 3"/>
            <p:cNvSpPr/>
            <p:nvPr/>
          </p:nvSpPr>
          <p:spPr bwMode="auto">
            <a:xfrm rot="0" flipH="0" flipV="0"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9396385" name="Flowchart: Alternate process 14"/>
            <p:cNvSpPr/>
            <p:nvPr/>
          </p:nvSpPr>
          <p:spPr bwMode="auto">
            <a:xfrm rot="16199998" flipH="0" flipV="0">
              <a:off x="13026" y="-13026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276200236" name="Group 5"/>
          <p:cNvGrpSpPr/>
          <p:nvPr/>
        </p:nvGrpSpPr>
        <p:grpSpPr bwMode="auto">
          <a:xfrm flipH="0" flipV="0">
            <a:off x="3380352" y="2016680"/>
            <a:ext cx="5429269" cy="629307"/>
            <a:chOff x="0" y="0"/>
            <a:chExt cx="5429269" cy="629307"/>
          </a:xfrm>
        </p:grpSpPr>
        <p:sp>
          <p:nvSpPr>
            <p:cNvPr id="306542886" name="Flowchart: Alternate process 6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58828960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879380141" name="Group 8"/>
          <p:cNvGrpSpPr/>
          <p:nvPr/>
        </p:nvGrpSpPr>
        <p:grpSpPr bwMode="auto">
          <a:xfrm flipH="0" flipV="0">
            <a:off x="3384585" y="2887629"/>
            <a:ext cx="5429269" cy="629307"/>
            <a:chOff x="0" y="0"/>
            <a:chExt cx="5429269" cy="629307"/>
          </a:xfrm>
        </p:grpSpPr>
        <p:sp>
          <p:nvSpPr>
            <p:cNvPr id="360007384" name="Flowchart: Alternate process 9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00652567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2100208188" name="Rectangle 14"/>
          <p:cNvSpPr txBox="1"/>
          <p:nvPr/>
        </p:nvSpPr>
        <p:spPr bwMode="auto">
          <a:xfrm rot="0" flipH="0" flipV="0">
            <a:off x="4165269" y="1222832"/>
            <a:ext cx="451541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Scelta capitolati perseguibili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534255268" name="Rectangle 15"/>
          <p:cNvSpPr txBox="1"/>
          <p:nvPr/>
        </p:nvSpPr>
        <p:spPr bwMode="auto">
          <a:xfrm rot="0" flipH="0" flipV="0">
            <a:off x="4165269" y="2148275"/>
            <a:ext cx="452081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Gestione slot orari sincroni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976866735" name="Rectangle 16"/>
          <p:cNvSpPr txBox="1"/>
          <p:nvPr/>
        </p:nvSpPr>
        <p:spPr bwMode="auto">
          <a:xfrm rot="0" flipH="0" flipV="0">
            <a:off x="4177869" y="3009963"/>
            <a:ext cx="451829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Stesura template verbali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1476013443" name="Group 66"/>
          <p:cNvGrpSpPr/>
          <p:nvPr/>
        </p:nvGrpSpPr>
        <p:grpSpPr bwMode="auto">
          <a:xfrm flipH="0" flipV="0">
            <a:off x="3378235" y="3759695"/>
            <a:ext cx="5429269" cy="629307"/>
            <a:chOff x="0" y="0"/>
            <a:chExt cx="5429269" cy="629307"/>
          </a:xfrm>
        </p:grpSpPr>
        <p:sp>
          <p:nvSpPr>
            <p:cNvPr id="1543494812" name="Flowchart: Alternate process 67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85116193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831865806" name="Rectangle 68"/>
          <p:cNvSpPr txBox="1"/>
          <p:nvPr/>
        </p:nvSpPr>
        <p:spPr bwMode="auto">
          <a:xfrm rot="0" flipH="0" flipV="0">
            <a:off x="4171519" y="3882029"/>
            <a:ext cx="452657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Stesura resoconto capitolati</a:t>
            </a:r>
            <a:endParaRPr lang="fr-FR"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1230626305" name="Group 118"/>
          <p:cNvGrpSpPr/>
          <p:nvPr/>
        </p:nvGrpSpPr>
        <p:grpSpPr bwMode="auto">
          <a:xfrm flipH="0" flipV="0">
            <a:off x="3382468" y="4621178"/>
            <a:ext cx="5429269" cy="629307"/>
            <a:chOff x="0" y="0"/>
            <a:chExt cx="5429269" cy="629307"/>
          </a:xfrm>
        </p:grpSpPr>
        <p:sp>
          <p:nvSpPr>
            <p:cNvPr id="771524387" name="Flowchart: Alternate process 119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59182273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712852362" name="Rectangle 120"/>
          <p:cNvSpPr txBox="1"/>
          <p:nvPr/>
        </p:nvSpPr>
        <p:spPr bwMode="auto">
          <a:xfrm rot="0" flipH="0" flipV="0">
            <a:off x="4175752" y="4743512"/>
            <a:ext cx="469596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Scelta revisore fisso o variabile</a:t>
            </a:r>
            <a:endParaRPr lang="fr-FR">
              <a:solidFill>
                <a:schemeClr val="bg1"/>
              </a:solidFill>
              <a:latin typeface="Michroma"/>
              <a:cs typeface="Michroma"/>
            </a:endParaRPr>
          </a:p>
        </p:txBody>
      </p:sp>
      <p:pic>
        <p:nvPicPr>
          <p:cNvPr id="2033801309" name="Picture 12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320804" y="1147892"/>
            <a:ext cx="766528" cy="572341"/>
          </a:xfrm>
          <a:prstGeom prst="rect">
            <a:avLst/>
          </a:prstGeom>
        </p:spPr>
      </p:pic>
      <p:pic>
        <p:nvPicPr>
          <p:cNvPr id="990737872" name="Picture 12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329001" y="2037848"/>
            <a:ext cx="766527" cy="572340"/>
          </a:xfrm>
          <a:prstGeom prst="rect">
            <a:avLst/>
          </a:prstGeom>
        </p:spPr>
      </p:pic>
      <p:pic>
        <p:nvPicPr>
          <p:cNvPr id="1219760571" name="Picture 124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329001" y="2917436"/>
            <a:ext cx="766527" cy="572340"/>
          </a:xfrm>
          <a:prstGeom prst="rect">
            <a:avLst/>
          </a:prstGeom>
        </p:spPr>
      </p:pic>
      <p:pic>
        <p:nvPicPr>
          <p:cNvPr id="163391132" name="Picture 12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331387" y="3789502"/>
            <a:ext cx="766527" cy="572340"/>
          </a:xfrm>
          <a:prstGeom prst="rect">
            <a:avLst/>
          </a:prstGeom>
        </p:spPr>
      </p:pic>
      <p:pic>
        <p:nvPicPr>
          <p:cNvPr id="1842516214" name="Picture 126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329001" y="4637122"/>
            <a:ext cx="766527" cy="5723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98417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-7573" y="-6349"/>
            <a:ext cx="12211049" cy="14497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ctr">
              <a:defRPr/>
            </a:pPr>
            <a:r>
              <a:rPr lang="fr-FR" sz="33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Dubbi ed incertezze su come procedere</a:t>
            </a:r>
            <a:endParaRPr sz="33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/>
          </a:p>
        </p:txBody>
      </p:sp>
      <p:grpSp>
        <p:nvGrpSpPr>
          <p:cNvPr id="1593935840" name="Group 22"/>
          <p:cNvGrpSpPr/>
          <p:nvPr/>
        </p:nvGrpSpPr>
        <p:grpSpPr bwMode="auto">
          <a:xfrm flipH="0" flipV="0">
            <a:off x="3370148" y="1107545"/>
            <a:ext cx="5429270" cy="629307"/>
            <a:chOff x="0" y="0"/>
            <a:chExt cx="5429270" cy="629307"/>
          </a:xfrm>
        </p:grpSpPr>
        <p:sp>
          <p:nvSpPr>
            <p:cNvPr id="647316861" name="Flowchart: Alternate process 23"/>
            <p:cNvSpPr/>
            <p:nvPr/>
          </p:nvSpPr>
          <p:spPr bwMode="auto">
            <a:xfrm rot="0" flipH="0" flipV="0"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003457" name="Flowchart: Alternate process 14"/>
            <p:cNvSpPr/>
            <p:nvPr/>
          </p:nvSpPr>
          <p:spPr bwMode="auto">
            <a:xfrm rot="16199998" flipH="0" flipV="0">
              <a:off x="13026" y="-13026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828164406" name="Group 24"/>
          <p:cNvGrpSpPr/>
          <p:nvPr/>
        </p:nvGrpSpPr>
        <p:grpSpPr bwMode="auto">
          <a:xfrm flipH="0" flipV="0">
            <a:off x="3376402" y="2041696"/>
            <a:ext cx="5429269" cy="629307"/>
            <a:chOff x="0" y="0"/>
            <a:chExt cx="5429269" cy="629307"/>
          </a:xfrm>
        </p:grpSpPr>
        <p:sp>
          <p:nvSpPr>
            <p:cNvPr id="1433911600" name="Flowchart: Alternate process 25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56515172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926095326" name="Group 26"/>
          <p:cNvGrpSpPr/>
          <p:nvPr/>
        </p:nvGrpSpPr>
        <p:grpSpPr bwMode="auto">
          <a:xfrm flipH="0" flipV="0">
            <a:off x="3380635" y="2912645"/>
            <a:ext cx="5429269" cy="629307"/>
            <a:chOff x="0" y="0"/>
            <a:chExt cx="5429269" cy="629307"/>
          </a:xfrm>
        </p:grpSpPr>
        <p:sp>
          <p:nvSpPr>
            <p:cNvPr id="2076798890" name="Flowchart: Alternate process 27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60284000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159892838" name="Group 28"/>
          <p:cNvGrpSpPr/>
          <p:nvPr/>
        </p:nvGrpSpPr>
        <p:grpSpPr bwMode="auto">
          <a:xfrm flipH="0" flipV="0">
            <a:off x="3380635" y="3800591"/>
            <a:ext cx="5429269" cy="629307"/>
            <a:chOff x="0" y="0"/>
            <a:chExt cx="5429269" cy="629307"/>
          </a:xfrm>
        </p:grpSpPr>
        <p:sp>
          <p:nvSpPr>
            <p:cNvPr id="1044819861" name="Flowchart: Alternate process 29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56013774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371008325" name="Rectangle 30"/>
          <p:cNvSpPr txBox="1"/>
          <p:nvPr/>
        </p:nvSpPr>
        <p:spPr bwMode="auto">
          <a:xfrm rot="0" flipH="0" flipV="0">
            <a:off x="4161319" y="1216098"/>
            <a:ext cx="452369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Processo di candiatur</a:t>
            </a: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a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888965978" name="Rectangle 31"/>
          <p:cNvSpPr txBox="1"/>
          <p:nvPr/>
        </p:nvSpPr>
        <p:spPr bwMode="auto">
          <a:xfrm rot="0" flipH="0" flipV="0">
            <a:off x="4161319" y="2173291"/>
            <a:ext cx="45132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Equa rotazione dei ruoli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233223489" name="Rectangle 32"/>
          <p:cNvSpPr txBox="1"/>
          <p:nvPr/>
        </p:nvSpPr>
        <p:spPr bwMode="auto">
          <a:xfrm rot="0" flipH="0" flipV="0">
            <a:off x="4184164" y="3034979"/>
            <a:ext cx="452009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Efficace cruscotto qualità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726540228" name="Rectangle 33"/>
          <p:cNvSpPr txBox="1"/>
          <p:nvPr/>
        </p:nvSpPr>
        <p:spPr bwMode="auto">
          <a:xfrm rot="0" flipH="0" flipV="0">
            <a:off x="4179700" y="3961415"/>
            <a:ext cx="452801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8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Efficace cruscotto ore</a:t>
            </a:r>
            <a:endParaRPr sz="18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>
              <a:solidFill>
                <a:schemeClr val="bg2"/>
              </a:solidFill>
              <a:latin typeface="Michroma"/>
              <a:cs typeface="Michroma"/>
            </a:endParaRPr>
          </a:p>
        </p:txBody>
      </p:sp>
      <p:grpSp>
        <p:nvGrpSpPr>
          <p:cNvPr id="987559156" name="Group 34"/>
          <p:cNvGrpSpPr/>
          <p:nvPr/>
        </p:nvGrpSpPr>
        <p:grpSpPr bwMode="auto">
          <a:xfrm flipH="0" flipV="0">
            <a:off x="3394004" y="4683240"/>
            <a:ext cx="5429269" cy="629307"/>
            <a:chOff x="0" y="0"/>
            <a:chExt cx="5429269" cy="629307"/>
          </a:xfrm>
        </p:grpSpPr>
        <p:sp>
          <p:nvSpPr>
            <p:cNvPr id="1404609119" name="Flowchart: Alternate process 35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48470090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2121874749" name="Rectangle 36"/>
          <p:cNvSpPr txBox="1"/>
          <p:nvPr/>
        </p:nvSpPr>
        <p:spPr bwMode="auto">
          <a:xfrm rot="0" flipH="0" flipV="0">
            <a:off x="4193069" y="4812314"/>
            <a:ext cx="45600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Preventivo iniziale corretto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pic>
        <p:nvPicPr>
          <p:cNvPr id="949919050" name="Picture 70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3322729" y="1140701"/>
            <a:ext cx="764547" cy="570861"/>
          </a:xfrm>
          <a:prstGeom prst="rect">
            <a:avLst/>
          </a:prstGeom>
        </p:spPr>
      </p:pic>
      <p:pic>
        <p:nvPicPr>
          <p:cNvPr id="1122531296" name="Picture 71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3322729" y="2070920"/>
            <a:ext cx="764547" cy="570861"/>
          </a:xfrm>
          <a:prstGeom prst="rect">
            <a:avLst/>
          </a:prstGeom>
        </p:spPr>
      </p:pic>
      <p:pic>
        <p:nvPicPr>
          <p:cNvPr id="1562379801" name="Picture 72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3322729" y="2932608"/>
            <a:ext cx="764547" cy="570861"/>
          </a:xfrm>
          <a:prstGeom prst="rect">
            <a:avLst/>
          </a:prstGeom>
        </p:spPr>
      </p:pic>
      <p:pic>
        <p:nvPicPr>
          <p:cNvPr id="326190177" name="Picture 73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3322729" y="3827287"/>
            <a:ext cx="764547" cy="570861"/>
          </a:xfrm>
          <a:prstGeom prst="rect">
            <a:avLst/>
          </a:prstGeom>
        </p:spPr>
      </p:pic>
      <p:pic>
        <p:nvPicPr>
          <p:cNvPr id="408431408" name="Picture 74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3354479" y="4709943"/>
            <a:ext cx="764547" cy="5708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2704913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739004" y="2514948"/>
            <a:ext cx="4703581" cy="1294743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/>
          <a:p>
            <a:pPr>
              <a:defRPr/>
            </a:pPr>
            <a:r>
              <a:rPr lang="fr-FR" sz="3200" b="1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Grazie per l’attenzione !</a:t>
            </a:r>
            <a:endParaRPr sz="3200"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490949826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4082664" y="3896105"/>
            <a:ext cx="4143864" cy="394222"/>
          </a:xfrm>
        </p:spPr>
        <p:txBody>
          <a:bodyPr/>
          <a:lstStyle/>
          <a:p>
            <a:pPr>
              <a:defRPr/>
            </a:pPr>
            <a:r>
              <a:rPr lang="fr-FR" sz="1400">
                <a:solidFill>
                  <a:srgbClr val="5576F6"/>
                </a:solidFill>
                <a:latin typeface="Michroma"/>
                <a:ea typeface="Michroma"/>
                <a:cs typeface="Michroma"/>
              </a:rPr>
              <a:t>Venite a trovarci su </a:t>
            </a:r>
            <a:r>
              <a:rPr lang="fr-FR" sz="1400" u="sng">
                <a:solidFill>
                  <a:srgbClr val="5576F6"/>
                </a:solidFill>
                <a:latin typeface="Michroma"/>
                <a:ea typeface="Michroma"/>
                <a:cs typeface="Michroma"/>
                <a:hlinkClick r:id="rId3" tooltip=""/>
              </a:rPr>
              <a:t>GitHub</a:t>
            </a:r>
            <a:endParaRPr sz="1600">
              <a:solidFill>
                <a:srgbClr val="5576F6"/>
              </a:solidFill>
              <a:latin typeface="Michroma"/>
              <a:cs typeface="Michroma"/>
            </a:endParaRPr>
          </a:p>
        </p:txBody>
      </p:sp>
      <p:pic>
        <p:nvPicPr>
          <p:cNvPr id="69857256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941385" y="1029468"/>
            <a:ext cx="4298815" cy="1485478"/>
          </a:xfrm>
          <a:prstGeom prst="rect">
            <a:avLst/>
          </a:prstGeom>
        </p:spPr>
      </p:pic>
      <p:sp>
        <p:nvSpPr>
          <p:cNvPr id="15091565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31E1D6D-2301-946D-6050-67FB814A68C9}" type="slidenum">
              <a:rPr/>
              <a:t>1</a:t>
            </a:fld>
            <a:endParaRPr/>
          </a:p>
        </p:txBody>
      </p:sp>
      <p:sp>
        <p:nvSpPr>
          <p:cNvPr id="419069902" name="Rectangle 9"/>
          <p:cNvSpPr txBox="1"/>
          <p:nvPr/>
        </p:nvSpPr>
        <p:spPr bwMode="auto">
          <a:xfrm rot="0" flipH="0" flipV="0">
            <a:off x="5889468" y="3062880"/>
            <a:ext cx="914400" cy="36611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069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190699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ONLYOFFICE/10.0.0.169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11</cp:revision>
  <dcterms:modified xsi:type="dcterms:W3CDTF">2026-10-23T14:13:50Z</dcterms:modified>
</cp:coreProperties>
</file>